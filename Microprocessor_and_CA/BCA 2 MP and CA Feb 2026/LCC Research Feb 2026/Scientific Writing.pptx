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88" r:id="rId5"/>
  </p:sldMasterIdLst>
  <p:notesMasterIdLst>
    <p:notesMasterId r:id="rId58"/>
  </p:notesMasterIdLst>
  <p:handoutMasterIdLst>
    <p:handoutMasterId r:id="rId59"/>
  </p:handoutMasterIdLst>
  <p:sldIdLst>
    <p:sldId id="256" r:id="rId6"/>
    <p:sldId id="356" r:id="rId7"/>
    <p:sldId id="353" r:id="rId8"/>
    <p:sldId id="354" r:id="rId9"/>
    <p:sldId id="355" r:id="rId10"/>
    <p:sldId id="351" r:id="rId11"/>
    <p:sldId id="364" r:id="rId12"/>
    <p:sldId id="365" r:id="rId13"/>
    <p:sldId id="366" r:id="rId14"/>
    <p:sldId id="367" r:id="rId15"/>
    <p:sldId id="368" r:id="rId16"/>
    <p:sldId id="369" r:id="rId17"/>
    <p:sldId id="371" r:id="rId18"/>
    <p:sldId id="326" r:id="rId19"/>
    <p:sldId id="357" r:id="rId20"/>
    <p:sldId id="358" r:id="rId21"/>
    <p:sldId id="359" r:id="rId22"/>
    <p:sldId id="360" r:id="rId23"/>
    <p:sldId id="361" r:id="rId24"/>
    <p:sldId id="362" r:id="rId25"/>
    <p:sldId id="363" r:id="rId26"/>
    <p:sldId id="372" r:id="rId27"/>
    <p:sldId id="373" r:id="rId28"/>
    <p:sldId id="378" r:id="rId29"/>
    <p:sldId id="374" r:id="rId30"/>
    <p:sldId id="375" r:id="rId31"/>
    <p:sldId id="376" r:id="rId32"/>
    <p:sldId id="379" r:id="rId33"/>
    <p:sldId id="377" r:id="rId34"/>
    <p:sldId id="380" r:id="rId35"/>
    <p:sldId id="325" r:id="rId36"/>
    <p:sldId id="306" r:id="rId37"/>
    <p:sldId id="320" r:id="rId38"/>
    <p:sldId id="319" r:id="rId39"/>
    <p:sldId id="370" r:id="rId40"/>
    <p:sldId id="330" r:id="rId41"/>
    <p:sldId id="341" r:id="rId42"/>
    <p:sldId id="342" r:id="rId43"/>
    <p:sldId id="343" r:id="rId44"/>
    <p:sldId id="344" r:id="rId45"/>
    <p:sldId id="345" r:id="rId46"/>
    <p:sldId id="346" r:id="rId47"/>
    <p:sldId id="350" r:id="rId48"/>
    <p:sldId id="332" r:id="rId49"/>
    <p:sldId id="336" r:id="rId50"/>
    <p:sldId id="338" r:id="rId51"/>
    <p:sldId id="339" r:id="rId52"/>
    <p:sldId id="340" r:id="rId53"/>
    <p:sldId id="333" r:id="rId54"/>
    <p:sldId id="347" r:id="rId55"/>
    <p:sldId id="348" r:id="rId56"/>
    <p:sldId id="294"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3C62F4-63B1-79B9-72CF-0D35C125809F}" v="1105" dt="2024-09-02T12:31:55.710"/>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5646" autoAdjust="0"/>
  </p:normalViewPr>
  <p:slideViewPr>
    <p:cSldViewPr snapToGrid="0">
      <p:cViewPr varScale="1">
        <p:scale>
          <a:sx n="68" d="100"/>
          <a:sy n="68" d="100"/>
        </p:scale>
        <p:origin x="954" y="72"/>
      </p:cViewPr>
      <p:guideLst>
        <p:guide orient="horz" pos="2160"/>
        <p:guide pos="3840"/>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66"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commentAuthors" Target="commentAuthor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5/27/2026</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5/27/2026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0E71C67B-FA27-6781-9199-837820E00C5D}"/>
              </a:ext>
            </a:extLst>
          </p:cNvPr>
          <p:cNvGrpSpPr>
            <a:grpSpLocks/>
          </p:cNvGrpSpPr>
          <p:nvPr/>
        </p:nvGrpSpPr>
        <p:grpSpPr bwMode="auto">
          <a:xfrm>
            <a:off x="-10583" y="-7938"/>
            <a:ext cx="12225868" cy="6873876"/>
            <a:chOff x="-8466" y="-8468"/>
            <a:chExt cx="9169804" cy="6874935"/>
          </a:xfrm>
        </p:grpSpPr>
        <p:cxnSp>
          <p:nvCxnSpPr>
            <p:cNvPr id="5" name="Straight Connector 18">
              <a:extLst>
                <a:ext uri="{FF2B5EF4-FFF2-40B4-BE49-F238E27FC236}">
                  <a16:creationId xmlns:a16="http://schemas.microsoft.com/office/drawing/2014/main" id="{4A8F52D0-5DAA-CF72-0F1B-F74EC80FD0A2}"/>
                </a:ext>
              </a:extLst>
            </p:cNvPr>
            <p:cNvCxnSpPr/>
            <p:nvPr/>
          </p:nvCxnSpPr>
          <p:spPr>
            <a:xfrm flipV="1">
              <a:off x="5130498" y="4175239"/>
              <a:ext cx="4022902" cy="2683288"/>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19">
              <a:extLst>
                <a:ext uri="{FF2B5EF4-FFF2-40B4-BE49-F238E27FC236}">
                  <a16:creationId xmlns:a16="http://schemas.microsoft.com/office/drawing/2014/main" id="{7E383081-9907-062D-144A-6718E6D4B3EE}"/>
                </a:ext>
              </a:extLst>
            </p:cNvPr>
            <p:cNvCxnSpPr/>
            <p:nvPr/>
          </p:nvCxnSpPr>
          <p:spPr>
            <a:xfrm>
              <a:off x="7041932" y="-529"/>
              <a:ext cx="1219254" cy="6859057"/>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7" name="Freeform 20">
              <a:extLst>
                <a:ext uri="{FF2B5EF4-FFF2-40B4-BE49-F238E27FC236}">
                  <a16:creationId xmlns:a16="http://schemas.microsoft.com/office/drawing/2014/main" id="{37802DC5-19CD-050A-73EC-69352206E835}"/>
                </a:ext>
              </a:extLst>
            </p:cNvPr>
            <p:cNvSpPr/>
            <p:nvPr/>
          </p:nvSpPr>
          <p:spPr>
            <a:xfrm>
              <a:off x="6891113" y="-529"/>
              <a:ext cx="2270225" cy="686699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21">
              <a:extLst>
                <a:ext uri="{FF2B5EF4-FFF2-40B4-BE49-F238E27FC236}">
                  <a16:creationId xmlns:a16="http://schemas.microsoft.com/office/drawing/2014/main" id="{8D9142E1-031A-DB90-1ABE-D5569EC12CFB}"/>
                </a:ext>
              </a:extLst>
            </p:cNvPr>
            <p:cNvSpPr/>
            <p:nvPr/>
          </p:nvSpPr>
          <p:spPr>
            <a:xfrm>
              <a:off x="7205452" y="-8468"/>
              <a:ext cx="1947948" cy="6866996"/>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22">
              <a:extLst>
                <a:ext uri="{FF2B5EF4-FFF2-40B4-BE49-F238E27FC236}">
                  <a16:creationId xmlns:a16="http://schemas.microsoft.com/office/drawing/2014/main" id="{3BC90B16-03C0-65AF-04E9-0CCA259624BB}"/>
                </a:ext>
              </a:extLst>
            </p:cNvPr>
            <p:cNvSpPr/>
            <p:nvPr/>
          </p:nvSpPr>
          <p:spPr>
            <a:xfrm>
              <a:off x="6638689" y="3919613"/>
              <a:ext cx="2513123" cy="2938915"/>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23">
              <a:extLst>
                <a:ext uri="{FF2B5EF4-FFF2-40B4-BE49-F238E27FC236}">
                  <a16:creationId xmlns:a16="http://schemas.microsoft.com/office/drawing/2014/main" id="{083F88A6-50A8-DA24-452B-98EF49412093}"/>
                </a:ext>
              </a:extLst>
            </p:cNvPr>
            <p:cNvSpPr/>
            <p:nvPr/>
          </p:nvSpPr>
          <p:spPr>
            <a:xfrm>
              <a:off x="7010180" y="-8468"/>
              <a:ext cx="2143219" cy="6866996"/>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24">
              <a:extLst>
                <a:ext uri="{FF2B5EF4-FFF2-40B4-BE49-F238E27FC236}">
                  <a16:creationId xmlns:a16="http://schemas.microsoft.com/office/drawing/2014/main" id="{AF2CD6CF-E90B-59D5-2332-4FCD35EBAA38}"/>
                </a:ext>
              </a:extLst>
            </p:cNvPr>
            <p:cNvSpPr/>
            <p:nvPr/>
          </p:nvSpPr>
          <p:spPr>
            <a:xfrm>
              <a:off x="8296112" y="-8468"/>
              <a:ext cx="857288" cy="6866996"/>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25">
              <a:extLst>
                <a:ext uri="{FF2B5EF4-FFF2-40B4-BE49-F238E27FC236}">
                  <a16:creationId xmlns:a16="http://schemas.microsoft.com/office/drawing/2014/main" id="{BCAC1A1D-59B3-A17C-C4DB-DFC42E698658}"/>
                </a:ext>
              </a:extLst>
            </p:cNvPr>
            <p:cNvSpPr/>
            <p:nvPr/>
          </p:nvSpPr>
          <p:spPr>
            <a:xfrm>
              <a:off x="8077027" y="-8468"/>
              <a:ext cx="1066847" cy="6866996"/>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26">
              <a:extLst>
                <a:ext uri="{FF2B5EF4-FFF2-40B4-BE49-F238E27FC236}">
                  <a16:creationId xmlns:a16="http://schemas.microsoft.com/office/drawing/2014/main" id="{1305DA1F-D8A4-FDB0-ACC8-49DDA458BE88}"/>
                </a:ext>
              </a:extLst>
            </p:cNvPr>
            <p:cNvSpPr/>
            <p:nvPr/>
          </p:nvSpPr>
          <p:spPr>
            <a:xfrm>
              <a:off x="8059565" y="4894488"/>
              <a:ext cx="1095423" cy="1964040"/>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27">
              <a:extLst>
                <a:ext uri="{FF2B5EF4-FFF2-40B4-BE49-F238E27FC236}">
                  <a16:creationId xmlns:a16="http://schemas.microsoft.com/office/drawing/2014/main" id="{8CB31B6D-7B70-9554-AE92-4C6902F51E4A}"/>
                </a:ext>
              </a:extLst>
            </p:cNvPr>
            <p:cNvSpPr/>
            <p:nvPr/>
          </p:nvSpPr>
          <p:spPr>
            <a:xfrm>
              <a:off x="-8466" y="-8468"/>
              <a:ext cx="863639" cy="5698416"/>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461" y="4050835"/>
            <a:ext cx="7768959" cy="1096899"/>
          </a:xfrm>
        </p:spPr>
        <p:txBody>
          <a:bodyPr/>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5" name="Date Placeholder 3">
            <a:extLst>
              <a:ext uri="{FF2B5EF4-FFF2-40B4-BE49-F238E27FC236}">
                <a16:creationId xmlns:a16="http://schemas.microsoft.com/office/drawing/2014/main" id="{87BADCF1-F6EF-E016-B8EB-B3E95087351C}"/>
              </a:ext>
            </a:extLst>
          </p:cNvPr>
          <p:cNvSpPr>
            <a:spLocks noGrp="1"/>
          </p:cNvSpPr>
          <p:nvPr>
            <p:ph type="dt" sz="half" idx="10"/>
          </p:nvPr>
        </p:nvSpPr>
        <p:spPr/>
        <p:txBody>
          <a:bodyPr/>
          <a:lstStyle>
            <a:lvl1pPr>
              <a:defRPr sz="900">
                <a:solidFill>
                  <a:srgbClr val="898989"/>
                </a:solidFill>
              </a:defRPr>
            </a:lvl1pPr>
          </a:lstStyle>
          <a:p>
            <a:fld id="{A1339CEA-6780-490F-BB9E-EFDDCE7BED8C}" type="datetimeFigureOut">
              <a:rPr lang="en-US" altLang="da-DK"/>
              <a:pPr/>
              <a:t>5/27/2026</a:t>
            </a:fld>
            <a:endParaRPr lang="en-US" altLang="da-DK"/>
          </a:p>
        </p:txBody>
      </p:sp>
      <p:sp>
        <p:nvSpPr>
          <p:cNvPr id="16" name="Footer Placeholder 4">
            <a:extLst>
              <a:ext uri="{FF2B5EF4-FFF2-40B4-BE49-F238E27FC236}">
                <a16:creationId xmlns:a16="http://schemas.microsoft.com/office/drawing/2014/main" id="{B60B554C-6030-BD99-B584-7169325CE9F5}"/>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17" name="Slide Number Placeholder 5">
            <a:extLst>
              <a:ext uri="{FF2B5EF4-FFF2-40B4-BE49-F238E27FC236}">
                <a16:creationId xmlns:a16="http://schemas.microsoft.com/office/drawing/2014/main" id="{74734DE0-6FEA-D781-26B5-C15374EE5FA6}"/>
              </a:ext>
            </a:extLst>
          </p:cNvPr>
          <p:cNvSpPr>
            <a:spLocks noGrp="1"/>
          </p:cNvSpPr>
          <p:nvPr>
            <p:ph type="sldNum" sz="quarter" idx="12"/>
          </p:nvPr>
        </p:nvSpPr>
        <p:spPr/>
        <p:txBody>
          <a:bodyPr/>
          <a:lstStyle>
            <a:lvl1pPr>
              <a:defRPr sz="900">
                <a:solidFill>
                  <a:schemeClr val="accent1"/>
                </a:solidFill>
              </a:defRPr>
            </a:lvl1pPr>
          </a:lstStyle>
          <a:p>
            <a:fld id="{AE9AA8A4-D964-4297-93FC-F6A31834C302}" type="slidenum">
              <a:rPr lang="en-US" altLang="da-DK"/>
              <a:pPr/>
              <a:t>‹#›</a:t>
            </a:fld>
            <a:endParaRPr lang="en-US" altLang="da-DK"/>
          </a:p>
        </p:txBody>
      </p:sp>
    </p:spTree>
    <p:extLst>
      <p:ext uri="{BB962C8B-B14F-4D97-AF65-F5344CB8AC3E}">
        <p14:creationId xmlns:p14="http://schemas.microsoft.com/office/powerpoint/2010/main" val="29717067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AEA16A3-FE87-98AC-A902-2A0D240F024E}"/>
              </a:ext>
            </a:extLst>
          </p:cNvPr>
          <p:cNvSpPr>
            <a:spLocks noGrp="1"/>
          </p:cNvSpPr>
          <p:nvPr>
            <p:ph type="dt" sz="half" idx="10"/>
          </p:nvPr>
        </p:nvSpPr>
        <p:spPr/>
        <p:txBody>
          <a:bodyPr/>
          <a:lstStyle>
            <a:lvl1pPr>
              <a:defRPr sz="900">
                <a:solidFill>
                  <a:srgbClr val="898989"/>
                </a:solidFill>
              </a:defRPr>
            </a:lvl1pPr>
          </a:lstStyle>
          <a:p>
            <a:fld id="{F43CCEBA-CA24-4036-B92A-E06395FB67BB}" type="datetimeFigureOut">
              <a:rPr lang="en-US" altLang="da-DK"/>
              <a:pPr/>
              <a:t>5/27/2026</a:t>
            </a:fld>
            <a:endParaRPr lang="en-US" altLang="da-DK"/>
          </a:p>
        </p:txBody>
      </p:sp>
      <p:sp>
        <p:nvSpPr>
          <p:cNvPr id="5" name="Footer Placeholder 4">
            <a:extLst>
              <a:ext uri="{FF2B5EF4-FFF2-40B4-BE49-F238E27FC236}">
                <a16:creationId xmlns:a16="http://schemas.microsoft.com/office/drawing/2014/main" id="{7A082EEC-7945-243B-7B31-BB400EDFB996}"/>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958AD8D-C169-AC30-8C57-067A32D04621}"/>
              </a:ext>
            </a:extLst>
          </p:cNvPr>
          <p:cNvSpPr>
            <a:spLocks noGrp="1"/>
          </p:cNvSpPr>
          <p:nvPr>
            <p:ph type="sldNum" sz="quarter" idx="12"/>
          </p:nvPr>
        </p:nvSpPr>
        <p:spPr/>
        <p:txBody>
          <a:bodyPr/>
          <a:lstStyle>
            <a:lvl1pPr>
              <a:defRPr sz="900">
                <a:solidFill>
                  <a:schemeClr val="accent1"/>
                </a:solidFill>
              </a:defRPr>
            </a:lvl1pPr>
          </a:lstStyle>
          <a:p>
            <a:fld id="{C08177DD-43C9-4B40-AC77-CF55733E4928}" type="slidenum">
              <a:rPr lang="en-US" altLang="da-DK"/>
              <a:pPr/>
              <a:t>‹#›</a:t>
            </a:fld>
            <a:endParaRPr lang="en-US" altLang="da-DK"/>
          </a:p>
        </p:txBody>
      </p:sp>
    </p:spTree>
    <p:extLst>
      <p:ext uri="{BB962C8B-B14F-4D97-AF65-F5344CB8AC3E}">
        <p14:creationId xmlns:p14="http://schemas.microsoft.com/office/powerpoint/2010/main" val="7667374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798" y="2700869"/>
            <a:ext cx="8463620"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860400"/>
          </a:xfrm>
        </p:spPr>
        <p:txBody>
          <a:bodyPr/>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1330616-3A7E-B0BF-0037-0C70BC69C4DD}"/>
              </a:ext>
            </a:extLst>
          </p:cNvPr>
          <p:cNvSpPr>
            <a:spLocks noGrp="1"/>
          </p:cNvSpPr>
          <p:nvPr>
            <p:ph type="dt" sz="half" idx="10"/>
          </p:nvPr>
        </p:nvSpPr>
        <p:spPr/>
        <p:txBody>
          <a:bodyPr/>
          <a:lstStyle>
            <a:lvl1pPr>
              <a:defRPr sz="900">
                <a:solidFill>
                  <a:srgbClr val="898989"/>
                </a:solidFill>
              </a:defRPr>
            </a:lvl1pPr>
          </a:lstStyle>
          <a:p>
            <a:fld id="{FBBC1B5B-B3F6-43F6-B3CA-390224F3C1D3}" type="datetimeFigureOut">
              <a:rPr lang="en-US" altLang="da-DK"/>
              <a:pPr/>
              <a:t>5/27/2026</a:t>
            </a:fld>
            <a:endParaRPr lang="en-US" altLang="da-DK"/>
          </a:p>
        </p:txBody>
      </p:sp>
      <p:sp>
        <p:nvSpPr>
          <p:cNvPr id="5" name="Footer Placeholder 4">
            <a:extLst>
              <a:ext uri="{FF2B5EF4-FFF2-40B4-BE49-F238E27FC236}">
                <a16:creationId xmlns:a16="http://schemas.microsoft.com/office/drawing/2014/main" id="{B17919E6-FE0C-E5D7-B4C0-53968C236B25}"/>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AD0060C6-85DF-C58A-DA8F-5D435E085664}"/>
              </a:ext>
            </a:extLst>
          </p:cNvPr>
          <p:cNvSpPr>
            <a:spLocks noGrp="1"/>
          </p:cNvSpPr>
          <p:nvPr>
            <p:ph type="sldNum" sz="quarter" idx="12"/>
          </p:nvPr>
        </p:nvSpPr>
        <p:spPr/>
        <p:txBody>
          <a:bodyPr/>
          <a:lstStyle>
            <a:lvl1pPr>
              <a:defRPr sz="900">
                <a:solidFill>
                  <a:schemeClr val="accent1"/>
                </a:solidFill>
              </a:defRPr>
            </a:lvl1pPr>
          </a:lstStyle>
          <a:p>
            <a:fld id="{62B72DD4-A016-40EA-932A-F4A96F8A7D2A}" type="slidenum">
              <a:rPr lang="en-US" altLang="da-DK"/>
              <a:pPr/>
              <a:t>‹#›</a:t>
            </a:fld>
            <a:endParaRPr lang="en-US" altLang="da-DK"/>
          </a:p>
        </p:txBody>
      </p:sp>
    </p:spTree>
    <p:extLst>
      <p:ext uri="{BB962C8B-B14F-4D97-AF65-F5344CB8AC3E}">
        <p14:creationId xmlns:p14="http://schemas.microsoft.com/office/powerpoint/2010/main" val="12937313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160589"/>
            <a:ext cx="411747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58939" y="2160590"/>
            <a:ext cx="411748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E2734ED-28CA-4E53-51F7-FAB867A94F2E}"/>
              </a:ext>
            </a:extLst>
          </p:cNvPr>
          <p:cNvSpPr>
            <a:spLocks noGrp="1"/>
          </p:cNvSpPr>
          <p:nvPr>
            <p:ph type="dt" sz="half" idx="10"/>
          </p:nvPr>
        </p:nvSpPr>
        <p:spPr/>
        <p:txBody>
          <a:bodyPr/>
          <a:lstStyle>
            <a:lvl1pPr>
              <a:defRPr sz="900">
                <a:solidFill>
                  <a:srgbClr val="898989"/>
                </a:solidFill>
              </a:defRPr>
            </a:lvl1pPr>
          </a:lstStyle>
          <a:p>
            <a:fld id="{72C936DD-8514-4329-9EC8-2DBBF5657B97}" type="datetimeFigureOut">
              <a:rPr lang="en-US" altLang="da-DK"/>
              <a:pPr/>
              <a:t>5/27/2026</a:t>
            </a:fld>
            <a:endParaRPr lang="en-US" altLang="da-DK"/>
          </a:p>
        </p:txBody>
      </p:sp>
      <p:sp>
        <p:nvSpPr>
          <p:cNvPr id="6" name="Footer Placeholder 5">
            <a:extLst>
              <a:ext uri="{FF2B5EF4-FFF2-40B4-BE49-F238E27FC236}">
                <a16:creationId xmlns:a16="http://schemas.microsoft.com/office/drawing/2014/main" id="{DAEDD665-8C76-F97C-894C-46FF6DF19746}"/>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7" name="Slide Number Placeholder 6">
            <a:extLst>
              <a:ext uri="{FF2B5EF4-FFF2-40B4-BE49-F238E27FC236}">
                <a16:creationId xmlns:a16="http://schemas.microsoft.com/office/drawing/2014/main" id="{20799FFE-A9A5-E644-237B-418F0DCA4668}"/>
              </a:ext>
            </a:extLst>
          </p:cNvPr>
          <p:cNvSpPr>
            <a:spLocks noGrp="1"/>
          </p:cNvSpPr>
          <p:nvPr>
            <p:ph type="sldNum" sz="quarter" idx="12"/>
          </p:nvPr>
        </p:nvSpPr>
        <p:spPr/>
        <p:txBody>
          <a:bodyPr/>
          <a:lstStyle>
            <a:lvl1pPr>
              <a:defRPr sz="900">
                <a:solidFill>
                  <a:schemeClr val="accent1"/>
                </a:solidFill>
              </a:defRPr>
            </a:lvl1pPr>
          </a:lstStyle>
          <a:p>
            <a:fld id="{8B08CC83-6A36-4351-A7DA-F60468EABFB1}" type="slidenum">
              <a:rPr lang="en-US" altLang="da-DK"/>
              <a:pPr/>
              <a:t>‹#›</a:t>
            </a:fld>
            <a:endParaRPr lang="en-US" altLang="da-DK"/>
          </a:p>
        </p:txBody>
      </p:sp>
    </p:spTree>
    <p:extLst>
      <p:ext uri="{BB962C8B-B14F-4D97-AF65-F5344CB8AC3E}">
        <p14:creationId xmlns:p14="http://schemas.microsoft.com/office/powerpoint/2010/main" val="1179873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799"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2799" y="2737247"/>
            <a:ext cx="4120896"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55520"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55520" y="2737247"/>
            <a:ext cx="4120896"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3A8E63D-D33F-37BD-4352-6DE039A1E839}"/>
              </a:ext>
            </a:extLst>
          </p:cNvPr>
          <p:cNvSpPr>
            <a:spLocks noGrp="1"/>
          </p:cNvSpPr>
          <p:nvPr>
            <p:ph type="dt" sz="half" idx="10"/>
          </p:nvPr>
        </p:nvSpPr>
        <p:spPr/>
        <p:txBody>
          <a:bodyPr/>
          <a:lstStyle>
            <a:lvl1pPr>
              <a:defRPr sz="900">
                <a:solidFill>
                  <a:srgbClr val="898989"/>
                </a:solidFill>
              </a:defRPr>
            </a:lvl1pPr>
          </a:lstStyle>
          <a:p>
            <a:fld id="{99BAAC83-9E69-4EBE-B247-85DBE3D378D6}" type="datetimeFigureOut">
              <a:rPr lang="en-US" altLang="da-DK"/>
              <a:pPr/>
              <a:t>5/27/2026</a:t>
            </a:fld>
            <a:endParaRPr lang="en-US" altLang="da-DK"/>
          </a:p>
        </p:txBody>
      </p:sp>
      <p:sp>
        <p:nvSpPr>
          <p:cNvPr id="8" name="Footer Placeholder 7">
            <a:extLst>
              <a:ext uri="{FF2B5EF4-FFF2-40B4-BE49-F238E27FC236}">
                <a16:creationId xmlns:a16="http://schemas.microsoft.com/office/drawing/2014/main" id="{962639AD-D9E0-CED0-05FD-7E78485C9800}"/>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9" name="Slide Number Placeholder 8">
            <a:extLst>
              <a:ext uri="{FF2B5EF4-FFF2-40B4-BE49-F238E27FC236}">
                <a16:creationId xmlns:a16="http://schemas.microsoft.com/office/drawing/2014/main" id="{33BB7C9A-8D6F-BCDB-724C-65685B7876E1}"/>
              </a:ext>
            </a:extLst>
          </p:cNvPr>
          <p:cNvSpPr>
            <a:spLocks noGrp="1"/>
          </p:cNvSpPr>
          <p:nvPr>
            <p:ph type="sldNum" sz="quarter" idx="12"/>
          </p:nvPr>
        </p:nvSpPr>
        <p:spPr/>
        <p:txBody>
          <a:bodyPr/>
          <a:lstStyle>
            <a:lvl1pPr>
              <a:defRPr sz="900">
                <a:solidFill>
                  <a:schemeClr val="accent1"/>
                </a:solidFill>
              </a:defRPr>
            </a:lvl1pPr>
          </a:lstStyle>
          <a:p>
            <a:fld id="{689059D5-AC5A-4708-9A72-72FE6DC37105}" type="slidenum">
              <a:rPr lang="en-US" altLang="da-DK"/>
              <a:pPr/>
              <a:t>‹#›</a:t>
            </a:fld>
            <a:endParaRPr lang="en-US" altLang="da-DK"/>
          </a:p>
        </p:txBody>
      </p:sp>
    </p:spTree>
    <p:extLst>
      <p:ext uri="{BB962C8B-B14F-4D97-AF65-F5344CB8AC3E}">
        <p14:creationId xmlns:p14="http://schemas.microsoft.com/office/powerpoint/2010/main" val="35871574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9" y="609600"/>
            <a:ext cx="8463619" cy="13208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9E657D88-E240-CCD2-00EB-09C8F86D71C6}"/>
              </a:ext>
            </a:extLst>
          </p:cNvPr>
          <p:cNvSpPr>
            <a:spLocks noGrp="1"/>
          </p:cNvSpPr>
          <p:nvPr>
            <p:ph type="dt" sz="half" idx="10"/>
          </p:nvPr>
        </p:nvSpPr>
        <p:spPr/>
        <p:txBody>
          <a:bodyPr/>
          <a:lstStyle>
            <a:lvl1pPr>
              <a:defRPr sz="900">
                <a:solidFill>
                  <a:srgbClr val="898989"/>
                </a:solidFill>
              </a:defRPr>
            </a:lvl1pPr>
          </a:lstStyle>
          <a:p>
            <a:fld id="{2317F852-A310-4D95-9EFB-A88BF44A40F3}" type="datetimeFigureOut">
              <a:rPr lang="en-US" altLang="da-DK"/>
              <a:pPr/>
              <a:t>5/27/2026</a:t>
            </a:fld>
            <a:endParaRPr lang="en-US" altLang="da-DK"/>
          </a:p>
        </p:txBody>
      </p:sp>
      <p:sp>
        <p:nvSpPr>
          <p:cNvPr id="4" name="Footer Placeholder 3">
            <a:extLst>
              <a:ext uri="{FF2B5EF4-FFF2-40B4-BE49-F238E27FC236}">
                <a16:creationId xmlns:a16="http://schemas.microsoft.com/office/drawing/2014/main" id="{4FD1B66F-105D-C19E-2338-5502B6ED20F3}"/>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5" name="Slide Number Placeholder 4">
            <a:extLst>
              <a:ext uri="{FF2B5EF4-FFF2-40B4-BE49-F238E27FC236}">
                <a16:creationId xmlns:a16="http://schemas.microsoft.com/office/drawing/2014/main" id="{325BA010-204A-663F-2530-72F917D30FF6}"/>
              </a:ext>
            </a:extLst>
          </p:cNvPr>
          <p:cNvSpPr>
            <a:spLocks noGrp="1"/>
          </p:cNvSpPr>
          <p:nvPr>
            <p:ph type="sldNum" sz="quarter" idx="12"/>
          </p:nvPr>
        </p:nvSpPr>
        <p:spPr/>
        <p:txBody>
          <a:bodyPr/>
          <a:lstStyle>
            <a:lvl1pPr>
              <a:defRPr sz="900">
                <a:solidFill>
                  <a:schemeClr val="accent1"/>
                </a:solidFill>
              </a:defRPr>
            </a:lvl1pPr>
          </a:lstStyle>
          <a:p>
            <a:fld id="{385006D4-660F-4D71-91CC-3C9CDE44BB92}" type="slidenum">
              <a:rPr lang="en-US" altLang="da-DK"/>
              <a:pPr/>
              <a:t>‹#›</a:t>
            </a:fld>
            <a:endParaRPr lang="en-US" altLang="da-DK"/>
          </a:p>
        </p:txBody>
      </p:sp>
    </p:spTree>
    <p:extLst>
      <p:ext uri="{BB962C8B-B14F-4D97-AF65-F5344CB8AC3E}">
        <p14:creationId xmlns:p14="http://schemas.microsoft.com/office/powerpoint/2010/main" val="33045327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5053C-33D2-551B-1642-CBE71B718E9D}"/>
              </a:ext>
            </a:extLst>
          </p:cNvPr>
          <p:cNvSpPr>
            <a:spLocks noGrp="1"/>
          </p:cNvSpPr>
          <p:nvPr>
            <p:ph type="dt" sz="half" idx="10"/>
          </p:nvPr>
        </p:nvSpPr>
        <p:spPr/>
        <p:txBody>
          <a:bodyPr/>
          <a:lstStyle>
            <a:lvl1pPr>
              <a:defRPr sz="900">
                <a:solidFill>
                  <a:srgbClr val="898989"/>
                </a:solidFill>
              </a:defRPr>
            </a:lvl1pPr>
          </a:lstStyle>
          <a:p>
            <a:fld id="{73C05A62-9F67-4F40-A5E7-C5BB4CD5D588}" type="datetimeFigureOut">
              <a:rPr lang="en-US" altLang="da-DK"/>
              <a:pPr/>
              <a:t>5/27/2026</a:t>
            </a:fld>
            <a:endParaRPr lang="en-US" altLang="da-DK"/>
          </a:p>
        </p:txBody>
      </p:sp>
      <p:sp>
        <p:nvSpPr>
          <p:cNvPr id="3" name="Footer Placeholder 2">
            <a:extLst>
              <a:ext uri="{FF2B5EF4-FFF2-40B4-BE49-F238E27FC236}">
                <a16:creationId xmlns:a16="http://schemas.microsoft.com/office/drawing/2014/main" id="{0B1348E9-BF7F-ABC1-7C58-096B7E436F44}"/>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4" name="Slide Number Placeholder 3">
            <a:extLst>
              <a:ext uri="{FF2B5EF4-FFF2-40B4-BE49-F238E27FC236}">
                <a16:creationId xmlns:a16="http://schemas.microsoft.com/office/drawing/2014/main" id="{7A979BFA-1834-3F81-74AB-967C16122363}"/>
              </a:ext>
            </a:extLst>
          </p:cNvPr>
          <p:cNvSpPr>
            <a:spLocks noGrp="1"/>
          </p:cNvSpPr>
          <p:nvPr>
            <p:ph type="sldNum" sz="quarter" idx="12"/>
          </p:nvPr>
        </p:nvSpPr>
        <p:spPr/>
        <p:txBody>
          <a:bodyPr/>
          <a:lstStyle>
            <a:lvl1pPr>
              <a:defRPr sz="900">
                <a:solidFill>
                  <a:schemeClr val="accent1"/>
                </a:solidFill>
              </a:defRPr>
            </a:lvl1pPr>
          </a:lstStyle>
          <a:p>
            <a:fld id="{1AA9F0EF-D91B-4FC6-A88A-0EF3B979C13A}" type="slidenum">
              <a:rPr lang="en-US" altLang="da-DK"/>
              <a:pPr/>
              <a:t>‹#›</a:t>
            </a:fld>
            <a:endParaRPr lang="en-US" altLang="da-DK"/>
          </a:p>
        </p:txBody>
      </p:sp>
    </p:spTree>
    <p:extLst>
      <p:ext uri="{BB962C8B-B14F-4D97-AF65-F5344CB8AC3E}">
        <p14:creationId xmlns:p14="http://schemas.microsoft.com/office/powerpoint/2010/main" val="6557410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1498604"/>
            <a:ext cx="3720243"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1701" y="514926"/>
            <a:ext cx="4514716"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799" y="2777069"/>
            <a:ext cx="3720243"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41413655-9CAA-9C4B-642A-5C82426A45A0}"/>
              </a:ext>
            </a:extLst>
          </p:cNvPr>
          <p:cNvSpPr>
            <a:spLocks noGrp="1"/>
          </p:cNvSpPr>
          <p:nvPr>
            <p:ph type="dt" sz="half" idx="10"/>
          </p:nvPr>
        </p:nvSpPr>
        <p:spPr/>
        <p:txBody>
          <a:bodyPr/>
          <a:lstStyle>
            <a:lvl1pPr>
              <a:defRPr sz="900">
                <a:solidFill>
                  <a:srgbClr val="898989"/>
                </a:solidFill>
              </a:defRPr>
            </a:lvl1pPr>
          </a:lstStyle>
          <a:p>
            <a:fld id="{A39540D6-2FD0-41A0-9210-FFEBEB5CC5FE}" type="datetimeFigureOut">
              <a:rPr lang="en-US" altLang="da-DK"/>
              <a:pPr/>
              <a:t>5/27/2026</a:t>
            </a:fld>
            <a:endParaRPr lang="en-US" altLang="da-DK"/>
          </a:p>
        </p:txBody>
      </p:sp>
      <p:sp>
        <p:nvSpPr>
          <p:cNvPr id="6" name="Footer Placeholder 5">
            <a:extLst>
              <a:ext uri="{FF2B5EF4-FFF2-40B4-BE49-F238E27FC236}">
                <a16:creationId xmlns:a16="http://schemas.microsoft.com/office/drawing/2014/main" id="{6803B2C6-34C6-5502-E98A-FCF19B12AF4D}"/>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7" name="Slide Number Placeholder 6">
            <a:extLst>
              <a:ext uri="{FF2B5EF4-FFF2-40B4-BE49-F238E27FC236}">
                <a16:creationId xmlns:a16="http://schemas.microsoft.com/office/drawing/2014/main" id="{06E5F800-E9EB-1F75-A027-1AED09EA2E29}"/>
              </a:ext>
            </a:extLst>
          </p:cNvPr>
          <p:cNvSpPr>
            <a:spLocks noGrp="1"/>
          </p:cNvSpPr>
          <p:nvPr>
            <p:ph type="sldNum" sz="quarter" idx="12"/>
          </p:nvPr>
        </p:nvSpPr>
        <p:spPr/>
        <p:txBody>
          <a:bodyPr/>
          <a:lstStyle>
            <a:lvl1pPr>
              <a:defRPr sz="900">
                <a:solidFill>
                  <a:schemeClr val="accent1"/>
                </a:solidFill>
              </a:defRPr>
            </a:lvl1pPr>
          </a:lstStyle>
          <a:p>
            <a:fld id="{7086197D-E5B3-45DE-900C-58CFF2192DFD}" type="slidenum">
              <a:rPr lang="en-US" altLang="da-DK"/>
              <a:pPr/>
              <a:t>‹#›</a:t>
            </a:fld>
            <a:endParaRPr lang="en-US" altLang="da-DK"/>
          </a:p>
        </p:txBody>
      </p:sp>
    </p:spTree>
    <p:extLst>
      <p:ext uri="{BB962C8B-B14F-4D97-AF65-F5344CB8AC3E}">
        <p14:creationId xmlns:p14="http://schemas.microsoft.com/office/powerpoint/2010/main" val="30894562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4800600"/>
            <a:ext cx="846361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799" y="609600"/>
            <a:ext cx="8463619" cy="3845718"/>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12799" y="5367338"/>
            <a:ext cx="8463619"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a:extLst>
              <a:ext uri="{FF2B5EF4-FFF2-40B4-BE49-F238E27FC236}">
                <a16:creationId xmlns:a16="http://schemas.microsoft.com/office/drawing/2014/main" id="{001FC14B-4D22-47F8-4709-71E0EE40CFAA}"/>
              </a:ext>
            </a:extLst>
          </p:cNvPr>
          <p:cNvSpPr>
            <a:spLocks noGrp="1"/>
          </p:cNvSpPr>
          <p:nvPr>
            <p:ph type="dt" sz="half" idx="10"/>
          </p:nvPr>
        </p:nvSpPr>
        <p:spPr/>
        <p:txBody>
          <a:bodyPr/>
          <a:lstStyle>
            <a:lvl1pPr>
              <a:defRPr sz="900">
                <a:solidFill>
                  <a:srgbClr val="898989"/>
                </a:solidFill>
              </a:defRPr>
            </a:lvl1pPr>
          </a:lstStyle>
          <a:p>
            <a:fld id="{136D22F9-C1BA-4EDD-A281-48531747F786}" type="datetimeFigureOut">
              <a:rPr lang="en-US" altLang="da-DK"/>
              <a:pPr/>
              <a:t>5/27/2026</a:t>
            </a:fld>
            <a:endParaRPr lang="en-US" altLang="da-DK"/>
          </a:p>
        </p:txBody>
      </p:sp>
      <p:sp>
        <p:nvSpPr>
          <p:cNvPr id="6" name="Footer Placeholder 5">
            <a:extLst>
              <a:ext uri="{FF2B5EF4-FFF2-40B4-BE49-F238E27FC236}">
                <a16:creationId xmlns:a16="http://schemas.microsoft.com/office/drawing/2014/main" id="{6E42F37A-F69C-DEF3-C256-ABBA996CCBC9}"/>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7" name="Slide Number Placeholder 6">
            <a:extLst>
              <a:ext uri="{FF2B5EF4-FFF2-40B4-BE49-F238E27FC236}">
                <a16:creationId xmlns:a16="http://schemas.microsoft.com/office/drawing/2014/main" id="{9D5D7B31-D6A2-EDDE-1D56-B524795E5D15}"/>
              </a:ext>
            </a:extLst>
          </p:cNvPr>
          <p:cNvSpPr>
            <a:spLocks noGrp="1"/>
          </p:cNvSpPr>
          <p:nvPr>
            <p:ph type="sldNum" sz="quarter" idx="12"/>
          </p:nvPr>
        </p:nvSpPr>
        <p:spPr/>
        <p:txBody>
          <a:bodyPr/>
          <a:lstStyle>
            <a:lvl1pPr>
              <a:defRPr sz="900">
                <a:solidFill>
                  <a:schemeClr val="accent1"/>
                </a:solidFill>
              </a:defRPr>
            </a:lvl1pPr>
          </a:lstStyle>
          <a:p>
            <a:fld id="{F8661843-6B19-422A-AE05-7F5E9E848DCB}" type="slidenum">
              <a:rPr lang="en-US" altLang="da-DK"/>
              <a:pPr/>
              <a:t>‹#›</a:t>
            </a:fld>
            <a:endParaRPr lang="en-US" altLang="da-DK"/>
          </a:p>
        </p:txBody>
      </p:sp>
    </p:spTree>
    <p:extLst>
      <p:ext uri="{BB962C8B-B14F-4D97-AF65-F5344CB8AC3E}">
        <p14:creationId xmlns:p14="http://schemas.microsoft.com/office/powerpoint/2010/main" val="1362174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800" y="4470400"/>
            <a:ext cx="846361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72DFC4F-C3F2-8552-F460-FDF2075E067B}"/>
              </a:ext>
            </a:extLst>
          </p:cNvPr>
          <p:cNvSpPr>
            <a:spLocks noGrp="1"/>
          </p:cNvSpPr>
          <p:nvPr>
            <p:ph type="dt" sz="half" idx="10"/>
          </p:nvPr>
        </p:nvSpPr>
        <p:spPr/>
        <p:txBody>
          <a:bodyPr/>
          <a:lstStyle>
            <a:lvl1pPr>
              <a:defRPr/>
            </a:lvl1pPr>
          </a:lstStyle>
          <a:p>
            <a:fld id="{B7128774-82D5-414E-B6B9-BF87EA0EF395}" type="datetimeFigureOut">
              <a:rPr lang="en-US" altLang="da-DK"/>
              <a:pPr/>
              <a:t>5/27/2026</a:t>
            </a:fld>
            <a:endParaRPr lang="en-US" altLang="da-DK"/>
          </a:p>
        </p:txBody>
      </p:sp>
      <p:sp>
        <p:nvSpPr>
          <p:cNvPr id="5" name="Footer Placeholder 4">
            <a:extLst>
              <a:ext uri="{FF2B5EF4-FFF2-40B4-BE49-F238E27FC236}">
                <a16:creationId xmlns:a16="http://schemas.microsoft.com/office/drawing/2014/main" id="{C554E9C2-724F-9706-14ED-6F1E3E8AA33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2D61209-F28B-C586-B934-1207D26A6EDA}"/>
              </a:ext>
            </a:extLst>
          </p:cNvPr>
          <p:cNvSpPr>
            <a:spLocks noGrp="1"/>
          </p:cNvSpPr>
          <p:nvPr>
            <p:ph type="sldNum" sz="quarter" idx="12"/>
          </p:nvPr>
        </p:nvSpPr>
        <p:spPr/>
        <p:txBody>
          <a:bodyPr/>
          <a:lstStyle>
            <a:lvl1pPr>
              <a:defRPr/>
            </a:lvl1pPr>
          </a:lstStyle>
          <a:p>
            <a:fld id="{82CC007B-2269-493D-A106-FBA42A9FB821}" type="slidenum">
              <a:rPr lang="en-US" altLang="da-DK"/>
              <a:pPr/>
              <a:t>‹#›</a:t>
            </a:fld>
            <a:endParaRPr lang="en-US" altLang="da-DK"/>
          </a:p>
        </p:txBody>
      </p:sp>
    </p:spTree>
    <p:extLst>
      <p:ext uri="{BB962C8B-B14F-4D97-AF65-F5344CB8AC3E}">
        <p14:creationId xmlns:p14="http://schemas.microsoft.com/office/powerpoint/2010/main" val="3961270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17">
            <a:extLst>
              <a:ext uri="{FF2B5EF4-FFF2-40B4-BE49-F238E27FC236}">
                <a16:creationId xmlns:a16="http://schemas.microsoft.com/office/drawing/2014/main" id="{264BA055-81C3-62A5-81BD-B1D852378C37}"/>
              </a:ext>
            </a:extLst>
          </p:cNvPr>
          <p:cNvSpPr txBox="1">
            <a:spLocks noChangeArrowheads="1"/>
          </p:cNvSpPr>
          <p:nvPr/>
        </p:nvSpPr>
        <p:spPr bwMode="auto">
          <a:xfrm>
            <a:off x="643467" y="790575"/>
            <a:ext cx="6096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rebuchet MS" panose="020B0603020202020204" pitchFamily="34" charset="0"/>
                <a:ea typeface="MS PGothic" panose="020B0600070205080204" pitchFamily="34" charset="-128"/>
              </a:defRPr>
            </a:lvl1pPr>
            <a:lvl2pPr marL="742950" indent="-285750" eaLnBrk="0" hangingPunct="0">
              <a:defRPr sz="2400">
                <a:solidFill>
                  <a:schemeClr val="tx1"/>
                </a:solidFill>
                <a:latin typeface="Trebuchet MS" panose="020B0603020202020204" pitchFamily="34" charset="0"/>
                <a:ea typeface="MS PGothic" panose="020B0600070205080204" pitchFamily="34" charset="-128"/>
              </a:defRPr>
            </a:lvl2pPr>
            <a:lvl3pPr marL="1143000" indent="-228600" eaLnBrk="0" hangingPunct="0">
              <a:defRPr sz="2400">
                <a:solidFill>
                  <a:schemeClr val="tx1"/>
                </a:solidFill>
                <a:latin typeface="Trebuchet MS" panose="020B0603020202020204" pitchFamily="34" charset="0"/>
                <a:ea typeface="MS PGothic" panose="020B0600070205080204" pitchFamily="34" charset="-128"/>
              </a:defRPr>
            </a:lvl3pPr>
            <a:lvl4pPr marL="1600200" indent="-228600" eaLnBrk="0" hangingPunct="0">
              <a:defRPr sz="2400">
                <a:solidFill>
                  <a:schemeClr val="tx1"/>
                </a:solidFill>
                <a:latin typeface="Trebuchet MS" panose="020B0603020202020204" pitchFamily="34" charset="0"/>
                <a:ea typeface="MS PGothic" panose="020B0600070205080204" pitchFamily="34" charset="-128"/>
              </a:defRPr>
            </a:lvl4pPr>
            <a:lvl5pPr marL="2057400" indent="-228600" eaLnBrk="0" hangingPunct="0">
              <a:defRPr sz="2400">
                <a:solidFill>
                  <a:schemeClr val="tx1"/>
                </a:solidFill>
                <a:latin typeface="Trebuchet MS" panose="020B0603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9pPr>
          </a:lstStyle>
          <a:p>
            <a:pPr eaLnBrk="1" hangingPunct="1"/>
            <a:r>
              <a:rPr lang="en-US" altLang="en-US" sz="8000">
                <a:solidFill>
                  <a:srgbClr val="C0E474"/>
                </a:solidFill>
                <a:latin typeface="Arial" panose="020B0604020202020204" pitchFamily="34" charset="0"/>
              </a:rPr>
              <a:t>“</a:t>
            </a:r>
            <a:endParaRPr lang="en-US" altLang="da-DK" sz="8000">
              <a:solidFill>
                <a:srgbClr val="C0E474"/>
              </a:solidFill>
              <a:latin typeface="Arial" panose="020B0604020202020204" pitchFamily="34" charset="0"/>
            </a:endParaRPr>
          </a:p>
        </p:txBody>
      </p:sp>
      <p:sp>
        <p:nvSpPr>
          <p:cNvPr id="5" name="TextBox 18">
            <a:extLst>
              <a:ext uri="{FF2B5EF4-FFF2-40B4-BE49-F238E27FC236}">
                <a16:creationId xmlns:a16="http://schemas.microsoft.com/office/drawing/2014/main" id="{170B6BAA-154D-98A6-BF17-8B05FE1BFC6F}"/>
              </a:ext>
            </a:extLst>
          </p:cNvPr>
          <p:cNvSpPr txBox="1">
            <a:spLocks noChangeArrowheads="1"/>
          </p:cNvSpPr>
          <p:nvPr/>
        </p:nvSpPr>
        <p:spPr bwMode="auto">
          <a:xfrm>
            <a:off x="8997951" y="2886075"/>
            <a:ext cx="609600" cy="585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rebuchet MS" panose="020B0603020202020204" pitchFamily="34" charset="0"/>
                <a:ea typeface="MS PGothic" panose="020B0600070205080204" pitchFamily="34" charset="-128"/>
              </a:defRPr>
            </a:lvl1pPr>
            <a:lvl2pPr marL="742950" indent="-285750" eaLnBrk="0" hangingPunct="0">
              <a:defRPr sz="2400">
                <a:solidFill>
                  <a:schemeClr val="tx1"/>
                </a:solidFill>
                <a:latin typeface="Trebuchet MS" panose="020B0603020202020204" pitchFamily="34" charset="0"/>
                <a:ea typeface="MS PGothic" panose="020B0600070205080204" pitchFamily="34" charset="-128"/>
              </a:defRPr>
            </a:lvl2pPr>
            <a:lvl3pPr marL="1143000" indent="-228600" eaLnBrk="0" hangingPunct="0">
              <a:defRPr sz="2400">
                <a:solidFill>
                  <a:schemeClr val="tx1"/>
                </a:solidFill>
                <a:latin typeface="Trebuchet MS" panose="020B0603020202020204" pitchFamily="34" charset="0"/>
                <a:ea typeface="MS PGothic" panose="020B0600070205080204" pitchFamily="34" charset="-128"/>
              </a:defRPr>
            </a:lvl3pPr>
            <a:lvl4pPr marL="1600200" indent="-228600" eaLnBrk="0" hangingPunct="0">
              <a:defRPr sz="2400">
                <a:solidFill>
                  <a:schemeClr val="tx1"/>
                </a:solidFill>
                <a:latin typeface="Trebuchet MS" panose="020B0603020202020204" pitchFamily="34" charset="0"/>
                <a:ea typeface="MS PGothic" panose="020B0600070205080204" pitchFamily="34" charset="-128"/>
              </a:defRPr>
            </a:lvl4pPr>
            <a:lvl5pPr marL="2057400" indent="-228600" eaLnBrk="0" hangingPunct="0">
              <a:defRPr sz="2400">
                <a:solidFill>
                  <a:schemeClr val="tx1"/>
                </a:solidFill>
                <a:latin typeface="Trebuchet MS" panose="020B0603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9pPr>
          </a:lstStyle>
          <a:p>
            <a:pPr eaLnBrk="1" hangingPunct="1"/>
            <a:r>
              <a:rPr lang="en-US" altLang="en-US" sz="8000">
                <a:solidFill>
                  <a:srgbClr val="C0E474"/>
                </a:solidFill>
                <a:latin typeface="Arial" panose="020B0604020202020204" pitchFamily="34" charset="0"/>
              </a:rPr>
              <a:t>”</a:t>
            </a:r>
            <a:endParaRPr lang="en-US" altLang="da-DK" sz="8000">
              <a:solidFill>
                <a:srgbClr val="C0E474"/>
              </a:solidFill>
              <a:latin typeface="Arial" panose="020B0604020202020204" pitchFamily="34" charset="0"/>
            </a:endParaRPr>
          </a:p>
        </p:txBody>
      </p:sp>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468099" y="3632200"/>
            <a:ext cx="722640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812798" y="4470400"/>
            <a:ext cx="8463620"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6" name="Date Placeholder 3">
            <a:extLst>
              <a:ext uri="{FF2B5EF4-FFF2-40B4-BE49-F238E27FC236}">
                <a16:creationId xmlns:a16="http://schemas.microsoft.com/office/drawing/2014/main" id="{FF015F27-633D-5FD4-4B08-4CEF3F943A95}"/>
              </a:ext>
            </a:extLst>
          </p:cNvPr>
          <p:cNvSpPr>
            <a:spLocks noGrp="1"/>
          </p:cNvSpPr>
          <p:nvPr>
            <p:ph type="dt" sz="half" idx="14"/>
          </p:nvPr>
        </p:nvSpPr>
        <p:spPr/>
        <p:txBody>
          <a:bodyPr/>
          <a:lstStyle>
            <a:lvl1pPr>
              <a:defRPr/>
            </a:lvl1pPr>
          </a:lstStyle>
          <a:p>
            <a:fld id="{1FE647A8-0DBB-438C-9EAB-9931752155C3}" type="datetimeFigureOut">
              <a:rPr lang="en-US" altLang="da-DK"/>
              <a:pPr/>
              <a:t>5/27/2026</a:t>
            </a:fld>
            <a:endParaRPr lang="en-US" altLang="da-DK"/>
          </a:p>
        </p:txBody>
      </p:sp>
      <p:sp>
        <p:nvSpPr>
          <p:cNvPr id="7" name="Footer Placeholder 4">
            <a:extLst>
              <a:ext uri="{FF2B5EF4-FFF2-40B4-BE49-F238E27FC236}">
                <a16:creationId xmlns:a16="http://schemas.microsoft.com/office/drawing/2014/main" id="{A9C03828-1257-B019-6F5D-A198F5271BF5}"/>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AA18DA43-B3BC-EE04-DDB0-F9EB4F3441FF}"/>
              </a:ext>
            </a:extLst>
          </p:cNvPr>
          <p:cNvSpPr>
            <a:spLocks noGrp="1"/>
          </p:cNvSpPr>
          <p:nvPr>
            <p:ph type="sldNum" sz="quarter" idx="16"/>
          </p:nvPr>
        </p:nvSpPr>
        <p:spPr/>
        <p:txBody>
          <a:bodyPr/>
          <a:lstStyle>
            <a:lvl1pPr>
              <a:defRPr/>
            </a:lvl1pPr>
          </a:lstStyle>
          <a:p>
            <a:fld id="{F892BEB0-F165-401B-A72E-394B03783F82}" type="slidenum">
              <a:rPr lang="en-US" altLang="da-DK"/>
              <a:pPr/>
              <a:t>‹#›</a:t>
            </a:fld>
            <a:endParaRPr lang="en-US" altLang="da-DK"/>
          </a:p>
        </p:txBody>
      </p:sp>
    </p:spTree>
    <p:extLst>
      <p:ext uri="{BB962C8B-B14F-4D97-AF65-F5344CB8AC3E}">
        <p14:creationId xmlns:p14="http://schemas.microsoft.com/office/powerpoint/2010/main" val="25742366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798" y="1931988"/>
            <a:ext cx="8463620"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1513914"/>
          </a:xfrm>
        </p:spPr>
        <p:txBody>
          <a:bodyP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7E4AB7A-ED23-1490-3987-CF72489C09E7}"/>
              </a:ext>
            </a:extLst>
          </p:cNvPr>
          <p:cNvSpPr>
            <a:spLocks noGrp="1"/>
          </p:cNvSpPr>
          <p:nvPr>
            <p:ph type="dt" sz="half" idx="10"/>
          </p:nvPr>
        </p:nvSpPr>
        <p:spPr/>
        <p:txBody>
          <a:bodyPr/>
          <a:lstStyle>
            <a:lvl1pPr>
              <a:defRPr/>
            </a:lvl1pPr>
          </a:lstStyle>
          <a:p>
            <a:fld id="{433B3314-7921-46F4-9FBE-48B979B8852B}" type="datetimeFigureOut">
              <a:rPr lang="en-US" altLang="da-DK"/>
              <a:pPr/>
              <a:t>5/27/2026</a:t>
            </a:fld>
            <a:endParaRPr lang="en-US" altLang="da-DK"/>
          </a:p>
        </p:txBody>
      </p:sp>
      <p:sp>
        <p:nvSpPr>
          <p:cNvPr id="5" name="Footer Placeholder 4">
            <a:extLst>
              <a:ext uri="{FF2B5EF4-FFF2-40B4-BE49-F238E27FC236}">
                <a16:creationId xmlns:a16="http://schemas.microsoft.com/office/drawing/2014/main" id="{DA68B112-0598-A0FF-491C-48182AFE019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29F9A4F-8C18-4074-A259-7C4595E952D2}"/>
              </a:ext>
            </a:extLst>
          </p:cNvPr>
          <p:cNvSpPr>
            <a:spLocks noGrp="1"/>
          </p:cNvSpPr>
          <p:nvPr>
            <p:ph type="sldNum" sz="quarter" idx="12"/>
          </p:nvPr>
        </p:nvSpPr>
        <p:spPr/>
        <p:txBody>
          <a:bodyPr/>
          <a:lstStyle>
            <a:lvl1pPr>
              <a:defRPr/>
            </a:lvl1pPr>
          </a:lstStyle>
          <a:p>
            <a:fld id="{71F83F5C-52CD-4A7A-BAB0-163D80CB5445}" type="slidenum">
              <a:rPr lang="en-US" altLang="da-DK"/>
              <a:pPr/>
              <a:t>‹#›</a:t>
            </a:fld>
            <a:endParaRPr lang="en-US" altLang="da-DK"/>
          </a:p>
        </p:txBody>
      </p:sp>
    </p:spTree>
    <p:extLst>
      <p:ext uri="{BB962C8B-B14F-4D97-AF65-F5344CB8AC3E}">
        <p14:creationId xmlns:p14="http://schemas.microsoft.com/office/powerpoint/2010/main" val="14761823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17">
            <a:extLst>
              <a:ext uri="{FF2B5EF4-FFF2-40B4-BE49-F238E27FC236}">
                <a16:creationId xmlns:a16="http://schemas.microsoft.com/office/drawing/2014/main" id="{7394FCD4-356E-985F-2DC9-D551BB70EB30}"/>
              </a:ext>
            </a:extLst>
          </p:cNvPr>
          <p:cNvSpPr txBox="1">
            <a:spLocks noChangeArrowheads="1"/>
          </p:cNvSpPr>
          <p:nvPr/>
        </p:nvSpPr>
        <p:spPr bwMode="auto">
          <a:xfrm>
            <a:off x="643467" y="790575"/>
            <a:ext cx="6096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rebuchet MS" panose="020B0603020202020204" pitchFamily="34" charset="0"/>
                <a:ea typeface="MS PGothic" panose="020B0600070205080204" pitchFamily="34" charset="-128"/>
              </a:defRPr>
            </a:lvl1pPr>
            <a:lvl2pPr marL="742950" indent="-285750" eaLnBrk="0" hangingPunct="0">
              <a:defRPr sz="2400">
                <a:solidFill>
                  <a:schemeClr val="tx1"/>
                </a:solidFill>
                <a:latin typeface="Trebuchet MS" panose="020B0603020202020204" pitchFamily="34" charset="0"/>
                <a:ea typeface="MS PGothic" panose="020B0600070205080204" pitchFamily="34" charset="-128"/>
              </a:defRPr>
            </a:lvl2pPr>
            <a:lvl3pPr marL="1143000" indent="-228600" eaLnBrk="0" hangingPunct="0">
              <a:defRPr sz="2400">
                <a:solidFill>
                  <a:schemeClr val="tx1"/>
                </a:solidFill>
                <a:latin typeface="Trebuchet MS" panose="020B0603020202020204" pitchFamily="34" charset="0"/>
                <a:ea typeface="MS PGothic" panose="020B0600070205080204" pitchFamily="34" charset="-128"/>
              </a:defRPr>
            </a:lvl3pPr>
            <a:lvl4pPr marL="1600200" indent="-228600" eaLnBrk="0" hangingPunct="0">
              <a:defRPr sz="2400">
                <a:solidFill>
                  <a:schemeClr val="tx1"/>
                </a:solidFill>
                <a:latin typeface="Trebuchet MS" panose="020B0603020202020204" pitchFamily="34" charset="0"/>
                <a:ea typeface="MS PGothic" panose="020B0600070205080204" pitchFamily="34" charset="-128"/>
              </a:defRPr>
            </a:lvl4pPr>
            <a:lvl5pPr marL="2057400" indent="-228600" eaLnBrk="0" hangingPunct="0">
              <a:defRPr sz="2400">
                <a:solidFill>
                  <a:schemeClr val="tx1"/>
                </a:solidFill>
                <a:latin typeface="Trebuchet MS" panose="020B0603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9pPr>
          </a:lstStyle>
          <a:p>
            <a:pPr eaLnBrk="1" hangingPunct="1"/>
            <a:r>
              <a:rPr lang="en-US" altLang="en-US" sz="8000">
                <a:solidFill>
                  <a:srgbClr val="C0E474"/>
                </a:solidFill>
                <a:latin typeface="Arial" panose="020B0604020202020204" pitchFamily="34" charset="0"/>
              </a:rPr>
              <a:t>“</a:t>
            </a:r>
            <a:endParaRPr lang="en-US" altLang="da-DK" sz="8000">
              <a:solidFill>
                <a:srgbClr val="C0E474"/>
              </a:solidFill>
              <a:latin typeface="Arial" panose="020B0604020202020204" pitchFamily="34" charset="0"/>
            </a:endParaRPr>
          </a:p>
        </p:txBody>
      </p:sp>
      <p:sp>
        <p:nvSpPr>
          <p:cNvPr id="5" name="TextBox 18">
            <a:extLst>
              <a:ext uri="{FF2B5EF4-FFF2-40B4-BE49-F238E27FC236}">
                <a16:creationId xmlns:a16="http://schemas.microsoft.com/office/drawing/2014/main" id="{7A6AB07D-DF53-AB3D-A505-38A297F50897}"/>
              </a:ext>
            </a:extLst>
          </p:cNvPr>
          <p:cNvSpPr txBox="1">
            <a:spLocks noChangeArrowheads="1"/>
          </p:cNvSpPr>
          <p:nvPr/>
        </p:nvSpPr>
        <p:spPr bwMode="auto">
          <a:xfrm>
            <a:off x="8997951" y="2886075"/>
            <a:ext cx="609600" cy="585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rebuchet MS" panose="020B0603020202020204" pitchFamily="34" charset="0"/>
                <a:ea typeface="MS PGothic" panose="020B0600070205080204" pitchFamily="34" charset="-128"/>
              </a:defRPr>
            </a:lvl1pPr>
            <a:lvl2pPr marL="742950" indent="-285750" eaLnBrk="0" hangingPunct="0">
              <a:defRPr sz="2400">
                <a:solidFill>
                  <a:schemeClr val="tx1"/>
                </a:solidFill>
                <a:latin typeface="Trebuchet MS" panose="020B0603020202020204" pitchFamily="34" charset="0"/>
                <a:ea typeface="MS PGothic" panose="020B0600070205080204" pitchFamily="34" charset="-128"/>
              </a:defRPr>
            </a:lvl2pPr>
            <a:lvl3pPr marL="1143000" indent="-228600" eaLnBrk="0" hangingPunct="0">
              <a:defRPr sz="2400">
                <a:solidFill>
                  <a:schemeClr val="tx1"/>
                </a:solidFill>
                <a:latin typeface="Trebuchet MS" panose="020B0603020202020204" pitchFamily="34" charset="0"/>
                <a:ea typeface="MS PGothic" panose="020B0600070205080204" pitchFamily="34" charset="-128"/>
              </a:defRPr>
            </a:lvl3pPr>
            <a:lvl4pPr marL="1600200" indent="-228600" eaLnBrk="0" hangingPunct="0">
              <a:defRPr sz="2400">
                <a:solidFill>
                  <a:schemeClr val="tx1"/>
                </a:solidFill>
                <a:latin typeface="Trebuchet MS" panose="020B0603020202020204" pitchFamily="34" charset="0"/>
                <a:ea typeface="MS PGothic" panose="020B0600070205080204" pitchFamily="34" charset="-128"/>
              </a:defRPr>
            </a:lvl4pPr>
            <a:lvl5pPr marL="2057400" indent="-228600" eaLnBrk="0" hangingPunct="0">
              <a:defRPr sz="2400">
                <a:solidFill>
                  <a:schemeClr val="tx1"/>
                </a:solidFill>
                <a:latin typeface="Trebuchet MS" panose="020B0603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9pPr>
          </a:lstStyle>
          <a:p>
            <a:pPr eaLnBrk="1" hangingPunct="1"/>
            <a:r>
              <a:rPr lang="en-US" altLang="en-US" sz="8000">
                <a:solidFill>
                  <a:srgbClr val="C0E474"/>
                </a:solidFill>
                <a:latin typeface="Arial" panose="020B0604020202020204" pitchFamily="34" charset="0"/>
              </a:rPr>
              <a:t>”</a:t>
            </a:r>
            <a:endParaRPr lang="en-US" altLang="da-DK" sz="8000">
              <a:solidFill>
                <a:srgbClr val="C0E474"/>
              </a:solidFill>
              <a:latin typeface="Arial" panose="020B0604020202020204" pitchFamily="34" charset="0"/>
            </a:endParaRPr>
          </a:p>
        </p:txBody>
      </p:sp>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812798" y="4527448"/>
            <a:ext cx="8463620"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6" name="Date Placeholder 3">
            <a:extLst>
              <a:ext uri="{FF2B5EF4-FFF2-40B4-BE49-F238E27FC236}">
                <a16:creationId xmlns:a16="http://schemas.microsoft.com/office/drawing/2014/main" id="{8E6F0EA7-1665-CC31-0E80-087FBE73506B}"/>
              </a:ext>
            </a:extLst>
          </p:cNvPr>
          <p:cNvSpPr>
            <a:spLocks noGrp="1"/>
          </p:cNvSpPr>
          <p:nvPr>
            <p:ph type="dt" sz="half" idx="14"/>
          </p:nvPr>
        </p:nvSpPr>
        <p:spPr/>
        <p:txBody>
          <a:bodyPr/>
          <a:lstStyle>
            <a:lvl1pPr>
              <a:defRPr/>
            </a:lvl1pPr>
          </a:lstStyle>
          <a:p>
            <a:fld id="{BC1760F6-57C2-43F3-A040-FA0CC05BA163}" type="datetimeFigureOut">
              <a:rPr lang="en-US" altLang="da-DK"/>
              <a:pPr/>
              <a:t>5/27/2026</a:t>
            </a:fld>
            <a:endParaRPr lang="en-US" altLang="da-DK"/>
          </a:p>
        </p:txBody>
      </p:sp>
      <p:sp>
        <p:nvSpPr>
          <p:cNvPr id="7" name="Footer Placeholder 4">
            <a:extLst>
              <a:ext uri="{FF2B5EF4-FFF2-40B4-BE49-F238E27FC236}">
                <a16:creationId xmlns:a16="http://schemas.microsoft.com/office/drawing/2014/main" id="{F638307A-E854-C046-BEA0-32EE5A8D0FE6}"/>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CFFEB179-E06C-B2CF-B766-6C2C7DB9C080}"/>
              </a:ext>
            </a:extLst>
          </p:cNvPr>
          <p:cNvSpPr>
            <a:spLocks noGrp="1"/>
          </p:cNvSpPr>
          <p:nvPr>
            <p:ph type="sldNum" sz="quarter" idx="16"/>
          </p:nvPr>
        </p:nvSpPr>
        <p:spPr/>
        <p:txBody>
          <a:bodyPr/>
          <a:lstStyle>
            <a:lvl1pPr>
              <a:defRPr/>
            </a:lvl1pPr>
          </a:lstStyle>
          <a:p>
            <a:fld id="{407DA16C-A8A0-4653-8388-C54EABEF9067}" type="slidenum">
              <a:rPr lang="en-US" altLang="da-DK"/>
              <a:pPr/>
              <a:t>‹#›</a:t>
            </a:fld>
            <a:endParaRPr lang="en-US" altLang="da-DK"/>
          </a:p>
        </p:txBody>
      </p:sp>
    </p:spTree>
    <p:extLst>
      <p:ext uri="{BB962C8B-B14F-4D97-AF65-F5344CB8AC3E}">
        <p14:creationId xmlns:p14="http://schemas.microsoft.com/office/powerpoint/2010/main" val="8668873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131" y="609600"/>
            <a:ext cx="8455287"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812798" y="4527448"/>
            <a:ext cx="8463620"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5592640-031D-3785-4BC5-87A10317BF78}"/>
              </a:ext>
            </a:extLst>
          </p:cNvPr>
          <p:cNvSpPr>
            <a:spLocks noGrp="1"/>
          </p:cNvSpPr>
          <p:nvPr>
            <p:ph type="dt" sz="half" idx="14"/>
          </p:nvPr>
        </p:nvSpPr>
        <p:spPr/>
        <p:txBody>
          <a:bodyPr/>
          <a:lstStyle>
            <a:lvl1pPr>
              <a:defRPr/>
            </a:lvl1pPr>
          </a:lstStyle>
          <a:p>
            <a:fld id="{EDBC32A2-33DA-4ED3-9A8C-0CAE96530EDF}" type="datetimeFigureOut">
              <a:rPr lang="en-US" altLang="da-DK"/>
              <a:pPr/>
              <a:t>5/27/2026</a:t>
            </a:fld>
            <a:endParaRPr lang="en-US" altLang="da-DK"/>
          </a:p>
        </p:txBody>
      </p:sp>
      <p:sp>
        <p:nvSpPr>
          <p:cNvPr id="5" name="Footer Placeholder 4">
            <a:extLst>
              <a:ext uri="{FF2B5EF4-FFF2-40B4-BE49-F238E27FC236}">
                <a16:creationId xmlns:a16="http://schemas.microsoft.com/office/drawing/2014/main" id="{6B9F37D8-F023-633C-A076-0A36960B2AD4}"/>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809D388-CD8A-CA28-9D17-5925E74A55E2}"/>
              </a:ext>
            </a:extLst>
          </p:cNvPr>
          <p:cNvSpPr>
            <a:spLocks noGrp="1"/>
          </p:cNvSpPr>
          <p:nvPr>
            <p:ph type="sldNum" sz="quarter" idx="16"/>
          </p:nvPr>
        </p:nvSpPr>
        <p:spPr/>
        <p:txBody>
          <a:bodyPr/>
          <a:lstStyle>
            <a:lvl1pPr>
              <a:defRPr/>
            </a:lvl1pPr>
          </a:lstStyle>
          <a:p>
            <a:fld id="{C9AD6A74-3B9D-43DF-8D8D-3B0B6994147D}" type="slidenum">
              <a:rPr lang="en-US" altLang="da-DK"/>
              <a:pPr/>
              <a:t>‹#›</a:t>
            </a:fld>
            <a:endParaRPr lang="en-US" altLang="da-DK"/>
          </a:p>
        </p:txBody>
      </p:sp>
    </p:spTree>
    <p:extLst>
      <p:ext uri="{BB962C8B-B14F-4D97-AF65-F5344CB8AC3E}">
        <p14:creationId xmlns:p14="http://schemas.microsoft.com/office/powerpoint/2010/main" val="3141380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00A6F34-096C-FCA2-B2B5-4B241A702885}"/>
              </a:ext>
            </a:extLst>
          </p:cNvPr>
          <p:cNvSpPr>
            <a:spLocks noGrp="1"/>
          </p:cNvSpPr>
          <p:nvPr>
            <p:ph type="dt" sz="half" idx="10"/>
          </p:nvPr>
        </p:nvSpPr>
        <p:spPr/>
        <p:txBody>
          <a:bodyPr/>
          <a:lstStyle>
            <a:lvl1pPr>
              <a:defRPr/>
            </a:lvl1pPr>
          </a:lstStyle>
          <a:p>
            <a:fld id="{AE038E3D-C4E3-42DB-B629-1740A9EEDE9F}" type="datetimeFigureOut">
              <a:rPr lang="en-US" altLang="da-DK"/>
              <a:pPr/>
              <a:t>5/27/2026</a:t>
            </a:fld>
            <a:endParaRPr lang="en-US" altLang="da-DK"/>
          </a:p>
        </p:txBody>
      </p:sp>
      <p:sp>
        <p:nvSpPr>
          <p:cNvPr id="5" name="Footer Placeholder 4">
            <a:extLst>
              <a:ext uri="{FF2B5EF4-FFF2-40B4-BE49-F238E27FC236}">
                <a16:creationId xmlns:a16="http://schemas.microsoft.com/office/drawing/2014/main" id="{02C2871C-CE52-FB1C-68EF-882AEED75F1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DF4EA40-AC66-051F-31C4-484E1F6D1F6E}"/>
              </a:ext>
            </a:extLst>
          </p:cNvPr>
          <p:cNvSpPr>
            <a:spLocks noGrp="1"/>
          </p:cNvSpPr>
          <p:nvPr>
            <p:ph type="sldNum" sz="quarter" idx="12"/>
          </p:nvPr>
        </p:nvSpPr>
        <p:spPr/>
        <p:txBody>
          <a:bodyPr/>
          <a:lstStyle>
            <a:lvl1pPr>
              <a:defRPr/>
            </a:lvl1pPr>
          </a:lstStyle>
          <a:p>
            <a:fld id="{04894191-2EAD-48C8-839D-564D65D9777F}" type="slidenum">
              <a:rPr lang="en-US" altLang="da-DK"/>
              <a:pPr/>
              <a:t>‹#›</a:t>
            </a:fld>
            <a:endParaRPr lang="en-US" altLang="da-DK"/>
          </a:p>
        </p:txBody>
      </p:sp>
    </p:spTree>
    <p:extLst>
      <p:ext uri="{BB962C8B-B14F-4D97-AF65-F5344CB8AC3E}">
        <p14:creationId xmlns:p14="http://schemas.microsoft.com/office/powerpoint/2010/main" val="37219924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9749" y="609601"/>
            <a:ext cx="130508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799" y="609601"/>
            <a:ext cx="6926701" cy="525145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2F0CC8A-588F-85AD-1D4E-CF385240633F}"/>
              </a:ext>
            </a:extLst>
          </p:cNvPr>
          <p:cNvSpPr>
            <a:spLocks noGrp="1"/>
          </p:cNvSpPr>
          <p:nvPr>
            <p:ph type="dt" sz="half" idx="10"/>
          </p:nvPr>
        </p:nvSpPr>
        <p:spPr/>
        <p:txBody>
          <a:bodyPr/>
          <a:lstStyle>
            <a:lvl1pPr>
              <a:defRPr/>
            </a:lvl1pPr>
          </a:lstStyle>
          <a:p>
            <a:fld id="{F5F7A2FA-A675-4007-9F2B-63C8D2B8ECAD}" type="datetimeFigureOut">
              <a:rPr lang="en-US" altLang="da-DK"/>
              <a:pPr/>
              <a:t>5/27/2026</a:t>
            </a:fld>
            <a:endParaRPr lang="en-US" altLang="da-DK"/>
          </a:p>
        </p:txBody>
      </p:sp>
      <p:sp>
        <p:nvSpPr>
          <p:cNvPr id="5" name="Footer Placeholder 4">
            <a:extLst>
              <a:ext uri="{FF2B5EF4-FFF2-40B4-BE49-F238E27FC236}">
                <a16:creationId xmlns:a16="http://schemas.microsoft.com/office/drawing/2014/main" id="{B3B121E9-3A16-1A7E-399B-D71EC65D594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084B7FD-BDB7-B46D-BDA9-C52746CC46FB}"/>
              </a:ext>
            </a:extLst>
          </p:cNvPr>
          <p:cNvSpPr>
            <a:spLocks noGrp="1"/>
          </p:cNvSpPr>
          <p:nvPr>
            <p:ph type="sldNum" sz="quarter" idx="12"/>
          </p:nvPr>
        </p:nvSpPr>
        <p:spPr/>
        <p:txBody>
          <a:bodyPr/>
          <a:lstStyle>
            <a:lvl1pPr>
              <a:defRPr/>
            </a:lvl1pPr>
          </a:lstStyle>
          <a:p>
            <a:fld id="{F7A3FEFB-52ED-491B-8D71-F73A456E5813}" type="slidenum">
              <a:rPr lang="en-US" altLang="da-DK"/>
              <a:pPr/>
              <a:t>‹#›</a:t>
            </a:fld>
            <a:endParaRPr lang="en-US" altLang="da-DK"/>
          </a:p>
        </p:txBody>
      </p:sp>
    </p:spTree>
    <p:extLst>
      <p:ext uri="{BB962C8B-B14F-4D97-AF65-F5344CB8AC3E}">
        <p14:creationId xmlns:p14="http://schemas.microsoft.com/office/powerpoint/2010/main" val="1739729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6" r:id="rId10"/>
    <p:sldLayoutId id="2147483661" r:id="rId11"/>
    <p:sldLayoutId id="2147483666" r:id="rId12"/>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D5BAAFF2-8634-C1D3-7965-04DACF7FC21C}"/>
              </a:ext>
            </a:extLst>
          </p:cNvPr>
          <p:cNvGrpSpPr>
            <a:grpSpLocks/>
          </p:cNvGrpSpPr>
          <p:nvPr/>
        </p:nvGrpSpPr>
        <p:grpSpPr bwMode="auto">
          <a:xfrm>
            <a:off x="-10583" y="-7938"/>
            <a:ext cx="12225868" cy="6873876"/>
            <a:chOff x="-8467" y="-8468"/>
            <a:chExt cx="9169805" cy="6874935"/>
          </a:xfrm>
        </p:grpSpPr>
        <p:sp>
          <p:nvSpPr>
            <p:cNvPr id="7" name="Freeform 6">
              <a:extLst>
                <a:ext uri="{FF2B5EF4-FFF2-40B4-BE49-F238E27FC236}">
                  <a16:creationId xmlns:a16="http://schemas.microsoft.com/office/drawing/2014/main" id="{9A23EE93-672E-2513-D9C0-D0A2117A6E68}"/>
                </a:ext>
              </a:extLst>
            </p:cNvPr>
            <p:cNvSpPr/>
            <p:nvPr/>
          </p:nvSpPr>
          <p:spPr>
            <a:xfrm>
              <a:off x="-8467" y="4013290"/>
              <a:ext cx="457221" cy="285317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440D688F-8DCF-F8DF-C50B-AA1D39DD3273}"/>
                </a:ext>
              </a:extLst>
            </p:cNvPr>
            <p:cNvCxnSpPr/>
            <p:nvPr/>
          </p:nvCxnSpPr>
          <p:spPr>
            <a:xfrm flipV="1">
              <a:off x="5130497" y="4175239"/>
              <a:ext cx="4022902" cy="2683288"/>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E703E50-CEE9-92C0-7D72-10328A5395C9}"/>
                </a:ext>
              </a:extLst>
            </p:cNvPr>
            <p:cNvCxnSpPr/>
            <p:nvPr/>
          </p:nvCxnSpPr>
          <p:spPr>
            <a:xfrm>
              <a:off x="7041932" y="-529"/>
              <a:ext cx="1219254" cy="6859057"/>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0E5EE032-4FD7-51A1-EBBC-C8262A0CEF74}"/>
                </a:ext>
              </a:extLst>
            </p:cNvPr>
            <p:cNvSpPr/>
            <p:nvPr/>
          </p:nvSpPr>
          <p:spPr>
            <a:xfrm>
              <a:off x="6891113" y="-529"/>
              <a:ext cx="2270225" cy="686699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089E185F-41CA-16F3-041D-C6B7E8504848}"/>
                </a:ext>
              </a:extLst>
            </p:cNvPr>
            <p:cNvSpPr/>
            <p:nvPr/>
          </p:nvSpPr>
          <p:spPr>
            <a:xfrm>
              <a:off x="7205452" y="-8468"/>
              <a:ext cx="1947948" cy="6866996"/>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96B2B020-E94C-E2C9-2E7B-CCE26ABFA62D}"/>
                </a:ext>
              </a:extLst>
            </p:cNvPr>
            <p:cNvSpPr/>
            <p:nvPr/>
          </p:nvSpPr>
          <p:spPr>
            <a:xfrm>
              <a:off x="6638689" y="3919613"/>
              <a:ext cx="2513124" cy="2938915"/>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8472F09D-F60E-2530-EE52-31F6FD4B830F}"/>
                </a:ext>
              </a:extLst>
            </p:cNvPr>
            <p:cNvSpPr/>
            <p:nvPr/>
          </p:nvSpPr>
          <p:spPr>
            <a:xfrm>
              <a:off x="7010180" y="-8468"/>
              <a:ext cx="2143219" cy="6866996"/>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47395B3E-892D-E446-D500-41A0D377B0FF}"/>
                </a:ext>
              </a:extLst>
            </p:cNvPr>
            <p:cNvSpPr/>
            <p:nvPr/>
          </p:nvSpPr>
          <p:spPr>
            <a:xfrm>
              <a:off x="8296112" y="-8468"/>
              <a:ext cx="857288" cy="6866996"/>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8E1D6836-9B6D-4D44-1EA0-FAA64C6668CC}"/>
                </a:ext>
              </a:extLst>
            </p:cNvPr>
            <p:cNvSpPr/>
            <p:nvPr/>
          </p:nvSpPr>
          <p:spPr>
            <a:xfrm>
              <a:off x="8077027" y="-8468"/>
              <a:ext cx="1066847" cy="6866996"/>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69F42934-BDA2-9FC6-26EE-5972E28BDA45}"/>
                </a:ext>
              </a:extLst>
            </p:cNvPr>
            <p:cNvSpPr/>
            <p:nvPr/>
          </p:nvSpPr>
          <p:spPr>
            <a:xfrm>
              <a:off x="8059564" y="4894488"/>
              <a:ext cx="1095423" cy="1964040"/>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a:extLst>
              <a:ext uri="{FF2B5EF4-FFF2-40B4-BE49-F238E27FC236}">
                <a16:creationId xmlns:a16="http://schemas.microsoft.com/office/drawing/2014/main" id="{159E703F-FCD0-AF79-ADBC-1D831D469393}"/>
              </a:ext>
            </a:extLst>
          </p:cNvPr>
          <p:cNvSpPr>
            <a:spLocks noGrp="1"/>
          </p:cNvSpPr>
          <p:nvPr>
            <p:ph type="title"/>
          </p:nvPr>
        </p:nvSpPr>
        <p:spPr bwMode="auto">
          <a:xfrm>
            <a:off x="812801" y="609600"/>
            <a:ext cx="8464551" cy="1320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da-DK"/>
              <a:t>Click to edit Master title style</a:t>
            </a:r>
          </a:p>
        </p:txBody>
      </p:sp>
      <p:sp>
        <p:nvSpPr>
          <p:cNvPr id="1028" name="Text Placeholder 2">
            <a:extLst>
              <a:ext uri="{FF2B5EF4-FFF2-40B4-BE49-F238E27FC236}">
                <a16:creationId xmlns:a16="http://schemas.microsoft.com/office/drawing/2014/main" id="{EA74E442-8D8D-7608-4920-BD61FEA42092}"/>
              </a:ext>
            </a:extLst>
          </p:cNvPr>
          <p:cNvSpPr>
            <a:spLocks noGrp="1"/>
          </p:cNvSpPr>
          <p:nvPr>
            <p:ph type="body" idx="1"/>
          </p:nvPr>
        </p:nvSpPr>
        <p:spPr bwMode="auto">
          <a:xfrm>
            <a:off x="812801" y="2160589"/>
            <a:ext cx="8464551" cy="3881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da-DK"/>
              <a:t>Edit Master text styles</a:t>
            </a:r>
          </a:p>
          <a:p>
            <a:pPr lvl="1"/>
            <a:r>
              <a:rPr lang="en-US" altLang="da-DK"/>
              <a:t>Second level</a:t>
            </a:r>
          </a:p>
          <a:p>
            <a:pPr lvl="2"/>
            <a:r>
              <a:rPr lang="en-US" altLang="da-DK"/>
              <a:t>Third level</a:t>
            </a:r>
          </a:p>
          <a:p>
            <a:pPr lvl="3"/>
            <a:r>
              <a:rPr lang="en-US" altLang="da-DK"/>
              <a:t>Fourth level</a:t>
            </a:r>
          </a:p>
          <a:p>
            <a:pPr lvl="4"/>
            <a:r>
              <a:rPr lang="en-US" altLang="da-DK"/>
              <a:t>Fifth level</a:t>
            </a:r>
          </a:p>
        </p:txBody>
      </p:sp>
      <p:sp>
        <p:nvSpPr>
          <p:cNvPr id="4" name="Date Placeholder 3">
            <a:extLst>
              <a:ext uri="{FF2B5EF4-FFF2-40B4-BE49-F238E27FC236}">
                <a16:creationId xmlns:a16="http://schemas.microsoft.com/office/drawing/2014/main" id="{A8D08228-1B29-AFC9-C9EA-25F837884E4C}"/>
              </a:ext>
            </a:extLst>
          </p:cNvPr>
          <p:cNvSpPr>
            <a:spLocks noGrp="1"/>
          </p:cNvSpPr>
          <p:nvPr>
            <p:ph type="dt" sz="half" idx="2"/>
          </p:nvPr>
        </p:nvSpPr>
        <p:spPr>
          <a:xfrm>
            <a:off x="7207251" y="6042026"/>
            <a:ext cx="912283"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chemeClr val="tx2"/>
                </a:solidFill>
              </a:defRPr>
            </a:lvl1pPr>
          </a:lstStyle>
          <a:p>
            <a:fld id="{9284D0D3-4448-477A-B679-8289FEF3FC59}" type="datetimeFigureOut">
              <a:rPr lang="en-US" altLang="da-DK"/>
              <a:pPr/>
              <a:t>5/27/2026</a:t>
            </a:fld>
            <a:endParaRPr lang="en-US" altLang="da-DK"/>
          </a:p>
        </p:txBody>
      </p:sp>
      <p:sp>
        <p:nvSpPr>
          <p:cNvPr id="5" name="Footer Placeholder 4">
            <a:extLst>
              <a:ext uri="{FF2B5EF4-FFF2-40B4-BE49-F238E27FC236}">
                <a16:creationId xmlns:a16="http://schemas.microsoft.com/office/drawing/2014/main" id="{E9140368-098C-861D-0B4B-D3BEBDF9AF0A}"/>
              </a:ext>
            </a:extLst>
          </p:cNvPr>
          <p:cNvSpPr>
            <a:spLocks noGrp="1"/>
          </p:cNvSpPr>
          <p:nvPr>
            <p:ph type="ftr" sz="quarter" idx="3"/>
          </p:nvPr>
        </p:nvSpPr>
        <p:spPr>
          <a:xfrm>
            <a:off x="812800" y="6042026"/>
            <a:ext cx="6163733" cy="365125"/>
          </a:xfrm>
          <a:prstGeom prst="rect">
            <a:avLst/>
          </a:prstGeom>
        </p:spPr>
        <p:txBody>
          <a:bodyPr vert="horz" lIns="91440" tIns="45720" rIns="91440" bIns="45720" rtlCol="0" anchor="ctr"/>
          <a:lstStyle>
            <a:lvl1pPr algn="l" fontAlgn="auto">
              <a:spcBef>
                <a:spcPts val="0"/>
              </a:spcBef>
              <a:spcAft>
                <a:spcPts val="0"/>
              </a:spcAft>
              <a:defRPr sz="1000">
                <a:solidFill>
                  <a:schemeClr val="tx2"/>
                </a:solidFill>
                <a:latin typeface="+mj-lt"/>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E01A15D3-5F5C-26F9-FAB1-BC96E25F6B02}"/>
              </a:ext>
            </a:extLst>
          </p:cNvPr>
          <p:cNvSpPr>
            <a:spLocks noGrp="1"/>
          </p:cNvSpPr>
          <p:nvPr>
            <p:ph type="sldNum" sz="quarter" idx="4"/>
          </p:nvPr>
        </p:nvSpPr>
        <p:spPr>
          <a:xfrm>
            <a:off x="8593667" y="6042026"/>
            <a:ext cx="683684"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chemeClr val="tx2"/>
                </a:solidFill>
              </a:defRPr>
            </a:lvl1pPr>
          </a:lstStyle>
          <a:p>
            <a:fld id="{0E973B8D-C955-4DA9-92F2-13FCAE373A6A}" type="slidenum">
              <a:rPr lang="en-US" altLang="da-DK"/>
              <a:pPr/>
              <a:t>‹#›</a:t>
            </a:fld>
            <a:endParaRPr lang="en-US" altLang="da-DK"/>
          </a:p>
        </p:txBody>
      </p:sp>
    </p:spTree>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78" r:id="rId10"/>
    <p:sldLayoutId id="2147483892" r:id="rId11"/>
    <p:sldLayoutId id="2147483879" r:id="rId12"/>
    <p:sldLayoutId id="2147483893" r:id="rId13"/>
    <p:sldLayoutId id="2147483880" r:id="rId14"/>
    <p:sldLayoutId id="2147483881" r:id="rId15"/>
    <p:sldLayoutId id="2147483882" r:id="rId16"/>
  </p:sldLayoutIdLst>
  <p:txStyles>
    <p:titleStyle>
      <a:lvl1pPr algn="l" defTabSz="457200" rtl="0" eaLnBrk="0" fontAlgn="base" hangingPunct="0">
        <a:spcBef>
          <a:spcPct val="0"/>
        </a:spcBef>
        <a:spcAft>
          <a:spcPct val="0"/>
        </a:spcAft>
        <a:defRPr sz="3600" kern="1200">
          <a:solidFill>
            <a:schemeClr val="accent1"/>
          </a:solidFill>
          <a:latin typeface="+mj-lt"/>
          <a:ea typeface="MS PGothic" panose="020B0600070205080204" pitchFamily="34" charset="-128"/>
          <a:cs typeface="ＭＳ Ｐゴシック" charset="0"/>
        </a:defRPr>
      </a:lvl1pPr>
      <a:lvl2pPr algn="l" defTabSz="457200" rtl="0" eaLnBrk="0" fontAlgn="base" hangingPunct="0">
        <a:spcBef>
          <a:spcPct val="0"/>
        </a:spcBef>
        <a:spcAft>
          <a:spcPct val="0"/>
        </a:spcAft>
        <a:defRPr sz="3600">
          <a:solidFill>
            <a:schemeClr val="accent1"/>
          </a:solidFill>
          <a:latin typeface="Trebuchet MS" charset="0"/>
          <a:ea typeface="MS PGothic" panose="020B0600070205080204" pitchFamily="34" charset="-128"/>
          <a:cs typeface="ＭＳ Ｐゴシック" charset="0"/>
        </a:defRPr>
      </a:lvl2pPr>
      <a:lvl3pPr algn="l" defTabSz="457200" rtl="0" eaLnBrk="0" fontAlgn="base" hangingPunct="0">
        <a:spcBef>
          <a:spcPct val="0"/>
        </a:spcBef>
        <a:spcAft>
          <a:spcPct val="0"/>
        </a:spcAft>
        <a:defRPr sz="3600">
          <a:solidFill>
            <a:schemeClr val="accent1"/>
          </a:solidFill>
          <a:latin typeface="Trebuchet MS" charset="0"/>
          <a:ea typeface="MS PGothic" panose="020B0600070205080204" pitchFamily="34" charset="-128"/>
          <a:cs typeface="ＭＳ Ｐゴシック" charset="0"/>
        </a:defRPr>
      </a:lvl3pPr>
      <a:lvl4pPr algn="l" defTabSz="457200" rtl="0" eaLnBrk="0" fontAlgn="base" hangingPunct="0">
        <a:spcBef>
          <a:spcPct val="0"/>
        </a:spcBef>
        <a:spcAft>
          <a:spcPct val="0"/>
        </a:spcAft>
        <a:defRPr sz="3600">
          <a:solidFill>
            <a:schemeClr val="accent1"/>
          </a:solidFill>
          <a:latin typeface="Trebuchet MS" charset="0"/>
          <a:ea typeface="MS PGothic" panose="020B0600070205080204" pitchFamily="34" charset="-128"/>
          <a:cs typeface="ＭＳ Ｐゴシック" charset="0"/>
        </a:defRPr>
      </a:lvl4pPr>
      <a:lvl5pPr algn="l" defTabSz="457200" rtl="0" eaLnBrk="0" fontAlgn="base" hangingPunct="0">
        <a:spcBef>
          <a:spcPct val="0"/>
        </a:spcBef>
        <a:spcAft>
          <a:spcPct val="0"/>
        </a:spcAft>
        <a:defRPr sz="3600">
          <a:solidFill>
            <a:schemeClr val="accent1"/>
          </a:solidFill>
          <a:latin typeface="Trebuchet MS" charset="0"/>
          <a:ea typeface="MS PGothic" panose="020B0600070205080204" pitchFamily="34" charset="-128"/>
          <a:cs typeface="ＭＳ Ｐゴシック"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0" fontAlgn="base" hangingPunct="0">
        <a:spcBef>
          <a:spcPts val="1000"/>
        </a:spcBef>
        <a:spcAft>
          <a:spcPct val="0"/>
        </a:spcAft>
        <a:buClr>
          <a:schemeClr val="accent1"/>
        </a:buClr>
        <a:buSzPct val="80000"/>
        <a:buFont typeface="Wingdings 3" panose="05040102010807070707" pitchFamily="18" charset="2"/>
        <a:buChar char=""/>
        <a:defRPr kern="1200">
          <a:solidFill>
            <a:srgbClr val="404040"/>
          </a:solidFill>
          <a:latin typeface="+mn-lt"/>
          <a:ea typeface="MS PGothic" panose="020B0600070205080204" pitchFamily="34" charset="-128"/>
          <a:cs typeface="ＭＳ Ｐゴシック" charset="0"/>
        </a:defRPr>
      </a:lvl1pPr>
      <a:lvl2pPr marL="742950" indent="-285750" algn="l" defTabSz="457200" rtl="0" eaLnBrk="0" fontAlgn="base" hangingPunct="0">
        <a:spcBef>
          <a:spcPts val="1000"/>
        </a:spcBef>
        <a:spcAft>
          <a:spcPct val="0"/>
        </a:spcAft>
        <a:buClr>
          <a:schemeClr val="accent1"/>
        </a:buClr>
        <a:buSzPct val="80000"/>
        <a:buFont typeface="Wingdings 3" panose="05040102010807070707" pitchFamily="18" charset="2"/>
        <a:buChar char=""/>
        <a:defRPr sz="1600" kern="1200">
          <a:solidFill>
            <a:srgbClr val="404040"/>
          </a:solidFill>
          <a:latin typeface="+mn-lt"/>
          <a:ea typeface="MS PGothic" panose="020B0600070205080204" pitchFamily="34" charset="-128"/>
          <a:cs typeface="+mn-cs"/>
        </a:defRPr>
      </a:lvl2pPr>
      <a:lvl3pPr marL="1143000" indent="-228600" algn="l" defTabSz="457200" rtl="0" eaLnBrk="0" fontAlgn="base" hangingPunct="0">
        <a:spcBef>
          <a:spcPts val="1000"/>
        </a:spcBef>
        <a:spcAft>
          <a:spcPct val="0"/>
        </a:spcAft>
        <a:buClr>
          <a:schemeClr val="accent1"/>
        </a:buClr>
        <a:buSzPct val="80000"/>
        <a:buFont typeface="Wingdings 3" panose="05040102010807070707" pitchFamily="18" charset="2"/>
        <a:buChar char=""/>
        <a:defRPr sz="1400" kern="1200">
          <a:solidFill>
            <a:srgbClr val="404040"/>
          </a:solidFill>
          <a:latin typeface="+mn-lt"/>
          <a:ea typeface="MS PGothic" panose="020B0600070205080204" pitchFamily="34" charset="-128"/>
          <a:cs typeface="+mn-cs"/>
        </a:defRPr>
      </a:lvl3pPr>
      <a:lvl4pPr marL="1600200" indent="-228600" algn="l" defTabSz="457200" rtl="0" eaLnBrk="0" fontAlgn="base" hangingPunct="0">
        <a:spcBef>
          <a:spcPts val="1000"/>
        </a:spcBef>
        <a:spcAft>
          <a:spcPct val="0"/>
        </a:spcAft>
        <a:buClr>
          <a:schemeClr val="accent1"/>
        </a:buClr>
        <a:buSzPct val="80000"/>
        <a:buFont typeface="Wingdings 3" panose="05040102010807070707" pitchFamily="18" charset="2"/>
        <a:buChar char=""/>
        <a:defRPr sz="1200" kern="1200">
          <a:solidFill>
            <a:srgbClr val="404040"/>
          </a:solidFill>
          <a:latin typeface="+mn-lt"/>
          <a:ea typeface="MS PGothic" panose="020B0600070205080204" pitchFamily="34" charset="-128"/>
          <a:cs typeface="+mn-cs"/>
        </a:defRPr>
      </a:lvl4pPr>
      <a:lvl5pPr marL="2057400" indent="-228600" algn="l" defTabSz="457200" rtl="0" eaLnBrk="0" fontAlgn="base" hangingPunct="0">
        <a:spcBef>
          <a:spcPts val="1000"/>
        </a:spcBef>
        <a:spcAft>
          <a:spcPct val="0"/>
        </a:spcAft>
        <a:buClr>
          <a:schemeClr val="accent1"/>
        </a:buClr>
        <a:buSzPct val="80000"/>
        <a:buFont typeface="Wingdings 3" panose="05040102010807070707" pitchFamily="18" charset="2"/>
        <a:buChar char=""/>
        <a:defRPr sz="1200" kern="1200">
          <a:solidFill>
            <a:srgbClr val="404040"/>
          </a:solidFill>
          <a:latin typeface="+mn-lt"/>
          <a:ea typeface="MS PGothic" panose="020B0600070205080204" pitchFamily="34" charset="-128"/>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800100" y="674557"/>
            <a:ext cx="10922000" cy="5967543"/>
          </a:xfrm>
        </p:spPr>
        <p:txBody>
          <a:bodyPr/>
          <a:lstStyle/>
          <a:p>
            <a:pPr algn="ctr"/>
            <a:br>
              <a:rPr lang="en-US" sz="3600" dirty="0">
                <a:latin typeface="Times New Roman"/>
                <a:ea typeface="+mj-lt"/>
                <a:cs typeface="+mj-lt"/>
              </a:rPr>
            </a:br>
            <a:br>
              <a:rPr lang="en-US" sz="3600" dirty="0">
                <a:latin typeface="Times New Roman"/>
                <a:ea typeface="+mj-lt"/>
                <a:cs typeface="+mj-lt"/>
              </a:rPr>
            </a:br>
            <a:br>
              <a:rPr lang="en-US" sz="3600" dirty="0">
                <a:latin typeface="Times New Roman"/>
                <a:ea typeface="+mj-lt"/>
                <a:cs typeface="+mj-lt"/>
              </a:rPr>
            </a:br>
            <a:br>
              <a:rPr lang="en-US" sz="3600" dirty="0">
                <a:latin typeface="Times New Roman"/>
                <a:ea typeface="+mj-lt"/>
                <a:cs typeface="+mj-lt"/>
              </a:rPr>
            </a:br>
            <a:r>
              <a:rPr lang="en-US" sz="4400" dirty="0">
                <a:latin typeface="Times New Roman"/>
                <a:ea typeface="+mj-lt"/>
                <a:cs typeface="+mj-lt"/>
              </a:rPr>
              <a:t>Seminar Class</a:t>
            </a:r>
            <a:br>
              <a:rPr lang="en-US" sz="4400" dirty="0">
                <a:latin typeface="Times New Roman"/>
                <a:ea typeface="+mj-lt"/>
                <a:cs typeface="+mj-lt"/>
              </a:rPr>
            </a:br>
            <a:r>
              <a:rPr lang="en-US" sz="4400" dirty="0">
                <a:latin typeface="Times New Roman"/>
                <a:ea typeface="+mj-lt"/>
                <a:cs typeface="+mj-lt"/>
              </a:rPr>
              <a:t>on</a:t>
            </a:r>
            <a:br>
              <a:rPr lang="en-US" sz="4400" dirty="0">
                <a:latin typeface="Times New Roman"/>
                <a:ea typeface="+mj-lt"/>
                <a:cs typeface="+mj-lt"/>
              </a:rPr>
            </a:br>
            <a:r>
              <a:rPr lang="en-US" sz="4400" dirty="0">
                <a:solidFill>
                  <a:srgbClr val="00B050"/>
                </a:solidFill>
                <a:latin typeface="Times New Roman"/>
                <a:ea typeface="+mj-lt"/>
                <a:cs typeface="+mj-lt"/>
              </a:rPr>
              <a:t>Fundamentals of Research Paper Writing: An Introduction to Essential Skills and Techniques</a:t>
            </a:r>
            <a:br>
              <a:rPr lang="en-US" sz="3200" b="0" dirty="0">
                <a:latin typeface="Times New Roman"/>
                <a:ea typeface="+mj-lt"/>
                <a:cs typeface="+mj-lt"/>
              </a:rPr>
            </a:br>
            <a:br>
              <a:rPr lang="en-US" sz="3600" b="0" dirty="0">
                <a:latin typeface="Times New Roman"/>
                <a:ea typeface="+mj-lt"/>
                <a:cs typeface="+mj-lt"/>
              </a:rPr>
            </a:br>
            <a:br>
              <a:rPr lang="en-US" sz="2800" b="0" dirty="0">
                <a:latin typeface="Times New Roman"/>
                <a:ea typeface="+mj-lt"/>
                <a:cs typeface="+mj-lt"/>
              </a:rPr>
            </a:br>
            <a:r>
              <a:rPr lang="en-US" sz="3200" dirty="0">
                <a:latin typeface="Times New Roman"/>
                <a:ea typeface="+mj-lt"/>
                <a:cs typeface="+mj-lt"/>
              </a:rPr>
              <a:t>Prof. Jib Lal Sapkota PhD </a:t>
            </a:r>
            <a:br>
              <a:rPr lang="en-US" sz="3200" dirty="0">
                <a:latin typeface="Times New Roman"/>
                <a:ea typeface="+mj-lt"/>
                <a:cs typeface="+mj-lt"/>
              </a:rPr>
            </a:br>
            <a:r>
              <a:rPr lang="en-US" sz="3200" dirty="0">
                <a:latin typeface="Times New Roman"/>
                <a:ea typeface="+mj-lt"/>
                <a:cs typeface="+mj-lt"/>
              </a:rPr>
              <a:t>Central Department of English, </a:t>
            </a:r>
            <a:br>
              <a:rPr lang="en-US" sz="3200" dirty="0">
                <a:latin typeface="Times New Roman"/>
                <a:ea typeface="+mj-lt"/>
                <a:cs typeface="+mj-lt"/>
              </a:rPr>
            </a:br>
            <a:r>
              <a:rPr lang="en-US" sz="3200" dirty="0">
                <a:latin typeface="Times New Roman"/>
                <a:ea typeface="+mj-lt"/>
                <a:cs typeface="+mj-lt"/>
              </a:rPr>
              <a:t>Tribhuvan University,  Kirtipur</a:t>
            </a:r>
            <a:br>
              <a:rPr lang="en-US" sz="3200" dirty="0">
                <a:latin typeface="Times New Roman"/>
                <a:ea typeface="+mj-lt"/>
                <a:cs typeface="+mj-lt"/>
              </a:rPr>
            </a:br>
            <a:br>
              <a:rPr lang="en-US" sz="3200" dirty="0">
                <a:latin typeface="Times New Roman"/>
                <a:ea typeface="+mj-lt"/>
                <a:cs typeface="+mj-lt"/>
              </a:rPr>
            </a:br>
            <a:br>
              <a:rPr lang="en-US" sz="1800" dirty="0">
                <a:latin typeface="Times New Roman"/>
                <a:cs typeface="Times New Roman"/>
              </a:rPr>
            </a:br>
            <a:br>
              <a:rPr lang="en-US" sz="2400" b="0" dirty="0">
                <a:latin typeface="Times New Roman"/>
                <a:ea typeface="+mj-lt"/>
                <a:cs typeface="+mj-lt"/>
              </a:rPr>
            </a:br>
            <a:br>
              <a:rPr lang="en-US" sz="2400" b="0" dirty="0">
                <a:latin typeface="Times New Roman"/>
                <a:ea typeface="+mj-lt"/>
                <a:cs typeface="+mj-lt"/>
              </a:rPr>
            </a:br>
            <a:br>
              <a:rPr lang="en-US" sz="2400" b="0" dirty="0">
                <a:latin typeface="Times New Roman"/>
                <a:ea typeface="+mj-lt"/>
                <a:cs typeface="+mj-lt"/>
              </a:rPr>
            </a:br>
            <a:br>
              <a:rPr lang="en-US" sz="1800" b="0" dirty="0">
                <a:latin typeface="Times New Roman"/>
                <a:ea typeface="+mj-lt"/>
                <a:cs typeface="+mj-lt"/>
              </a:rPr>
            </a:br>
            <a:br>
              <a:rPr lang="en-US" sz="3200" b="0" dirty="0">
                <a:latin typeface="Times New Roman"/>
                <a:ea typeface="+mj-lt"/>
                <a:cs typeface="+mj-lt"/>
              </a:rPr>
            </a:br>
            <a:endParaRPr lang="en-US" sz="3200" b="0" dirty="0">
              <a:latin typeface="Times New Roman"/>
              <a:cs typeface="Times New Roman"/>
            </a:endParaRP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FB4B5-C08E-900D-450D-1F9DF0D01154}"/>
              </a:ext>
            </a:extLst>
          </p:cNvPr>
          <p:cNvSpPr>
            <a:spLocks noGrp="1"/>
          </p:cNvSpPr>
          <p:nvPr>
            <p:ph type="title"/>
          </p:nvPr>
        </p:nvSpPr>
        <p:spPr>
          <a:xfrm>
            <a:off x="1158864" y="102022"/>
            <a:ext cx="9779183" cy="1067212"/>
          </a:xfrm>
        </p:spPr>
        <p:txBody>
          <a:bodyPr/>
          <a:lstStyle/>
          <a:p>
            <a:pPr algn="ctr"/>
            <a:r>
              <a:rPr lang="en-US" dirty="0">
                <a:solidFill>
                  <a:srgbClr val="00B050"/>
                </a:solidFill>
              </a:rPr>
              <a:t>Before You Start Writing</a:t>
            </a:r>
          </a:p>
        </p:txBody>
      </p:sp>
      <p:sp>
        <p:nvSpPr>
          <p:cNvPr id="3" name="Content Placeholder 2">
            <a:extLst>
              <a:ext uri="{FF2B5EF4-FFF2-40B4-BE49-F238E27FC236}">
                <a16:creationId xmlns:a16="http://schemas.microsoft.com/office/drawing/2014/main" id="{459DD2D5-0D04-10C5-0126-4E0C42A94341}"/>
              </a:ext>
            </a:extLst>
          </p:cNvPr>
          <p:cNvSpPr>
            <a:spLocks noGrp="1"/>
          </p:cNvSpPr>
          <p:nvPr>
            <p:ph idx="1"/>
          </p:nvPr>
        </p:nvSpPr>
        <p:spPr>
          <a:xfrm>
            <a:off x="419725" y="1394084"/>
            <a:ext cx="11167672" cy="5216577"/>
          </a:xfrm>
        </p:spPr>
        <p:txBody>
          <a:bodyPr/>
          <a:lstStyle/>
          <a:p>
            <a:pPr marL="457200" indent="-457200">
              <a:buFont typeface="Wingdings" panose="05000000000000000000" pitchFamily="2" charset="2"/>
              <a:buChar char="v"/>
            </a:pPr>
            <a:r>
              <a:rPr lang="en-US" sz="3600" b="1" dirty="0">
                <a:solidFill>
                  <a:srgbClr val="002060"/>
                </a:solidFill>
              </a:rPr>
              <a:t>Reading is a Reaping Process</a:t>
            </a:r>
          </a:p>
          <a:p>
            <a:pPr marL="457200" indent="-457200">
              <a:buFont typeface="Wingdings" panose="05000000000000000000" pitchFamily="2" charset="2"/>
              <a:buChar char="v"/>
            </a:pPr>
            <a:r>
              <a:rPr lang="en-US" sz="3200" b="1" dirty="0">
                <a:solidFill>
                  <a:srgbClr val="C00000"/>
                </a:solidFill>
              </a:rPr>
              <a:t>R= Read the texts in the context, explore the message of the text</a:t>
            </a:r>
          </a:p>
          <a:p>
            <a:pPr marL="457200" indent="-457200">
              <a:buFont typeface="Wingdings" panose="05000000000000000000" pitchFamily="2" charset="2"/>
              <a:buChar char="v"/>
            </a:pPr>
            <a:r>
              <a:rPr lang="en-US" sz="3200" b="1" dirty="0">
                <a:solidFill>
                  <a:srgbClr val="C00000"/>
                </a:solidFill>
              </a:rPr>
              <a:t>E= Encode in your own words</a:t>
            </a:r>
          </a:p>
          <a:p>
            <a:pPr marL="457200" indent="-457200">
              <a:buFont typeface="Wingdings" panose="05000000000000000000" pitchFamily="2" charset="2"/>
              <a:buChar char="v"/>
            </a:pPr>
            <a:r>
              <a:rPr lang="en-US" sz="3200" b="1" dirty="0">
                <a:solidFill>
                  <a:srgbClr val="C00000"/>
                </a:solidFill>
              </a:rPr>
              <a:t>A= </a:t>
            </a:r>
            <a:r>
              <a:rPr lang="en-US" sz="3200" b="1" dirty="0" err="1">
                <a:solidFill>
                  <a:srgbClr val="C00000"/>
                </a:solidFill>
              </a:rPr>
              <a:t>Analyse</a:t>
            </a:r>
            <a:r>
              <a:rPr lang="en-US" sz="3200" b="1" dirty="0">
                <a:solidFill>
                  <a:srgbClr val="C00000"/>
                </a:solidFill>
              </a:rPr>
              <a:t> with  SAFEER</a:t>
            </a:r>
          </a:p>
          <a:p>
            <a:pPr marL="457200" indent="-457200">
              <a:buFont typeface="Wingdings" panose="05000000000000000000" pitchFamily="2" charset="2"/>
              <a:buChar char="v"/>
            </a:pPr>
            <a:r>
              <a:rPr lang="en-US" sz="3200" b="1" dirty="0">
                <a:solidFill>
                  <a:srgbClr val="C00000"/>
                </a:solidFill>
              </a:rPr>
              <a:t>P= Pondering-Associate your reading with your internal and external worlds </a:t>
            </a:r>
            <a:r>
              <a:rPr lang="en-US" sz="3200" b="1" dirty="0">
                <a:solidFill>
                  <a:srgbClr val="00B050"/>
                </a:solidFill>
              </a:rPr>
              <a:t>(Knowledge of words and knowledge of the world)</a:t>
            </a:r>
          </a:p>
        </p:txBody>
      </p:sp>
    </p:spTree>
    <p:extLst>
      <p:ext uri="{BB962C8B-B14F-4D97-AF65-F5344CB8AC3E}">
        <p14:creationId xmlns:p14="http://schemas.microsoft.com/office/powerpoint/2010/main" val="1304019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28395-9833-5152-D6AF-ABC28CC8A485}"/>
              </a:ext>
            </a:extLst>
          </p:cNvPr>
          <p:cNvSpPr>
            <a:spLocks noGrp="1"/>
          </p:cNvSpPr>
          <p:nvPr>
            <p:ph type="title"/>
          </p:nvPr>
        </p:nvSpPr>
        <p:spPr>
          <a:xfrm>
            <a:off x="1158864" y="102022"/>
            <a:ext cx="9779183" cy="1232104"/>
          </a:xfrm>
        </p:spPr>
        <p:txBody>
          <a:bodyPr/>
          <a:lstStyle/>
          <a:p>
            <a:pPr algn="ctr"/>
            <a:r>
              <a:rPr lang="en-US" dirty="0">
                <a:solidFill>
                  <a:srgbClr val="00B050"/>
                </a:solidFill>
              </a:rPr>
              <a:t>Scientific Writing</a:t>
            </a:r>
          </a:p>
        </p:txBody>
      </p:sp>
      <p:sp>
        <p:nvSpPr>
          <p:cNvPr id="3" name="Content Placeholder 2">
            <a:extLst>
              <a:ext uri="{FF2B5EF4-FFF2-40B4-BE49-F238E27FC236}">
                <a16:creationId xmlns:a16="http://schemas.microsoft.com/office/drawing/2014/main" id="{6D65149B-5EF8-C96C-0FBB-AE52A5A79AA3}"/>
              </a:ext>
            </a:extLst>
          </p:cNvPr>
          <p:cNvSpPr>
            <a:spLocks noGrp="1"/>
          </p:cNvSpPr>
          <p:nvPr>
            <p:ph idx="1"/>
          </p:nvPr>
        </p:nvSpPr>
        <p:spPr>
          <a:xfrm>
            <a:off x="314792" y="1484027"/>
            <a:ext cx="10822899" cy="5156616"/>
          </a:xfrm>
        </p:spPr>
        <p:txBody>
          <a:bodyPr/>
          <a:lstStyle/>
          <a:p>
            <a:pPr marL="457200" indent="-457200">
              <a:buFont typeface="Wingdings" panose="05000000000000000000" pitchFamily="2" charset="2"/>
              <a:buChar char="v"/>
            </a:pPr>
            <a:r>
              <a:rPr lang="en-US" sz="3200" b="1" dirty="0"/>
              <a:t>Scientific Writing in an </a:t>
            </a:r>
            <a:r>
              <a:rPr lang="en-US" sz="3200" b="1" dirty="0">
                <a:solidFill>
                  <a:srgbClr val="C00000"/>
                </a:solidFill>
              </a:rPr>
              <a:t>impersonal and dispassionate tone</a:t>
            </a:r>
            <a:r>
              <a:rPr lang="en-US" sz="3200" b="1" dirty="0"/>
              <a:t>, targeted for a </a:t>
            </a:r>
            <a:r>
              <a:rPr lang="en-US" sz="3200" b="1" dirty="0">
                <a:solidFill>
                  <a:srgbClr val="7030A0"/>
                </a:solidFill>
              </a:rPr>
              <a:t>critical  and informed audience</a:t>
            </a:r>
            <a:r>
              <a:rPr lang="en-US" sz="3200" b="1" dirty="0"/>
              <a:t>, based on </a:t>
            </a:r>
            <a:r>
              <a:rPr lang="en-US" sz="3200" b="1" dirty="0">
                <a:solidFill>
                  <a:srgbClr val="002060"/>
                </a:solidFill>
              </a:rPr>
              <a:t>closely investigated knowledge</a:t>
            </a:r>
            <a:r>
              <a:rPr lang="en-US" sz="3200" b="1" dirty="0"/>
              <a:t>, and </a:t>
            </a:r>
            <a:r>
              <a:rPr lang="en-US" sz="3200" b="1" dirty="0">
                <a:solidFill>
                  <a:srgbClr val="0070C0"/>
                </a:solidFill>
              </a:rPr>
              <a:t>intended to reinforce or challenge concepts or argument</a:t>
            </a:r>
          </a:p>
          <a:p>
            <a:pPr marL="457200" indent="-457200">
              <a:buFont typeface="Wingdings" panose="05000000000000000000" pitchFamily="2" charset="2"/>
              <a:buChar char="v"/>
            </a:pPr>
            <a:r>
              <a:rPr lang="en-US" sz="3200" b="1" dirty="0"/>
              <a:t>Any writing to fulfill a requirement of a college or university</a:t>
            </a:r>
          </a:p>
          <a:p>
            <a:pPr marL="457200" indent="-457200">
              <a:buFont typeface="Wingdings" panose="05000000000000000000" pitchFamily="2" charset="2"/>
              <a:buChar char="v"/>
            </a:pPr>
            <a:r>
              <a:rPr lang="en-US" sz="3200" b="1" dirty="0"/>
              <a:t>Whatness ?+ </a:t>
            </a:r>
            <a:r>
              <a:rPr lang="en-US" sz="3200" b="1" dirty="0" err="1"/>
              <a:t>Whyness</a:t>
            </a:r>
            <a:r>
              <a:rPr lang="en-US" sz="3200" b="1" dirty="0"/>
              <a:t>? +</a:t>
            </a:r>
            <a:r>
              <a:rPr lang="en-US" sz="3200" b="1" dirty="0" err="1"/>
              <a:t>Howness</a:t>
            </a:r>
            <a:r>
              <a:rPr lang="en-US" sz="3200" b="1" dirty="0"/>
              <a:t> ? + Objective Reflection</a:t>
            </a:r>
          </a:p>
          <a:p>
            <a:pPr marL="457200" indent="-457200">
              <a:buFont typeface="Wingdings" panose="05000000000000000000" pitchFamily="2" charset="2"/>
              <a:buChar char="v"/>
            </a:pPr>
            <a:r>
              <a:rPr lang="en-US" sz="3200" b="1" dirty="0"/>
              <a:t>Claim + evidences + theoretical insights +  reflection</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4215686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6DBBD-B9F1-08E0-5B71-1A2F88AF893C}"/>
              </a:ext>
            </a:extLst>
          </p:cNvPr>
          <p:cNvSpPr>
            <a:spLocks noGrp="1"/>
          </p:cNvSpPr>
          <p:nvPr>
            <p:ph type="title"/>
          </p:nvPr>
        </p:nvSpPr>
        <p:spPr>
          <a:xfrm>
            <a:off x="899410" y="102022"/>
            <a:ext cx="10373193" cy="1262084"/>
          </a:xfrm>
        </p:spPr>
        <p:txBody>
          <a:bodyPr/>
          <a:lstStyle/>
          <a:p>
            <a:pPr algn="ctr"/>
            <a:r>
              <a:rPr lang="en-US" dirty="0">
                <a:solidFill>
                  <a:srgbClr val="00B050"/>
                </a:solidFill>
              </a:rPr>
              <a:t>Why Write it Up</a:t>
            </a:r>
          </a:p>
        </p:txBody>
      </p:sp>
      <p:sp>
        <p:nvSpPr>
          <p:cNvPr id="3" name="Content Placeholder 2">
            <a:extLst>
              <a:ext uri="{FF2B5EF4-FFF2-40B4-BE49-F238E27FC236}">
                <a16:creationId xmlns:a16="http://schemas.microsoft.com/office/drawing/2014/main" id="{5C66AFC0-A5F8-53AB-4BC8-4D44C3E5F3CD}"/>
              </a:ext>
            </a:extLst>
          </p:cNvPr>
          <p:cNvSpPr>
            <a:spLocks noGrp="1"/>
          </p:cNvSpPr>
          <p:nvPr>
            <p:ph idx="1"/>
          </p:nvPr>
        </p:nvSpPr>
        <p:spPr>
          <a:xfrm>
            <a:off x="1158865" y="2017467"/>
            <a:ext cx="9779182" cy="4840533"/>
          </a:xfrm>
        </p:spPr>
        <p:txBody>
          <a:bodyPr/>
          <a:lstStyle/>
          <a:p>
            <a:pPr marL="457200" indent="-457200">
              <a:buFont typeface="Wingdings" panose="05000000000000000000" pitchFamily="2" charset="2"/>
              <a:buChar char="v"/>
            </a:pPr>
            <a:r>
              <a:rPr lang="en-US" sz="3200" b="1" dirty="0"/>
              <a:t>Write to remember</a:t>
            </a:r>
          </a:p>
          <a:p>
            <a:pPr marL="457200" indent="-457200">
              <a:buFont typeface="Wingdings" panose="05000000000000000000" pitchFamily="2" charset="2"/>
              <a:buChar char="v"/>
            </a:pPr>
            <a:r>
              <a:rPr lang="en-US" sz="3200" b="1" dirty="0"/>
              <a:t>Write to understand</a:t>
            </a:r>
          </a:p>
          <a:p>
            <a:pPr marL="457200" indent="-457200">
              <a:buFont typeface="Wingdings" panose="05000000000000000000" pitchFamily="2" charset="2"/>
              <a:buChar char="v"/>
            </a:pPr>
            <a:r>
              <a:rPr lang="en-US" sz="3200" b="1" dirty="0"/>
              <a:t>Write to test your thinking</a:t>
            </a:r>
          </a:p>
          <a:p>
            <a:pPr marL="457200" indent="-457200">
              <a:buFont typeface="Wingdings" panose="05000000000000000000" pitchFamily="2" charset="2"/>
              <a:buChar char="v"/>
            </a:pPr>
            <a:r>
              <a:rPr lang="en-US" sz="3200" b="1" dirty="0"/>
              <a:t>Write to apply your knowledge and wisdom</a:t>
            </a:r>
          </a:p>
          <a:p>
            <a:pPr marL="457200" indent="-457200">
              <a:buFont typeface="Wingdings" panose="05000000000000000000" pitchFamily="2" charset="2"/>
              <a:buChar char="v"/>
            </a:pPr>
            <a:r>
              <a:rPr lang="en-US" sz="3200" b="1" dirty="0"/>
              <a:t>Write to </a:t>
            </a:r>
            <a:r>
              <a:rPr lang="en-US" sz="3200" b="1" dirty="0" err="1"/>
              <a:t>analyse</a:t>
            </a:r>
            <a:endParaRPr lang="en-US" sz="3200" b="1" dirty="0"/>
          </a:p>
          <a:p>
            <a:pPr marL="457200" indent="-457200">
              <a:buFont typeface="Wingdings" panose="05000000000000000000" pitchFamily="2" charset="2"/>
              <a:buChar char="v"/>
            </a:pPr>
            <a:r>
              <a:rPr lang="en-US" sz="3200" b="1" dirty="0"/>
              <a:t>Write to evaluate</a:t>
            </a:r>
          </a:p>
          <a:p>
            <a:pPr marL="457200" indent="-457200">
              <a:buFont typeface="Wingdings" panose="05000000000000000000" pitchFamily="2" charset="2"/>
              <a:buChar char="v"/>
            </a:pPr>
            <a:r>
              <a:rPr lang="en-US" sz="3200" b="1" dirty="0"/>
              <a:t>Write to create</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610244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FCC56-1787-FE9F-589A-7EF95E086B24}"/>
              </a:ext>
            </a:extLst>
          </p:cNvPr>
          <p:cNvSpPr>
            <a:spLocks noGrp="1"/>
          </p:cNvSpPr>
          <p:nvPr>
            <p:ph type="title"/>
          </p:nvPr>
        </p:nvSpPr>
        <p:spPr>
          <a:xfrm>
            <a:off x="1158864" y="329784"/>
            <a:ext cx="9779183" cy="959370"/>
          </a:xfrm>
        </p:spPr>
        <p:txBody>
          <a:bodyPr/>
          <a:lstStyle/>
          <a:p>
            <a:pPr algn="ctr"/>
            <a:r>
              <a:rPr lang="en-US" dirty="0">
                <a:solidFill>
                  <a:srgbClr val="00B050"/>
                </a:solidFill>
              </a:rPr>
              <a:t>Connecting with Your Readers</a:t>
            </a:r>
          </a:p>
        </p:txBody>
      </p:sp>
      <p:sp>
        <p:nvSpPr>
          <p:cNvPr id="3" name="Content Placeholder 2">
            <a:extLst>
              <a:ext uri="{FF2B5EF4-FFF2-40B4-BE49-F238E27FC236}">
                <a16:creationId xmlns:a16="http://schemas.microsoft.com/office/drawing/2014/main" id="{C8F181C0-E3BC-DE5B-EBF2-DFD236D95574}"/>
              </a:ext>
            </a:extLst>
          </p:cNvPr>
          <p:cNvSpPr>
            <a:spLocks noGrp="1"/>
          </p:cNvSpPr>
          <p:nvPr>
            <p:ph idx="1"/>
          </p:nvPr>
        </p:nvSpPr>
        <p:spPr>
          <a:xfrm>
            <a:off x="389744" y="1633928"/>
            <a:ext cx="11002781" cy="4894287"/>
          </a:xfrm>
        </p:spPr>
        <p:txBody>
          <a:bodyPr>
            <a:normAutofit lnSpcReduction="10000"/>
          </a:bodyPr>
          <a:lstStyle/>
          <a:p>
            <a:pPr marL="457200" indent="-457200">
              <a:buFont typeface="Wingdings" panose="05000000000000000000" pitchFamily="2" charset="2"/>
              <a:buChar char="v"/>
            </a:pPr>
            <a:r>
              <a:rPr lang="en-US" sz="3200" b="1" dirty="0" err="1">
                <a:solidFill>
                  <a:srgbClr val="C00000"/>
                </a:solidFill>
              </a:rPr>
              <a:t>Scientificic</a:t>
            </a:r>
            <a:r>
              <a:rPr lang="en-US" sz="3200" b="1" dirty="0">
                <a:solidFill>
                  <a:srgbClr val="C00000"/>
                </a:solidFill>
              </a:rPr>
              <a:t> writing  is a social conversation/interaction between two personas</a:t>
            </a:r>
          </a:p>
          <a:p>
            <a:pPr marL="571500" indent="-571500">
              <a:buAutoNum type="romanLcPeriod"/>
            </a:pPr>
            <a:r>
              <a:rPr lang="en-US" sz="3200" b="1" dirty="0">
                <a:solidFill>
                  <a:schemeClr val="accent1"/>
                </a:solidFill>
              </a:rPr>
              <a:t>Who will read my research report?</a:t>
            </a:r>
          </a:p>
          <a:p>
            <a:pPr marL="571500" indent="-571500">
              <a:buAutoNum type="romanLcPeriod"/>
            </a:pPr>
            <a:r>
              <a:rPr lang="en-US" sz="3200" b="1" dirty="0">
                <a:solidFill>
                  <a:schemeClr val="accent1"/>
                </a:solidFill>
              </a:rPr>
              <a:t>What do they expect me to do? </a:t>
            </a:r>
          </a:p>
          <a:p>
            <a:pPr marL="571500" indent="-571500">
              <a:buAutoNum type="romanLcPeriod"/>
            </a:pPr>
            <a:r>
              <a:rPr lang="en-US" sz="3200" b="1" dirty="0">
                <a:solidFill>
                  <a:schemeClr val="accent1"/>
                </a:solidFill>
              </a:rPr>
              <a:t>How much can I expect them to know already?</a:t>
            </a:r>
          </a:p>
          <a:p>
            <a:pPr marL="571500" indent="-571500">
              <a:buAutoNum type="romanLcPeriod"/>
            </a:pPr>
            <a:r>
              <a:rPr lang="en-US" sz="3200" b="1" dirty="0">
                <a:solidFill>
                  <a:schemeClr val="accent1"/>
                </a:solidFill>
              </a:rPr>
              <a:t>How will readers respond to the solution/answer in my main claim?</a:t>
            </a:r>
          </a:p>
          <a:p>
            <a:endParaRPr lang="en-US" sz="3200" b="1" dirty="0">
              <a:solidFill>
                <a:schemeClr val="accent1"/>
              </a:solidFill>
            </a:endParaRPr>
          </a:p>
          <a:p>
            <a:endParaRPr lang="en-US" b="1" dirty="0">
              <a:solidFill>
                <a:schemeClr val="accent1"/>
              </a:solidFill>
            </a:endParaRPr>
          </a:p>
          <a:p>
            <a:r>
              <a:rPr lang="en-US" b="1" dirty="0">
                <a:solidFill>
                  <a:srgbClr val="002060"/>
                </a:solidFill>
              </a:rPr>
              <a:t>Source: </a:t>
            </a:r>
            <a:r>
              <a:rPr lang="en-US" b="1" i="1" dirty="0">
                <a:solidFill>
                  <a:srgbClr val="002060"/>
                </a:solidFill>
              </a:rPr>
              <a:t>The Craft of Research</a:t>
            </a:r>
            <a:r>
              <a:rPr lang="en-US" b="1" dirty="0">
                <a:solidFill>
                  <a:srgbClr val="002060"/>
                </a:solidFill>
              </a:rPr>
              <a:t>, 3rd edition, pp.26-27</a:t>
            </a:r>
          </a:p>
          <a:p>
            <a:endParaRPr lang="en-US" b="1" dirty="0">
              <a:solidFill>
                <a:srgbClr val="002060"/>
              </a:solidFill>
            </a:endParaRPr>
          </a:p>
          <a:p>
            <a:pPr marL="571500" indent="-571500">
              <a:buAutoNum type="romanLcPeriod"/>
            </a:pPr>
            <a:endParaRPr lang="en-US" b="1" dirty="0">
              <a:solidFill>
                <a:schemeClr val="accent1"/>
              </a:solidFill>
            </a:endParaRP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227442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41342EF-8C24-1F9A-4D95-54074010F0F9}"/>
              </a:ext>
            </a:extLst>
          </p:cNvPr>
          <p:cNvPicPr>
            <a:picLocks noGrp="1" noChangeAspect="1"/>
          </p:cNvPicPr>
          <p:nvPr>
            <p:ph idx="1"/>
          </p:nvPr>
        </p:nvPicPr>
        <p:blipFill>
          <a:blip r:embed="rId2"/>
          <a:stretch>
            <a:fillRect/>
          </a:stretch>
        </p:blipFill>
        <p:spPr>
          <a:xfrm>
            <a:off x="323557" y="393895"/>
            <a:ext cx="11240085" cy="6305746"/>
          </a:xfrm>
          <a:prstGeom prst="rect">
            <a:avLst/>
          </a:prstGeom>
        </p:spPr>
      </p:pic>
    </p:spTree>
    <p:extLst>
      <p:ext uri="{BB962C8B-B14F-4D97-AF65-F5344CB8AC3E}">
        <p14:creationId xmlns:p14="http://schemas.microsoft.com/office/powerpoint/2010/main" val="1705556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3EADA-1B0F-AAA3-6F0E-2BEEDAA86724}"/>
              </a:ext>
            </a:extLst>
          </p:cNvPr>
          <p:cNvSpPr>
            <a:spLocks noGrp="1"/>
          </p:cNvSpPr>
          <p:nvPr>
            <p:ph type="title"/>
          </p:nvPr>
        </p:nvSpPr>
        <p:spPr/>
        <p:txBody>
          <a:bodyPr/>
          <a:lstStyle/>
          <a:p>
            <a:pPr algn="ctr"/>
            <a:r>
              <a:rPr lang="en-US" dirty="0">
                <a:solidFill>
                  <a:srgbClr val="00B050"/>
                </a:solidFill>
              </a:rPr>
              <a:t>Documenting Sources</a:t>
            </a:r>
          </a:p>
        </p:txBody>
      </p:sp>
      <p:sp>
        <p:nvSpPr>
          <p:cNvPr id="3" name="Content Placeholder 2">
            <a:extLst>
              <a:ext uri="{FF2B5EF4-FFF2-40B4-BE49-F238E27FC236}">
                <a16:creationId xmlns:a16="http://schemas.microsoft.com/office/drawing/2014/main" id="{6541A129-79C5-B63B-E759-B537C1B08605}"/>
              </a:ext>
            </a:extLst>
          </p:cNvPr>
          <p:cNvSpPr>
            <a:spLocks noGrp="1"/>
          </p:cNvSpPr>
          <p:nvPr>
            <p:ph idx="1"/>
          </p:nvPr>
        </p:nvSpPr>
        <p:spPr>
          <a:xfrm>
            <a:off x="1158865" y="2017467"/>
            <a:ext cx="9779182" cy="4439604"/>
          </a:xfrm>
        </p:spPr>
        <p:txBody>
          <a:bodyPr>
            <a:normAutofit/>
          </a:bodyPr>
          <a:lstStyle/>
          <a:p>
            <a:pPr marL="457200" indent="-457200">
              <a:buFont typeface="Wingdings" panose="05000000000000000000" pitchFamily="2" charset="2"/>
              <a:buChar char="v"/>
            </a:pPr>
            <a:r>
              <a:rPr lang="en-US" sz="3200" b="1" dirty="0">
                <a:solidFill>
                  <a:srgbClr val="002060"/>
                </a:solidFill>
              </a:rPr>
              <a:t>Annotated Bibliography</a:t>
            </a:r>
          </a:p>
          <a:p>
            <a:pPr marL="457200" indent="-457200">
              <a:buFont typeface="Wingdings" panose="05000000000000000000" pitchFamily="2" charset="2"/>
              <a:buChar char="v"/>
            </a:pPr>
            <a:r>
              <a:rPr lang="en-US" sz="3200" b="1" dirty="0">
                <a:solidFill>
                  <a:srgbClr val="002060"/>
                </a:solidFill>
              </a:rPr>
              <a:t>Citation</a:t>
            </a:r>
          </a:p>
          <a:p>
            <a:pPr marL="457200" indent="-457200">
              <a:buFont typeface="Wingdings" panose="05000000000000000000" pitchFamily="2" charset="2"/>
              <a:buChar char="v"/>
            </a:pPr>
            <a:r>
              <a:rPr lang="en-US" sz="3200" b="1" dirty="0">
                <a:solidFill>
                  <a:srgbClr val="002060"/>
                </a:solidFill>
              </a:rPr>
              <a:t>Bibliography</a:t>
            </a:r>
          </a:p>
          <a:p>
            <a:pPr marL="571500" indent="-571500">
              <a:buAutoNum type="romanLcPeriod"/>
            </a:pPr>
            <a:r>
              <a:rPr lang="en-US" sz="3200" b="1" dirty="0">
                <a:solidFill>
                  <a:srgbClr val="00B0F0"/>
                </a:solidFill>
              </a:rPr>
              <a:t>Works Cited</a:t>
            </a:r>
          </a:p>
          <a:p>
            <a:pPr marL="571500" indent="-571500">
              <a:buAutoNum type="romanLcPeriod"/>
            </a:pPr>
            <a:r>
              <a:rPr lang="en-US" sz="3200" b="1" dirty="0">
                <a:solidFill>
                  <a:srgbClr val="00B0F0"/>
                </a:solidFill>
              </a:rPr>
              <a:t>References</a:t>
            </a:r>
          </a:p>
        </p:txBody>
      </p:sp>
    </p:spTree>
    <p:extLst>
      <p:ext uri="{BB962C8B-B14F-4D97-AF65-F5344CB8AC3E}">
        <p14:creationId xmlns:p14="http://schemas.microsoft.com/office/powerpoint/2010/main" val="1957683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18AB7-F850-BBB7-9F92-D3CEDDC9F71F}"/>
              </a:ext>
            </a:extLst>
          </p:cNvPr>
          <p:cNvSpPr>
            <a:spLocks noGrp="1"/>
          </p:cNvSpPr>
          <p:nvPr>
            <p:ph type="title"/>
          </p:nvPr>
        </p:nvSpPr>
        <p:spPr>
          <a:xfrm>
            <a:off x="1158864" y="102021"/>
            <a:ext cx="9779183" cy="1093733"/>
          </a:xfrm>
        </p:spPr>
        <p:txBody>
          <a:bodyPr/>
          <a:lstStyle/>
          <a:p>
            <a:pPr algn="ctr"/>
            <a:r>
              <a:rPr lang="en-US" dirty="0">
                <a:solidFill>
                  <a:srgbClr val="00B050"/>
                </a:solidFill>
              </a:rPr>
              <a:t>Annotation</a:t>
            </a:r>
          </a:p>
        </p:txBody>
      </p:sp>
      <p:sp>
        <p:nvSpPr>
          <p:cNvPr id="3" name="Content Placeholder 2">
            <a:extLst>
              <a:ext uri="{FF2B5EF4-FFF2-40B4-BE49-F238E27FC236}">
                <a16:creationId xmlns:a16="http://schemas.microsoft.com/office/drawing/2014/main" id="{34C0D590-600B-8479-DA38-BF4969EED3C6}"/>
              </a:ext>
            </a:extLst>
          </p:cNvPr>
          <p:cNvSpPr>
            <a:spLocks noGrp="1"/>
          </p:cNvSpPr>
          <p:nvPr>
            <p:ph idx="1"/>
          </p:nvPr>
        </p:nvSpPr>
        <p:spPr>
          <a:xfrm>
            <a:off x="337624" y="1378634"/>
            <a:ext cx="11085341" cy="5377345"/>
          </a:xfrm>
        </p:spPr>
        <p:txBody>
          <a:bodyPr>
            <a:normAutofit/>
          </a:bodyPr>
          <a:lstStyle/>
          <a:p>
            <a:pPr marL="457200" indent="-457200">
              <a:buFont typeface="Wingdings" panose="05000000000000000000" pitchFamily="2" charset="2"/>
              <a:buChar char="v"/>
            </a:pPr>
            <a:r>
              <a:rPr lang="en-US" sz="3200" b="1" dirty="0"/>
              <a:t>Critical commentary or explanation</a:t>
            </a:r>
          </a:p>
          <a:p>
            <a:pPr marL="457200" indent="-457200">
              <a:buFont typeface="Wingdings" panose="05000000000000000000" pitchFamily="2" charset="2"/>
              <a:buChar char="v"/>
            </a:pPr>
            <a:r>
              <a:rPr lang="en-US" sz="3200" b="1" dirty="0"/>
              <a:t>A note, comment, or a concise statement of the key ideas in a text or a portion of a text</a:t>
            </a:r>
          </a:p>
          <a:p>
            <a:pPr marL="457200" indent="-457200">
              <a:buFont typeface="Wingdings" panose="05000000000000000000" pitchFamily="2" charset="2"/>
              <a:buChar char="v"/>
            </a:pPr>
            <a:r>
              <a:rPr lang="en-US" sz="3200" b="1" dirty="0"/>
              <a:t> Commonly used  in reading instruction and in research</a:t>
            </a:r>
          </a:p>
          <a:p>
            <a:pPr marL="457200" indent="-457200">
              <a:buFont typeface="Wingdings" panose="05000000000000000000" pitchFamily="2" charset="2"/>
              <a:buChar char="v"/>
            </a:pPr>
            <a:r>
              <a:rPr lang="en-US" sz="3200" b="1" dirty="0"/>
              <a:t> A vital part of a researcher’s ability to understand any given text comprehensively</a:t>
            </a:r>
          </a:p>
          <a:p>
            <a:pPr marL="457200" indent="-457200">
              <a:buFont typeface="Wingdings" panose="05000000000000000000" pitchFamily="2" charset="2"/>
              <a:buChar char="v"/>
            </a:pPr>
            <a:r>
              <a:rPr lang="en-US" sz="3200" b="1" dirty="0"/>
              <a:t>The process of annotation is almost essential to retaining the knowledge necessary to understand a text’s key points and features</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3087122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B34F3-9963-3A67-5576-4AEBFB717522}"/>
              </a:ext>
            </a:extLst>
          </p:cNvPr>
          <p:cNvSpPr>
            <a:spLocks noGrp="1"/>
          </p:cNvSpPr>
          <p:nvPr>
            <p:ph type="title"/>
          </p:nvPr>
        </p:nvSpPr>
        <p:spPr>
          <a:xfrm>
            <a:off x="1158864" y="102021"/>
            <a:ext cx="9779183" cy="1371697"/>
          </a:xfrm>
        </p:spPr>
        <p:txBody>
          <a:bodyPr/>
          <a:lstStyle/>
          <a:p>
            <a:pPr algn="ctr"/>
            <a:r>
              <a:rPr lang="en-US" dirty="0">
                <a:solidFill>
                  <a:srgbClr val="00B050"/>
                </a:solidFill>
              </a:rPr>
              <a:t>Annotated Bibliography</a:t>
            </a:r>
          </a:p>
        </p:txBody>
      </p:sp>
      <p:sp>
        <p:nvSpPr>
          <p:cNvPr id="3" name="Content Placeholder 2">
            <a:extLst>
              <a:ext uri="{FF2B5EF4-FFF2-40B4-BE49-F238E27FC236}">
                <a16:creationId xmlns:a16="http://schemas.microsoft.com/office/drawing/2014/main" id="{031651D7-B175-5467-34F5-198679DD503D}"/>
              </a:ext>
            </a:extLst>
          </p:cNvPr>
          <p:cNvSpPr>
            <a:spLocks noGrp="1"/>
          </p:cNvSpPr>
          <p:nvPr>
            <p:ph idx="1"/>
          </p:nvPr>
        </p:nvSpPr>
        <p:spPr>
          <a:xfrm>
            <a:off x="407963" y="1674055"/>
            <a:ext cx="10958732" cy="5081924"/>
          </a:xfrm>
        </p:spPr>
        <p:txBody>
          <a:bodyPr/>
          <a:lstStyle/>
          <a:p>
            <a:pPr marL="457200" indent="-457200">
              <a:buFont typeface="Wingdings" panose="05000000000000000000" pitchFamily="2" charset="2"/>
              <a:buChar char="v"/>
            </a:pPr>
            <a:r>
              <a:rPr lang="en-US" sz="3200" b="1" dirty="0"/>
              <a:t>Preparing the list of such annotation in alphabetical order</a:t>
            </a:r>
          </a:p>
          <a:p>
            <a:pPr marL="457200" indent="-457200">
              <a:buFont typeface="Wingdings" panose="05000000000000000000" pitchFamily="2" charset="2"/>
              <a:buChar char="v"/>
            </a:pPr>
            <a:r>
              <a:rPr lang="en-US" sz="3200" b="1" dirty="0"/>
              <a:t>Olin and Uris libraries of Cornell University in 2008 offer practical advice on preparing an annotated bibliography</a:t>
            </a:r>
          </a:p>
          <a:p>
            <a:r>
              <a:rPr lang="en-US" sz="3200" b="1" i="1" dirty="0">
                <a:solidFill>
                  <a:srgbClr val="0070C0"/>
                </a:solidFill>
              </a:rPr>
              <a:t>“An annotated bibliography is a list of citation to books, articles, and documents. Each citation is followed by a brief, usually about 150 words, descriptive and evaluated paragraph, the annotation. The purpose of the annotation  is to inform the reader of the relevance, accuracy and quality of the sources cited. The annotation is a concise and succinct analysis.”</a:t>
            </a:r>
          </a:p>
          <a:p>
            <a:endParaRPr lang="en-US" dirty="0"/>
          </a:p>
        </p:txBody>
      </p:sp>
    </p:spTree>
    <p:extLst>
      <p:ext uri="{BB962C8B-B14F-4D97-AF65-F5344CB8AC3E}">
        <p14:creationId xmlns:p14="http://schemas.microsoft.com/office/powerpoint/2010/main" val="3370847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21E9E-6592-4EDF-A131-6EBBB1E1C490}"/>
              </a:ext>
            </a:extLst>
          </p:cNvPr>
          <p:cNvSpPr>
            <a:spLocks noGrp="1"/>
          </p:cNvSpPr>
          <p:nvPr>
            <p:ph idx="1"/>
          </p:nvPr>
        </p:nvSpPr>
        <p:spPr>
          <a:xfrm>
            <a:off x="281354" y="365760"/>
            <a:ext cx="11563643" cy="6105377"/>
          </a:xfrm>
        </p:spPr>
        <p:txBody>
          <a:bodyPr>
            <a:normAutofit/>
          </a:bodyPr>
          <a:lstStyle/>
          <a:p>
            <a:r>
              <a:rPr lang="en-US" dirty="0"/>
              <a:t>Kido, A., Yamamoto, N., Masui, M., &amp; Takeuchi, Y. (2012). Study on formation 	of urban tissue in Bhaktapur in Kathmandu Valley, Nepal. </a:t>
            </a:r>
            <a:r>
              <a:rPr lang="en-US" i="1" dirty="0"/>
              <a:t>Journal of 	Science and Engineering</a:t>
            </a:r>
            <a:r>
              <a:rPr lang="en-US" dirty="0"/>
              <a:t>, 1(1), 1-16.</a:t>
            </a:r>
          </a:p>
          <a:p>
            <a:endParaRPr lang="en-US" dirty="0"/>
          </a:p>
          <a:p>
            <a:pPr lvl="2"/>
            <a:r>
              <a:rPr lang="en-US" b="1" dirty="0"/>
              <a:t>The research employs a dual methodology to understand urban formation: analyzing physical elements (streets, squares, plots) and studying activity patterns around shrines and water sources. Using space syntax and axial line analysis, they discovered higher integration values in the western area, while the eastern section's winding streets suggest earlier settlements. The mapping of religious elements (Ganesh shrines), water sources (</a:t>
            </a:r>
            <a:r>
              <a:rPr lang="en-US" b="1" dirty="0" err="1"/>
              <a:t>hiti</a:t>
            </a:r>
            <a:r>
              <a:rPr lang="en-US" b="1" dirty="0"/>
              <a:t>), and dwelling units revealed significant patterns. The distribution of Ganesh shrines beyond current boundaries indicates historical boundary shifts. Four distinct relationships between communities and water sources were identified, along with three dwelling unit types relative to </a:t>
            </a:r>
            <a:r>
              <a:rPr lang="en-US" b="1" dirty="0" err="1"/>
              <a:t>pikhalakhus</a:t>
            </a:r>
            <a:r>
              <a:rPr lang="en-US" b="1" dirty="0"/>
              <a:t>. Analysis based on Pant's (2001) work concludes that courtyard buildings preceded linear buildings with self-contained </a:t>
            </a:r>
            <a:r>
              <a:rPr lang="en-US" b="1" dirty="0" err="1"/>
              <a:t>pikhalakhus</a:t>
            </a:r>
            <a:r>
              <a:rPr lang="en-US" b="1" dirty="0"/>
              <a:t>, resulting in a double-layered urban tissue. This evolutionary pattern demonstrates how Bhaktapur's urban morphology developed through a complex interplay of religious, social, and functional needs, with early settlements expanding from east to west. This research significantly contributes to understanding historical urban development patterns in traditional Nepalese cities through structural analysis.</a:t>
            </a:r>
          </a:p>
          <a:p>
            <a:pPr lvl="2"/>
            <a:endParaRPr lang="en-US" dirty="0"/>
          </a:p>
          <a:p>
            <a:endParaRPr lang="en-US" dirty="0"/>
          </a:p>
        </p:txBody>
      </p:sp>
    </p:spTree>
    <p:extLst>
      <p:ext uri="{BB962C8B-B14F-4D97-AF65-F5344CB8AC3E}">
        <p14:creationId xmlns:p14="http://schemas.microsoft.com/office/powerpoint/2010/main" val="2359352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DF500-C3CA-0249-C6D0-6F7350E6746F}"/>
              </a:ext>
            </a:extLst>
          </p:cNvPr>
          <p:cNvSpPr>
            <a:spLocks noGrp="1"/>
          </p:cNvSpPr>
          <p:nvPr>
            <p:ph idx="1"/>
          </p:nvPr>
        </p:nvSpPr>
        <p:spPr>
          <a:xfrm>
            <a:off x="140676" y="281355"/>
            <a:ext cx="11746523" cy="6344528"/>
          </a:xfrm>
        </p:spPr>
        <p:txBody>
          <a:bodyPr>
            <a:normAutofit/>
          </a:bodyPr>
          <a:lstStyle/>
          <a:p>
            <a:r>
              <a:rPr lang="en-US" dirty="0"/>
              <a:t>Sapkota, J. L. (15 Jan. 2018). Land as (In)security in Chinua Achebe’s </a:t>
            </a:r>
            <a:r>
              <a:rPr lang="en-US" i="1" dirty="0"/>
              <a:t>Things Fall 	Apart</a:t>
            </a:r>
            <a:r>
              <a:rPr lang="en-US" dirty="0"/>
              <a:t>. </a:t>
            </a:r>
            <a:r>
              <a:rPr lang="en-US" i="1" dirty="0"/>
              <a:t>Crossing the Border: Journal of Interdisciplinary Studies</a:t>
            </a:r>
            <a:r>
              <a:rPr lang="en-US" dirty="0"/>
              <a:t>, 6(1), </a:t>
            </a:r>
          </a:p>
          <a:p>
            <a:r>
              <a:rPr lang="en-US" dirty="0"/>
              <a:t>	14-27.</a:t>
            </a:r>
          </a:p>
          <a:p>
            <a:endParaRPr lang="en-US" dirty="0"/>
          </a:p>
          <a:p>
            <a:pPr lvl="2"/>
            <a:r>
              <a:rPr lang="en-US" dirty="0"/>
              <a:t>This paper analyses how land can be associated with human (in)security and it contributes in shaping person’s identity in Achebe’s Things Fall Apart through ecocritical perspective. Things Fall Apart is set in Umuofia, the precolonial Igbo land of South Eastern Nigeria. Thee </a:t>
            </a:r>
            <a:r>
              <a:rPr lang="en-US" dirty="0" err="1"/>
              <a:t>Umofians</a:t>
            </a:r>
            <a:r>
              <a:rPr lang="en-US" dirty="0"/>
              <a:t> value their attachment with their land very highly, and even worship their land as the goddess earth. The idea of exploiting land for anthropocentric interest is unimaginable for the </a:t>
            </a:r>
            <a:r>
              <a:rPr lang="en-US" dirty="0" err="1"/>
              <a:t>Umuofians</a:t>
            </a:r>
            <a:r>
              <a:rPr lang="en-US" dirty="0"/>
              <a:t>. Their cultural, physical and mental lives are shaped by their environment. Their agrarian lifestyle, religious beliefs, feasts and festivals, rites and rituals, myths and folk tales, and proverbs and sayings have a profound signature of the flora, fauna and landscapes of their dwelling place. This attachment binds them into an organic community as they internalize their existence in relation to their relationship to that organic. They feel their independent identity in their homeland. After the arrival of Christian missionaries into their community, however, they feel their sacred bonds with their places cut off, perceive themselves as fallen apart, and experience uncertainty, insecurity and danger for their existence in their own homeland. As a result, they feel their homeland under assault and suffer from solastalgia.</a:t>
            </a:r>
          </a:p>
          <a:p>
            <a:endParaRPr lang="en-US" dirty="0"/>
          </a:p>
          <a:p>
            <a:endParaRPr lang="en-US" dirty="0"/>
          </a:p>
        </p:txBody>
      </p:sp>
    </p:spTree>
    <p:extLst>
      <p:ext uri="{BB962C8B-B14F-4D97-AF65-F5344CB8AC3E}">
        <p14:creationId xmlns:p14="http://schemas.microsoft.com/office/powerpoint/2010/main" val="2135195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6F5FDF-7EE6-396B-5816-28FC5F4FB666}"/>
              </a:ext>
            </a:extLst>
          </p:cNvPr>
          <p:cNvSpPr>
            <a:spLocks noGrp="1"/>
          </p:cNvSpPr>
          <p:nvPr>
            <p:ph idx="1"/>
          </p:nvPr>
        </p:nvSpPr>
        <p:spPr>
          <a:xfrm>
            <a:off x="253218" y="464234"/>
            <a:ext cx="11577711" cy="6203851"/>
          </a:xfrm>
        </p:spPr>
        <p:txBody>
          <a:bodyPr>
            <a:normAutofit/>
          </a:bodyPr>
          <a:lstStyle/>
          <a:p>
            <a:r>
              <a:rPr lang="en-US" dirty="0"/>
              <a:t>Silva, K. D. (2015). The spirit of place of Bhaktapur, Nepal. </a:t>
            </a:r>
            <a:r>
              <a:rPr lang="en-US" i="1" dirty="0"/>
              <a:t>International Journal 	of Heritage Studies</a:t>
            </a:r>
            <a:r>
              <a:rPr lang="en-US" dirty="0"/>
              <a:t>, 21(8), 820–841. 	https://doi.org/10.1080/13527258.2015.1028962</a:t>
            </a:r>
          </a:p>
          <a:p>
            <a:endParaRPr lang="en-US" dirty="0"/>
          </a:p>
          <a:p>
            <a:pPr lvl="2"/>
            <a:r>
              <a:rPr lang="en-US" dirty="0"/>
              <a:t>The research uniquely approaches heritage by focusing on residents' emotional connections rather than just tangible and intangible heritage elements. The author establishes four qualitative dimensions: sacrality (measured through shrine memories), community (family and social bonds), serenity (lifestyle and environmental quality), and historicity (physical attributes and traditions). The findings reveal that Bhaktapur's spirit emerges from a complex interweaving of these dimensions. The strong sense of sacrality is evidenced through both physical shrines and intangible practices. Community cohesion transcends caste and religious boundaries. Serenity, despite lacking natural features, manifests through social harmony and environmental quality. Historicity is preserved through traditional architecture, crafts, and cultural practices. Critical analysis concludes that the spirit of place is fundamentally experiential and cannot be fully captured by conventional heritage documentation. However, the author identifies potential threats to sacrality and serenity, indicating the delicate balance between preservation and modern development. This research provides valuable insights for heritage management approaches that consider local residents' lived experiences alongside physical conservation.</a:t>
            </a:r>
          </a:p>
          <a:p>
            <a:endParaRPr lang="en-US" dirty="0"/>
          </a:p>
        </p:txBody>
      </p:sp>
    </p:spTree>
    <p:extLst>
      <p:ext uri="{BB962C8B-B14F-4D97-AF65-F5344CB8AC3E}">
        <p14:creationId xmlns:p14="http://schemas.microsoft.com/office/powerpoint/2010/main" val="1935504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F43B-EC7D-44A6-8EB9-EC294B14D791}"/>
              </a:ext>
            </a:extLst>
          </p:cNvPr>
          <p:cNvSpPr>
            <a:spLocks noGrp="1"/>
          </p:cNvSpPr>
          <p:nvPr>
            <p:ph type="title"/>
          </p:nvPr>
        </p:nvSpPr>
        <p:spPr>
          <a:xfrm>
            <a:off x="1158864" y="102021"/>
            <a:ext cx="9779183" cy="1371697"/>
          </a:xfrm>
        </p:spPr>
        <p:txBody>
          <a:bodyPr/>
          <a:lstStyle/>
          <a:p>
            <a:pPr algn="ctr"/>
            <a:r>
              <a:rPr lang="en-US" dirty="0">
                <a:solidFill>
                  <a:srgbClr val="00B050"/>
                </a:solidFill>
              </a:rPr>
              <a:t>Realize</a:t>
            </a:r>
          </a:p>
        </p:txBody>
      </p:sp>
      <p:sp>
        <p:nvSpPr>
          <p:cNvPr id="3" name="Content Placeholder 2">
            <a:extLst>
              <a:ext uri="{FF2B5EF4-FFF2-40B4-BE49-F238E27FC236}">
                <a16:creationId xmlns:a16="http://schemas.microsoft.com/office/drawing/2014/main" id="{34E43B77-CD34-4C07-AEB5-938F2BED921D}"/>
              </a:ext>
            </a:extLst>
          </p:cNvPr>
          <p:cNvSpPr>
            <a:spLocks noGrp="1"/>
          </p:cNvSpPr>
          <p:nvPr>
            <p:ph idx="1"/>
          </p:nvPr>
        </p:nvSpPr>
        <p:spPr>
          <a:xfrm>
            <a:off x="365760" y="1473719"/>
            <a:ext cx="11563643" cy="5282260"/>
          </a:xfrm>
        </p:spPr>
        <p:txBody>
          <a:bodyPr>
            <a:normAutofit lnSpcReduction="10000"/>
          </a:bodyPr>
          <a:lstStyle/>
          <a:p>
            <a:pPr marL="457200" indent="-457200">
              <a:buFont typeface="Wingdings" panose="05000000000000000000" pitchFamily="2" charset="2"/>
              <a:buChar char="v"/>
            </a:pPr>
            <a:r>
              <a:rPr lang="en-US" sz="3200" b="1" dirty="0"/>
              <a:t>When you go through any text, write briefly</a:t>
            </a:r>
          </a:p>
          <a:p>
            <a:pPr marL="571500" indent="-571500">
              <a:buAutoNum type="romanLcPeriod"/>
            </a:pPr>
            <a:r>
              <a:rPr lang="en-US" sz="3200" b="1" dirty="0"/>
              <a:t>What is the text about?</a:t>
            </a:r>
          </a:p>
          <a:p>
            <a:pPr marL="571500" indent="-571500">
              <a:buAutoNum type="romanLcPeriod"/>
            </a:pPr>
            <a:r>
              <a:rPr lang="en-US" sz="3200" b="1" dirty="0"/>
              <a:t>What is its major argument?</a:t>
            </a:r>
          </a:p>
          <a:p>
            <a:pPr marL="571500" indent="-571500">
              <a:buAutoNum type="romanLcPeriod"/>
            </a:pPr>
            <a:r>
              <a:rPr lang="en-US" sz="3200" b="1" dirty="0"/>
              <a:t>How does the author support his/her argument?</a:t>
            </a:r>
          </a:p>
          <a:p>
            <a:pPr marL="571500" indent="-571500">
              <a:buAutoNum type="romanLcPeriod"/>
            </a:pPr>
            <a:r>
              <a:rPr lang="en-US" sz="3200" b="1" dirty="0"/>
              <a:t>What conclusion does the author draw?</a:t>
            </a:r>
          </a:p>
          <a:p>
            <a:pPr marL="571500" indent="-571500">
              <a:buFont typeface="Wingdings" panose="05000000000000000000" pitchFamily="2" charset="2"/>
              <a:buChar char="v"/>
            </a:pPr>
            <a:r>
              <a:rPr lang="en-US" sz="3600" b="1" dirty="0">
                <a:solidFill>
                  <a:srgbClr val="00B050"/>
                </a:solidFill>
              </a:rPr>
              <a:t>The brief succinct answers of these questions will be the gist of the text.</a:t>
            </a:r>
          </a:p>
          <a:p>
            <a:pPr marL="571500" indent="-571500">
              <a:buFont typeface="Wingdings" panose="05000000000000000000" pitchFamily="2" charset="2"/>
              <a:buChar char="v"/>
            </a:pPr>
            <a:r>
              <a:rPr lang="en-US" sz="3600" b="1" dirty="0">
                <a:solidFill>
                  <a:srgbClr val="00B050"/>
                </a:solidFill>
              </a:rPr>
              <a:t>When these answers are preceded by publication information of the text, it becomes annotated bibliography.</a:t>
            </a:r>
          </a:p>
        </p:txBody>
      </p:sp>
    </p:spTree>
    <p:extLst>
      <p:ext uri="{BB962C8B-B14F-4D97-AF65-F5344CB8AC3E}">
        <p14:creationId xmlns:p14="http://schemas.microsoft.com/office/powerpoint/2010/main" val="1924246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5DE6F-507A-AA0F-DFBA-E5BA0AC87B16}"/>
              </a:ext>
            </a:extLst>
          </p:cNvPr>
          <p:cNvSpPr>
            <a:spLocks noGrp="1"/>
          </p:cNvSpPr>
          <p:nvPr>
            <p:ph type="title"/>
          </p:nvPr>
        </p:nvSpPr>
        <p:spPr>
          <a:xfrm>
            <a:off x="1158864" y="102021"/>
            <a:ext cx="9779183" cy="1107801"/>
          </a:xfrm>
        </p:spPr>
        <p:txBody>
          <a:bodyPr/>
          <a:lstStyle/>
          <a:p>
            <a:pPr algn="ctr"/>
            <a:r>
              <a:rPr lang="en-US" dirty="0">
                <a:solidFill>
                  <a:srgbClr val="00B050"/>
                </a:solidFill>
              </a:rPr>
              <a:t>Title</a:t>
            </a:r>
          </a:p>
        </p:txBody>
      </p:sp>
      <p:sp>
        <p:nvSpPr>
          <p:cNvPr id="3" name="Content Placeholder 2">
            <a:extLst>
              <a:ext uri="{FF2B5EF4-FFF2-40B4-BE49-F238E27FC236}">
                <a16:creationId xmlns:a16="http://schemas.microsoft.com/office/drawing/2014/main" id="{1312FD9C-4F8D-51DD-DF27-4261950F3EF0}"/>
              </a:ext>
            </a:extLst>
          </p:cNvPr>
          <p:cNvSpPr>
            <a:spLocks noGrp="1"/>
          </p:cNvSpPr>
          <p:nvPr>
            <p:ph idx="1"/>
          </p:nvPr>
        </p:nvSpPr>
        <p:spPr>
          <a:xfrm>
            <a:off x="436098" y="1406769"/>
            <a:ext cx="10930597" cy="5349210"/>
          </a:xfrm>
        </p:spPr>
        <p:txBody>
          <a:bodyPr/>
          <a:lstStyle/>
          <a:p>
            <a:pPr marL="457200" indent="-457200">
              <a:buFont typeface="Wingdings" panose="05000000000000000000" pitchFamily="2" charset="2"/>
              <a:buChar char="v"/>
            </a:pPr>
            <a:r>
              <a:rPr lang="en-US" sz="3200" b="1" dirty="0"/>
              <a:t>Intelligent, and telling (avoids wording that is vague, garrulous, and pretentious) </a:t>
            </a:r>
          </a:p>
          <a:p>
            <a:pPr marL="457200" indent="-457200">
              <a:buFont typeface="Wingdings" panose="05000000000000000000" pitchFamily="2" charset="2"/>
              <a:buChar char="v"/>
            </a:pPr>
            <a:r>
              <a:rPr lang="en-US" sz="3200" b="1" dirty="0"/>
              <a:t>Use key words that relate to subject area, disciplinary practice, and foreshadow the major argument</a:t>
            </a:r>
          </a:p>
          <a:p>
            <a:pPr marL="457200" indent="-457200">
              <a:buFont typeface="Wingdings" panose="05000000000000000000" pitchFamily="2" charset="2"/>
              <a:buChar char="v"/>
            </a:pPr>
            <a:r>
              <a:rPr lang="en-US" sz="3200" b="1" dirty="0"/>
              <a:t>Title must have Issue raised+ primary text/study area</a:t>
            </a:r>
          </a:p>
          <a:p>
            <a:pPr marL="457200" indent="-457200">
              <a:buFont typeface="Wingdings" panose="05000000000000000000" pitchFamily="2" charset="2"/>
              <a:buChar char="v"/>
            </a:pPr>
            <a:r>
              <a:rPr lang="en-US" sz="3200" b="1" dirty="0"/>
              <a:t>Capitalize the first letter of the title</a:t>
            </a:r>
          </a:p>
          <a:p>
            <a:endParaRPr lang="en-US" sz="3200" b="1" dirty="0"/>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1079041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C748A-D96B-F78D-4471-06D19A35F149}"/>
              </a:ext>
            </a:extLst>
          </p:cNvPr>
          <p:cNvSpPr>
            <a:spLocks noGrp="1"/>
          </p:cNvSpPr>
          <p:nvPr>
            <p:ph type="title"/>
          </p:nvPr>
        </p:nvSpPr>
        <p:spPr>
          <a:xfrm>
            <a:off x="1158864" y="102021"/>
            <a:ext cx="9779183" cy="3465638"/>
          </a:xfrm>
        </p:spPr>
        <p:txBody>
          <a:bodyPr/>
          <a:lstStyle/>
          <a:p>
            <a:pPr algn="ctr"/>
            <a:r>
              <a:rPr lang="en-US" sz="9600" dirty="0"/>
              <a:t>Title Selection</a:t>
            </a:r>
          </a:p>
        </p:txBody>
      </p:sp>
    </p:spTree>
    <p:extLst>
      <p:ext uri="{BB962C8B-B14F-4D97-AF65-F5344CB8AC3E}">
        <p14:creationId xmlns:p14="http://schemas.microsoft.com/office/powerpoint/2010/main" val="806912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12AB10-4AAC-F875-0887-1F708809AA99}"/>
              </a:ext>
            </a:extLst>
          </p:cNvPr>
          <p:cNvSpPr>
            <a:spLocks noGrp="1"/>
          </p:cNvSpPr>
          <p:nvPr>
            <p:ph idx="1"/>
          </p:nvPr>
        </p:nvSpPr>
        <p:spPr>
          <a:xfrm>
            <a:off x="269822" y="404735"/>
            <a:ext cx="11227633" cy="6295868"/>
          </a:xfrm>
        </p:spPr>
        <p:txBody>
          <a:bodyPr/>
          <a:lstStyle/>
          <a:p>
            <a:r>
              <a:rPr lang="en-US" sz="3600" b="1" dirty="0">
                <a:solidFill>
                  <a:srgbClr val="C00000"/>
                </a:solidFill>
              </a:rPr>
              <a:t>Area</a:t>
            </a:r>
            <a:r>
              <a:rPr lang="en-US" sz="3600" b="1" dirty="0"/>
              <a:t>: Early 19th century English literature</a:t>
            </a:r>
          </a:p>
          <a:p>
            <a:r>
              <a:rPr lang="en-US" sz="3600" b="1" dirty="0">
                <a:solidFill>
                  <a:srgbClr val="7030A0"/>
                </a:solidFill>
              </a:rPr>
              <a:t>Genre</a:t>
            </a:r>
            <a:r>
              <a:rPr lang="en-US" sz="3600" b="1" dirty="0"/>
              <a:t>: Poetry</a:t>
            </a:r>
          </a:p>
          <a:p>
            <a:r>
              <a:rPr lang="en-US" sz="3600" b="1" dirty="0">
                <a:solidFill>
                  <a:srgbClr val="002060"/>
                </a:solidFill>
              </a:rPr>
              <a:t>Sub-genre</a:t>
            </a:r>
            <a:r>
              <a:rPr lang="en-US" sz="3600" b="1" dirty="0"/>
              <a:t>: Romantic Poetry</a:t>
            </a:r>
          </a:p>
          <a:p>
            <a:r>
              <a:rPr lang="en-US" sz="3600" b="1" dirty="0">
                <a:solidFill>
                  <a:srgbClr val="0070C0"/>
                </a:solidFill>
              </a:rPr>
              <a:t>Subject</a:t>
            </a:r>
            <a:r>
              <a:rPr lang="en-US" sz="3600" b="1" dirty="0"/>
              <a:t>: William Wordsworth</a:t>
            </a:r>
          </a:p>
          <a:p>
            <a:r>
              <a:rPr lang="en-US" sz="3600" b="1" dirty="0">
                <a:solidFill>
                  <a:srgbClr val="00B0F0"/>
                </a:solidFill>
              </a:rPr>
              <a:t>Topic: The Tintern Abbey</a:t>
            </a:r>
          </a:p>
          <a:p>
            <a:r>
              <a:rPr lang="en-US" sz="3600" b="1" dirty="0">
                <a:solidFill>
                  <a:srgbClr val="00B050"/>
                </a:solidFill>
              </a:rPr>
              <a:t>Issue</a:t>
            </a:r>
            <a:r>
              <a:rPr lang="en-US" sz="3600" b="1" dirty="0"/>
              <a:t>: Assimilation of Self into Nature</a:t>
            </a:r>
          </a:p>
          <a:p>
            <a:r>
              <a:rPr lang="en-US" sz="3600" b="1" dirty="0"/>
              <a:t>Perspective: Ecocriticism</a:t>
            </a:r>
          </a:p>
          <a:p>
            <a:endParaRPr lang="en-US" dirty="0"/>
          </a:p>
        </p:txBody>
      </p:sp>
    </p:spTree>
    <p:extLst>
      <p:ext uri="{BB962C8B-B14F-4D97-AF65-F5344CB8AC3E}">
        <p14:creationId xmlns:p14="http://schemas.microsoft.com/office/powerpoint/2010/main" val="1305247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93643E-27B1-FCDC-CE81-181B88247B59}"/>
              </a:ext>
            </a:extLst>
          </p:cNvPr>
          <p:cNvSpPr>
            <a:spLocks noGrp="1"/>
          </p:cNvSpPr>
          <p:nvPr>
            <p:ph idx="1"/>
          </p:nvPr>
        </p:nvSpPr>
        <p:spPr>
          <a:xfrm>
            <a:off x="389744" y="539646"/>
            <a:ext cx="11197653" cy="6056025"/>
          </a:xfrm>
        </p:spPr>
        <p:txBody>
          <a:bodyPr/>
          <a:lstStyle/>
          <a:p>
            <a:r>
              <a:rPr lang="en-US" sz="3600" b="1" dirty="0">
                <a:solidFill>
                  <a:srgbClr val="C00000"/>
                </a:solidFill>
              </a:rPr>
              <a:t>Area:</a:t>
            </a:r>
            <a:r>
              <a:rPr lang="en-US" sz="3600" b="1" dirty="0"/>
              <a:t> National Security and International Relations</a:t>
            </a:r>
          </a:p>
          <a:p>
            <a:r>
              <a:rPr lang="en-US" sz="3600" b="1" dirty="0">
                <a:solidFill>
                  <a:srgbClr val="7030A0"/>
                </a:solidFill>
              </a:rPr>
              <a:t>Genre:</a:t>
            </a:r>
            <a:r>
              <a:rPr lang="en-US" sz="3600" b="1" dirty="0"/>
              <a:t> International Affairs of a Nation</a:t>
            </a:r>
          </a:p>
          <a:p>
            <a:r>
              <a:rPr lang="en-US" sz="3600" b="1" dirty="0">
                <a:solidFill>
                  <a:srgbClr val="002060"/>
                </a:solidFill>
              </a:rPr>
              <a:t>Sub-genre</a:t>
            </a:r>
            <a:r>
              <a:rPr lang="en-US" sz="3600" b="1" dirty="0"/>
              <a:t>: Defense and Foreign Policy</a:t>
            </a:r>
          </a:p>
          <a:p>
            <a:r>
              <a:rPr lang="en-US" sz="3600" b="1" dirty="0">
                <a:solidFill>
                  <a:srgbClr val="0070C0"/>
                </a:solidFill>
              </a:rPr>
              <a:t>Subject</a:t>
            </a:r>
            <a:r>
              <a:rPr lang="en-US" sz="3600" b="1" dirty="0"/>
              <a:t>: Small Nations’ Defense and Foreign Policy</a:t>
            </a:r>
          </a:p>
          <a:p>
            <a:r>
              <a:rPr lang="en-US" sz="3600" b="1" dirty="0">
                <a:solidFill>
                  <a:srgbClr val="00B0F0"/>
                </a:solidFill>
              </a:rPr>
              <a:t>Topic:</a:t>
            </a:r>
            <a:r>
              <a:rPr lang="en-US" sz="3600" b="1" dirty="0"/>
              <a:t> Defense and Foreign Policy of Nepal</a:t>
            </a:r>
          </a:p>
          <a:p>
            <a:r>
              <a:rPr lang="en-US" sz="3600" b="1" dirty="0">
                <a:solidFill>
                  <a:srgbClr val="00B050"/>
                </a:solidFill>
              </a:rPr>
              <a:t>Issue</a:t>
            </a:r>
            <a:r>
              <a:rPr lang="en-US" sz="3600" b="1" dirty="0"/>
              <a:t>: Constraints of Nepal’s Defense and Foreign Policy</a:t>
            </a:r>
          </a:p>
          <a:p>
            <a:r>
              <a:rPr lang="en-US" sz="3600" b="1" dirty="0"/>
              <a:t>Perspective: Structural Realism</a:t>
            </a:r>
          </a:p>
          <a:p>
            <a:endParaRPr lang="en-US" dirty="0"/>
          </a:p>
        </p:txBody>
      </p:sp>
    </p:spTree>
    <p:extLst>
      <p:ext uri="{BB962C8B-B14F-4D97-AF65-F5344CB8AC3E}">
        <p14:creationId xmlns:p14="http://schemas.microsoft.com/office/powerpoint/2010/main" val="1299558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CE68BF-7EDC-D880-EE46-3C89396B7C87}"/>
              </a:ext>
            </a:extLst>
          </p:cNvPr>
          <p:cNvSpPr>
            <a:spLocks noGrp="1"/>
          </p:cNvSpPr>
          <p:nvPr>
            <p:ph idx="1"/>
          </p:nvPr>
        </p:nvSpPr>
        <p:spPr>
          <a:xfrm>
            <a:off x="254833" y="509667"/>
            <a:ext cx="11347554" cy="6175946"/>
          </a:xfrm>
        </p:spPr>
        <p:txBody>
          <a:bodyPr/>
          <a:lstStyle/>
          <a:p>
            <a:r>
              <a:rPr lang="en-US" sz="3600" b="1" dirty="0">
                <a:solidFill>
                  <a:srgbClr val="C00000"/>
                </a:solidFill>
              </a:rPr>
              <a:t>Area: </a:t>
            </a:r>
            <a:r>
              <a:rPr lang="en-US" sz="3600" b="1" dirty="0"/>
              <a:t>Economy and Development</a:t>
            </a:r>
          </a:p>
          <a:p>
            <a:r>
              <a:rPr lang="en-US" sz="3600" b="1" dirty="0">
                <a:solidFill>
                  <a:srgbClr val="7030A0"/>
                </a:solidFill>
              </a:rPr>
              <a:t>Genre:</a:t>
            </a:r>
            <a:r>
              <a:rPr lang="en-US" sz="3600" b="1" dirty="0"/>
              <a:t> Political Economy</a:t>
            </a:r>
          </a:p>
          <a:p>
            <a:r>
              <a:rPr lang="en-US" sz="3600" b="1" dirty="0">
                <a:solidFill>
                  <a:srgbClr val="002060"/>
                </a:solidFill>
              </a:rPr>
              <a:t>Sub-genre:</a:t>
            </a:r>
            <a:r>
              <a:rPr lang="en-US" sz="3600" b="1" dirty="0"/>
              <a:t> International Cooperation and Connectivity</a:t>
            </a:r>
          </a:p>
          <a:p>
            <a:r>
              <a:rPr lang="en-US" sz="3600" b="1" dirty="0">
                <a:solidFill>
                  <a:srgbClr val="0070C0"/>
                </a:solidFill>
              </a:rPr>
              <a:t>Subject:</a:t>
            </a:r>
            <a:r>
              <a:rPr lang="en-US" sz="3600" b="1" dirty="0"/>
              <a:t> BRI of China</a:t>
            </a:r>
          </a:p>
          <a:p>
            <a:r>
              <a:rPr lang="en-US" sz="3600" b="1" dirty="0">
                <a:solidFill>
                  <a:srgbClr val="00B0F0"/>
                </a:solidFill>
              </a:rPr>
              <a:t>Topic:</a:t>
            </a:r>
            <a:r>
              <a:rPr lang="en-US" sz="3600" b="1" dirty="0"/>
              <a:t> Collaboration, Cooperation and Connectivity for Development</a:t>
            </a:r>
          </a:p>
          <a:p>
            <a:r>
              <a:rPr lang="en-US" sz="3600" b="1" dirty="0">
                <a:solidFill>
                  <a:srgbClr val="00B050"/>
                </a:solidFill>
              </a:rPr>
              <a:t>Issue:</a:t>
            </a:r>
            <a:r>
              <a:rPr lang="en-US" sz="3600" b="1" dirty="0"/>
              <a:t> BRI and Geo-political Conflict in Nepal</a:t>
            </a:r>
          </a:p>
          <a:p>
            <a:r>
              <a:rPr lang="en-US" sz="3600" b="1" dirty="0"/>
              <a:t>Perspective: Security and Development Studies</a:t>
            </a:r>
          </a:p>
          <a:p>
            <a:endParaRPr lang="en-US" dirty="0"/>
          </a:p>
        </p:txBody>
      </p:sp>
    </p:spTree>
    <p:extLst>
      <p:ext uri="{BB962C8B-B14F-4D97-AF65-F5344CB8AC3E}">
        <p14:creationId xmlns:p14="http://schemas.microsoft.com/office/powerpoint/2010/main" val="1857420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EAB923-829A-0F3C-8074-094E47A71223}"/>
              </a:ext>
            </a:extLst>
          </p:cNvPr>
          <p:cNvSpPr>
            <a:spLocks noGrp="1"/>
          </p:cNvSpPr>
          <p:nvPr>
            <p:ph idx="1"/>
          </p:nvPr>
        </p:nvSpPr>
        <p:spPr>
          <a:xfrm>
            <a:off x="239843" y="479685"/>
            <a:ext cx="11347554" cy="6235908"/>
          </a:xfrm>
        </p:spPr>
        <p:txBody>
          <a:bodyPr/>
          <a:lstStyle/>
          <a:p>
            <a:r>
              <a:rPr lang="en-US" sz="3600" b="1" dirty="0">
                <a:solidFill>
                  <a:srgbClr val="C00000"/>
                </a:solidFill>
              </a:rPr>
              <a:t>Area: </a:t>
            </a:r>
            <a:r>
              <a:rPr lang="en-US" sz="3600" b="1" dirty="0"/>
              <a:t>Buddhist Heritage Tourism</a:t>
            </a:r>
          </a:p>
          <a:p>
            <a:r>
              <a:rPr lang="en-US" sz="3600" b="1" dirty="0">
                <a:solidFill>
                  <a:srgbClr val="7030A0"/>
                </a:solidFill>
              </a:rPr>
              <a:t>Genre:</a:t>
            </a:r>
            <a:r>
              <a:rPr lang="en-US" sz="3600" b="1" dirty="0"/>
              <a:t> Buddhist Cultural Heritage in Nepal</a:t>
            </a:r>
          </a:p>
          <a:p>
            <a:r>
              <a:rPr lang="en-US" sz="3600" b="1" dirty="0"/>
              <a:t>Sub-genre: Lumbini. </a:t>
            </a:r>
            <a:r>
              <a:rPr lang="en-US" sz="3600" b="1" dirty="0" err="1"/>
              <a:t>Kapilbastu</a:t>
            </a:r>
            <a:r>
              <a:rPr lang="en-US" sz="3600" b="1" dirty="0"/>
              <a:t> and Peripheral Areas</a:t>
            </a:r>
          </a:p>
          <a:p>
            <a:r>
              <a:rPr lang="en-US" sz="3600" b="1" dirty="0">
                <a:solidFill>
                  <a:srgbClr val="002060"/>
                </a:solidFill>
              </a:rPr>
              <a:t>Subject:</a:t>
            </a:r>
            <a:r>
              <a:rPr lang="en-US" sz="3600" b="1" dirty="0"/>
              <a:t> Lumbini</a:t>
            </a:r>
          </a:p>
          <a:p>
            <a:r>
              <a:rPr lang="en-US" sz="3600" b="1" dirty="0">
                <a:solidFill>
                  <a:srgbClr val="00B0F0"/>
                </a:solidFill>
              </a:rPr>
              <a:t>Topic:</a:t>
            </a:r>
            <a:r>
              <a:rPr lang="en-US" sz="3600" b="1" dirty="0"/>
              <a:t> Mayadevi Temple</a:t>
            </a:r>
          </a:p>
          <a:p>
            <a:r>
              <a:rPr lang="en-US" sz="3600" b="1" dirty="0">
                <a:solidFill>
                  <a:srgbClr val="00B050"/>
                </a:solidFill>
              </a:rPr>
              <a:t>Issue:</a:t>
            </a:r>
            <a:r>
              <a:rPr lang="en-US" sz="3600" b="1" dirty="0"/>
              <a:t> Mayadevi temple, World Heritage Site and Cultural Tourism in Lumbini</a:t>
            </a:r>
          </a:p>
          <a:p>
            <a:endParaRPr lang="en-US" dirty="0"/>
          </a:p>
        </p:txBody>
      </p:sp>
    </p:spTree>
    <p:extLst>
      <p:ext uri="{BB962C8B-B14F-4D97-AF65-F5344CB8AC3E}">
        <p14:creationId xmlns:p14="http://schemas.microsoft.com/office/powerpoint/2010/main" val="3736188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3C60BF-0B5E-5B45-8A81-02907C082CBF}"/>
              </a:ext>
            </a:extLst>
          </p:cNvPr>
          <p:cNvSpPr>
            <a:spLocks noGrp="1"/>
          </p:cNvSpPr>
          <p:nvPr>
            <p:ph idx="1"/>
          </p:nvPr>
        </p:nvSpPr>
        <p:spPr>
          <a:xfrm>
            <a:off x="359764" y="434715"/>
            <a:ext cx="11392525" cy="6205928"/>
          </a:xfrm>
        </p:spPr>
        <p:txBody>
          <a:bodyPr/>
          <a:lstStyle/>
          <a:p>
            <a:r>
              <a:rPr lang="en-US" sz="3600" b="1" dirty="0">
                <a:solidFill>
                  <a:srgbClr val="C00000"/>
                </a:solidFill>
              </a:rPr>
              <a:t>Area:</a:t>
            </a:r>
            <a:r>
              <a:rPr lang="en-US" sz="3600" b="1" dirty="0"/>
              <a:t> Financial Institutions</a:t>
            </a:r>
          </a:p>
          <a:p>
            <a:r>
              <a:rPr lang="en-US" sz="3600" b="1" dirty="0">
                <a:solidFill>
                  <a:srgbClr val="7030A0"/>
                </a:solidFill>
              </a:rPr>
              <a:t>Genre:</a:t>
            </a:r>
            <a:r>
              <a:rPr lang="en-US" sz="3600" b="1" dirty="0"/>
              <a:t> Cooperative</a:t>
            </a:r>
          </a:p>
          <a:p>
            <a:r>
              <a:rPr lang="en-US" sz="3600" b="1" dirty="0">
                <a:solidFill>
                  <a:srgbClr val="002060"/>
                </a:solidFill>
              </a:rPr>
              <a:t>Subgenre: </a:t>
            </a:r>
            <a:r>
              <a:rPr lang="en-US" sz="3600" b="1" dirty="0"/>
              <a:t>Saving and credit cooperative</a:t>
            </a:r>
          </a:p>
          <a:p>
            <a:r>
              <a:rPr lang="en-US" sz="3600" b="1" dirty="0">
                <a:solidFill>
                  <a:srgbClr val="0070C0"/>
                </a:solidFill>
              </a:rPr>
              <a:t>Subject</a:t>
            </a:r>
            <a:r>
              <a:rPr lang="en-US" sz="3600" b="1" dirty="0"/>
              <a:t>: Cooperatives of  </a:t>
            </a:r>
            <a:r>
              <a:rPr lang="en-US" sz="3600" b="1" dirty="0" err="1"/>
              <a:t>Baglung</a:t>
            </a:r>
            <a:endParaRPr lang="en-US" sz="3600" b="1" dirty="0"/>
          </a:p>
          <a:p>
            <a:r>
              <a:rPr lang="en-US" sz="3600" b="1" dirty="0">
                <a:solidFill>
                  <a:srgbClr val="00B0F0"/>
                </a:solidFill>
              </a:rPr>
              <a:t>Topic: </a:t>
            </a:r>
            <a:r>
              <a:rPr lang="en-US" sz="3600" b="1" dirty="0"/>
              <a:t>Cooperatives run by women</a:t>
            </a:r>
          </a:p>
          <a:p>
            <a:r>
              <a:rPr lang="en-US" sz="3600" b="1" dirty="0">
                <a:solidFill>
                  <a:srgbClr val="00B050"/>
                </a:solidFill>
              </a:rPr>
              <a:t>Issue:</a:t>
            </a:r>
            <a:r>
              <a:rPr lang="en-US" sz="3600" b="1" dirty="0"/>
              <a:t> Impact of cooperatives in women empowerment</a:t>
            </a:r>
          </a:p>
          <a:p>
            <a:r>
              <a:rPr lang="en-US" sz="3600" b="1" dirty="0"/>
              <a:t>Title: Impact of cooperatives in women empowerment in </a:t>
            </a:r>
            <a:r>
              <a:rPr lang="en-US" sz="3600" b="1" dirty="0" err="1"/>
              <a:t>Baglung</a:t>
            </a:r>
            <a:r>
              <a:rPr lang="en-US" sz="3600" b="1" dirty="0"/>
              <a:t> district</a:t>
            </a:r>
          </a:p>
          <a:p>
            <a:endParaRPr lang="en-US" dirty="0"/>
          </a:p>
        </p:txBody>
      </p:sp>
    </p:spTree>
    <p:extLst>
      <p:ext uri="{BB962C8B-B14F-4D97-AF65-F5344CB8AC3E}">
        <p14:creationId xmlns:p14="http://schemas.microsoft.com/office/powerpoint/2010/main" val="1475652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2D0D96-B62D-C2D4-F3AD-588880718A6D}"/>
              </a:ext>
            </a:extLst>
          </p:cNvPr>
          <p:cNvSpPr>
            <a:spLocks noGrp="1"/>
          </p:cNvSpPr>
          <p:nvPr>
            <p:ph idx="1"/>
          </p:nvPr>
        </p:nvSpPr>
        <p:spPr>
          <a:xfrm>
            <a:off x="164892" y="299803"/>
            <a:ext cx="11422505" cy="6558197"/>
          </a:xfrm>
        </p:spPr>
        <p:txBody>
          <a:bodyPr/>
          <a:lstStyle/>
          <a:p>
            <a:r>
              <a:rPr lang="en-US" sz="3600" b="1" dirty="0"/>
              <a:t>Area: Marketing</a:t>
            </a:r>
          </a:p>
          <a:p>
            <a:r>
              <a:rPr lang="en-US" sz="3600" b="1" dirty="0"/>
              <a:t>Genre: Digital marketing</a:t>
            </a:r>
          </a:p>
          <a:p>
            <a:r>
              <a:rPr lang="en-US" sz="3600" b="1" dirty="0"/>
              <a:t>Subgenre: Services and Goods</a:t>
            </a:r>
          </a:p>
          <a:p>
            <a:r>
              <a:rPr lang="en-US" sz="3600" b="1" dirty="0"/>
              <a:t>Subject:   Automobiles</a:t>
            </a:r>
          </a:p>
          <a:p>
            <a:r>
              <a:rPr lang="en-US" sz="3600" b="1" dirty="0"/>
              <a:t>Topic: Sale of Luxury Cars in Kathmandu Valley</a:t>
            </a:r>
          </a:p>
          <a:p>
            <a:r>
              <a:rPr lang="en-US" sz="3600" b="1" dirty="0"/>
              <a:t>Issue: Impact of Digital Marketing in the Sale of Luxury Cars in Kathmandu Valley</a:t>
            </a:r>
          </a:p>
          <a:p>
            <a:endParaRPr lang="en-US" dirty="0"/>
          </a:p>
        </p:txBody>
      </p:sp>
    </p:spTree>
    <p:extLst>
      <p:ext uri="{BB962C8B-B14F-4D97-AF65-F5344CB8AC3E}">
        <p14:creationId xmlns:p14="http://schemas.microsoft.com/office/powerpoint/2010/main" val="3245679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66173B-DFDC-4DF7-8979-0E6E0F068DD6}"/>
              </a:ext>
            </a:extLst>
          </p:cNvPr>
          <p:cNvSpPr>
            <a:spLocks noGrp="1"/>
          </p:cNvSpPr>
          <p:nvPr>
            <p:ph idx="1"/>
          </p:nvPr>
        </p:nvSpPr>
        <p:spPr>
          <a:xfrm>
            <a:off x="534573" y="604911"/>
            <a:ext cx="11141612" cy="5852160"/>
          </a:xfrm>
        </p:spPr>
        <p:txBody>
          <a:bodyPr>
            <a:normAutofit/>
          </a:bodyPr>
          <a:lstStyle/>
          <a:p>
            <a:r>
              <a:rPr lang="en-US" sz="3200" b="1" dirty="0">
                <a:solidFill>
                  <a:srgbClr val="7030A0"/>
                </a:solidFill>
              </a:rPr>
              <a:t>Area</a:t>
            </a:r>
            <a:r>
              <a:rPr lang="en-US" sz="3200" b="1" dirty="0"/>
              <a:t>: Settlement Studies</a:t>
            </a:r>
          </a:p>
          <a:p>
            <a:r>
              <a:rPr lang="en-US" sz="3200" b="1" dirty="0">
                <a:solidFill>
                  <a:srgbClr val="002060"/>
                </a:solidFill>
              </a:rPr>
              <a:t>Genre:</a:t>
            </a:r>
            <a:r>
              <a:rPr lang="en-US" sz="3200" b="1" dirty="0"/>
              <a:t> Settlement study of ancient cite</a:t>
            </a:r>
          </a:p>
          <a:p>
            <a:r>
              <a:rPr lang="en-US" sz="3200" b="1" dirty="0">
                <a:solidFill>
                  <a:srgbClr val="0070C0"/>
                </a:solidFill>
              </a:rPr>
              <a:t>Sub-Genre:</a:t>
            </a:r>
            <a:r>
              <a:rPr lang="en-US" sz="3200" b="1" dirty="0"/>
              <a:t> Change in settlement morphology</a:t>
            </a:r>
          </a:p>
          <a:p>
            <a:r>
              <a:rPr lang="en-US" sz="3200" b="1" dirty="0"/>
              <a:t>Subject: Evolution of an ancient to modern sub-urban settlement</a:t>
            </a:r>
          </a:p>
          <a:p>
            <a:r>
              <a:rPr lang="en-US" sz="3200" b="1" dirty="0">
                <a:solidFill>
                  <a:srgbClr val="FF0000"/>
                </a:solidFill>
              </a:rPr>
              <a:t>Topic:</a:t>
            </a:r>
            <a:r>
              <a:rPr lang="en-US" sz="3200" b="1" dirty="0"/>
              <a:t> Spatial transformation of ancient settlement of </a:t>
            </a:r>
            <a:r>
              <a:rPr lang="en-US" sz="3200" b="1" dirty="0" err="1"/>
              <a:t>Gokarna</a:t>
            </a:r>
            <a:r>
              <a:rPr lang="en-US" sz="3200" b="1" dirty="0"/>
              <a:t>, Kathmandu</a:t>
            </a:r>
          </a:p>
          <a:p>
            <a:r>
              <a:rPr lang="en-US" sz="3200" b="1" dirty="0">
                <a:solidFill>
                  <a:srgbClr val="00B050"/>
                </a:solidFill>
              </a:rPr>
              <a:t>Issue:</a:t>
            </a:r>
            <a:r>
              <a:rPr lang="en-US" sz="3200" b="1" dirty="0"/>
              <a:t>  Layered Landscape and urban expansion in </a:t>
            </a:r>
            <a:r>
              <a:rPr lang="en-US" sz="3200" b="1" dirty="0" err="1"/>
              <a:t>Gokarna</a:t>
            </a:r>
            <a:endParaRPr lang="en-US" sz="3200" b="1" dirty="0"/>
          </a:p>
          <a:p>
            <a:r>
              <a:rPr lang="en-US" sz="3200" b="1" dirty="0">
                <a:solidFill>
                  <a:srgbClr val="C00000"/>
                </a:solidFill>
              </a:rPr>
              <a:t>Perspective</a:t>
            </a:r>
            <a:r>
              <a:rPr lang="en-US" sz="3200" b="1" dirty="0"/>
              <a:t>:  Settlement Morphology</a:t>
            </a:r>
          </a:p>
        </p:txBody>
      </p:sp>
    </p:spTree>
    <p:extLst>
      <p:ext uri="{BB962C8B-B14F-4D97-AF65-F5344CB8AC3E}">
        <p14:creationId xmlns:p14="http://schemas.microsoft.com/office/powerpoint/2010/main" val="1024331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3DF884-7C70-4799-B629-85C33AF72E7C}"/>
              </a:ext>
            </a:extLst>
          </p:cNvPr>
          <p:cNvSpPr>
            <a:spLocks noGrp="1"/>
          </p:cNvSpPr>
          <p:nvPr>
            <p:ph idx="1"/>
          </p:nvPr>
        </p:nvSpPr>
        <p:spPr>
          <a:xfrm>
            <a:off x="267286" y="548640"/>
            <a:ext cx="11676185" cy="5767753"/>
          </a:xfrm>
        </p:spPr>
        <p:txBody>
          <a:bodyPr/>
          <a:lstStyle/>
          <a:p>
            <a:r>
              <a:rPr lang="hi-IN" sz="3200" b="1" dirty="0">
                <a:solidFill>
                  <a:srgbClr val="C00000"/>
                </a:solidFill>
              </a:rPr>
              <a:t>अध्ययन क्षेत्र:</a:t>
            </a:r>
            <a:r>
              <a:rPr lang="hi-IN" sz="3200" b="1" dirty="0"/>
              <a:t> उत्तर आधुनिक साहित्य</a:t>
            </a:r>
          </a:p>
          <a:p>
            <a:r>
              <a:rPr lang="hi-IN" sz="3200" b="1" dirty="0">
                <a:solidFill>
                  <a:srgbClr val="7030A0"/>
                </a:solidFill>
              </a:rPr>
              <a:t>बिधा:</a:t>
            </a:r>
            <a:r>
              <a:rPr lang="hi-IN" sz="3200" b="1" dirty="0"/>
              <a:t> उपन्यास</a:t>
            </a:r>
          </a:p>
          <a:p>
            <a:r>
              <a:rPr lang="hi-IN" sz="3200" b="1" dirty="0">
                <a:solidFill>
                  <a:srgbClr val="002060"/>
                </a:solidFill>
              </a:rPr>
              <a:t>उप बिधा</a:t>
            </a:r>
            <a:r>
              <a:rPr lang="hi-IN" sz="3200" b="1" dirty="0"/>
              <a:t>: प्रवासी मजदुरका बारेमा लेखिएका उपन्यास</a:t>
            </a:r>
          </a:p>
          <a:p>
            <a:r>
              <a:rPr lang="hi-IN" sz="3200" b="1" dirty="0">
                <a:solidFill>
                  <a:srgbClr val="0070C0"/>
                </a:solidFill>
              </a:rPr>
              <a:t>शिर्षक:</a:t>
            </a:r>
            <a:r>
              <a:rPr lang="hi-IN" sz="3200" b="1" dirty="0"/>
              <a:t> अखण्ड भण्डारी, उमा सुवेदी</a:t>
            </a:r>
          </a:p>
          <a:p>
            <a:r>
              <a:rPr lang="hi-IN" sz="3200" b="1" dirty="0">
                <a:solidFill>
                  <a:srgbClr val="00B050"/>
                </a:solidFill>
              </a:rPr>
              <a:t>रचना:</a:t>
            </a:r>
            <a:r>
              <a:rPr lang="hi-IN" sz="3200" b="1" dirty="0"/>
              <a:t> मलाया एक्सप्रेस, तोदा</a:t>
            </a:r>
          </a:p>
          <a:p>
            <a:r>
              <a:rPr lang="hi-IN" sz="3200" b="1" dirty="0">
                <a:solidFill>
                  <a:srgbClr val="C00000"/>
                </a:solidFill>
              </a:rPr>
              <a:t>सवाल:</a:t>
            </a:r>
            <a:r>
              <a:rPr lang="hi-IN" sz="3200" b="1" dirty="0"/>
              <a:t> बेचैनी र सास्कृतिक अन्तरघुलनको समस्या</a:t>
            </a:r>
          </a:p>
          <a:p>
            <a:r>
              <a:rPr lang="hi-IN" sz="3200" b="1" dirty="0">
                <a:solidFill>
                  <a:srgbClr val="00B050"/>
                </a:solidFill>
              </a:rPr>
              <a:t>सैद्धान्तिक दृष्ट्रिकोण: </a:t>
            </a:r>
            <a:r>
              <a:rPr lang="hi-IN" sz="3200" b="1" dirty="0"/>
              <a:t>आप्रवासी श्रम अध्ययन</a:t>
            </a:r>
          </a:p>
          <a:p>
            <a:endParaRPr lang="en-US" dirty="0"/>
          </a:p>
        </p:txBody>
      </p:sp>
    </p:spTree>
    <p:extLst>
      <p:ext uri="{BB962C8B-B14F-4D97-AF65-F5344CB8AC3E}">
        <p14:creationId xmlns:p14="http://schemas.microsoft.com/office/powerpoint/2010/main" val="3150466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A26E40-CA05-4EE6-A166-7B3E2B225906}"/>
              </a:ext>
            </a:extLst>
          </p:cNvPr>
          <p:cNvSpPr>
            <a:spLocks noGrp="1"/>
          </p:cNvSpPr>
          <p:nvPr>
            <p:ph idx="1"/>
          </p:nvPr>
        </p:nvSpPr>
        <p:spPr>
          <a:xfrm>
            <a:off x="112542" y="450167"/>
            <a:ext cx="11873131" cy="6077242"/>
          </a:xfrm>
        </p:spPr>
        <p:txBody>
          <a:bodyPr/>
          <a:lstStyle/>
          <a:p>
            <a:r>
              <a:rPr lang="hi-IN" sz="3200" b="1" dirty="0">
                <a:solidFill>
                  <a:srgbClr val="C00000"/>
                </a:solidFill>
              </a:rPr>
              <a:t>अध्ययन क्षेत्र: </a:t>
            </a:r>
            <a:r>
              <a:rPr lang="hi-IN" sz="3200" b="1" dirty="0"/>
              <a:t>नेपाली पर्यावरण साहित्य</a:t>
            </a:r>
          </a:p>
          <a:p>
            <a:r>
              <a:rPr lang="hi-IN" sz="3200" b="1" dirty="0">
                <a:solidFill>
                  <a:srgbClr val="7030A0"/>
                </a:solidFill>
              </a:rPr>
              <a:t>बिधा: </a:t>
            </a:r>
            <a:r>
              <a:rPr lang="hi-IN" sz="3200" b="1" dirty="0"/>
              <a:t>कविता</a:t>
            </a:r>
          </a:p>
          <a:p>
            <a:r>
              <a:rPr lang="hi-IN" sz="3200" b="1" dirty="0">
                <a:solidFill>
                  <a:srgbClr val="002060"/>
                </a:solidFill>
              </a:rPr>
              <a:t>उप बिधा</a:t>
            </a:r>
            <a:r>
              <a:rPr lang="hi-IN" sz="3200" b="1" dirty="0"/>
              <a:t>: नेपाली पर्यावरण कविता</a:t>
            </a:r>
          </a:p>
          <a:p>
            <a:r>
              <a:rPr lang="hi-IN" sz="3200" b="1" dirty="0">
                <a:solidFill>
                  <a:srgbClr val="0070C0"/>
                </a:solidFill>
              </a:rPr>
              <a:t>बिषय:</a:t>
            </a:r>
            <a:r>
              <a:rPr lang="hi-IN" sz="3200" b="1" dirty="0"/>
              <a:t> लेखनाथ पौडेल</a:t>
            </a:r>
          </a:p>
          <a:p>
            <a:r>
              <a:rPr lang="hi-IN" sz="3200" b="1" dirty="0">
                <a:solidFill>
                  <a:srgbClr val="00B0F0"/>
                </a:solidFill>
              </a:rPr>
              <a:t>रचना:</a:t>
            </a:r>
            <a:r>
              <a:rPr lang="hi-IN" sz="3200" b="1" dirty="0"/>
              <a:t> तरूण तपसी</a:t>
            </a:r>
          </a:p>
          <a:p>
            <a:r>
              <a:rPr lang="hi-IN" sz="3200" b="1" dirty="0">
                <a:solidFill>
                  <a:srgbClr val="00B050"/>
                </a:solidFill>
              </a:rPr>
              <a:t>सवाल:</a:t>
            </a:r>
            <a:r>
              <a:rPr lang="hi-IN" sz="3200" b="1" dirty="0"/>
              <a:t> मानव र मानवेतर जगतको अन्तरसम्बन्ध</a:t>
            </a:r>
          </a:p>
          <a:p>
            <a:r>
              <a:rPr lang="hi-IN" sz="3200" b="1" dirty="0"/>
              <a:t>सैद्धान्तिक दृष्ट्रिकोण: पर्यावरण साहित्य सिद्धान्त</a:t>
            </a:r>
          </a:p>
          <a:p>
            <a:endParaRPr lang="en-US" dirty="0"/>
          </a:p>
        </p:txBody>
      </p:sp>
    </p:spTree>
    <p:extLst>
      <p:ext uri="{BB962C8B-B14F-4D97-AF65-F5344CB8AC3E}">
        <p14:creationId xmlns:p14="http://schemas.microsoft.com/office/powerpoint/2010/main" val="1536955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5B8A9-612B-4502-8588-406546D565B8}"/>
              </a:ext>
            </a:extLst>
          </p:cNvPr>
          <p:cNvSpPr>
            <a:spLocks noGrp="1"/>
          </p:cNvSpPr>
          <p:nvPr>
            <p:ph type="title"/>
          </p:nvPr>
        </p:nvSpPr>
        <p:spPr>
          <a:xfrm>
            <a:off x="1158864" y="102021"/>
            <a:ext cx="9779183" cy="1107801"/>
          </a:xfrm>
        </p:spPr>
        <p:txBody>
          <a:bodyPr/>
          <a:lstStyle/>
          <a:p>
            <a:pPr algn="ctr"/>
            <a:r>
              <a:rPr lang="en-US" dirty="0">
                <a:solidFill>
                  <a:srgbClr val="00B050"/>
                </a:solidFill>
              </a:rPr>
              <a:t>Writing Paragraph</a:t>
            </a:r>
          </a:p>
        </p:txBody>
      </p:sp>
      <p:sp>
        <p:nvSpPr>
          <p:cNvPr id="3" name="Content Placeholder 2">
            <a:extLst>
              <a:ext uri="{FF2B5EF4-FFF2-40B4-BE49-F238E27FC236}">
                <a16:creationId xmlns:a16="http://schemas.microsoft.com/office/drawing/2014/main" id="{A32C9312-9255-4916-85B6-353D3AE64281}"/>
              </a:ext>
            </a:extLst>
          </p:cNvPr>
          <p:cNvSpPr>
            <a:spLocks noGrp="1"/>
          </p:cNvSpPr>
          <p:nvPr>
            <p:ph idx="1"/>
          </p:nvPr>
        </p:nvSpPr>
        <p:spPr>
          <a:xfrm>
            <a:off x="295422" y="1420837"/>
            <a:ext cx="11324492" cy="4656406"/>
          </a:xfrm>
        </p:spPr>
        <p:txBody>
          <a:bodyPr/>
          <a:lstStyle/>
          <a:p>
            <a:pPr marL="457200" indent="-457200">
              <a:buFont typeface="Wingdings" panose="05000000000000000000" pitchFamily="2" charset="2"/>
              <a:buChar char="q"/>
            </a:pPr>
            <a:r>
              <a:rPr lang="en-US" sz="3600" b="1" dirty="0"/>
              <a:t>Topic Sentence (Topic, the idea or opinion that is being said, discussed or explained)</a:t>
            </a:r>
          </a:p>
          <a:p>
            <a:pPr marL="457200" indent="-457200">
              <a:buFont typeface="Wingdings" panose="05000000000000000000" pitchFamily="2" charset="2"/>
              <a:buChar char="q"/>
            </a:pPr>
            <a:r>
              <a:rPr lang="en-US" sz="3600" b="1" dirty="0"/>
              <a:t>Body of the paragraph (Support for topic, SAFEER)</a:t>
            </a:r>
          </a:p>
          <a:p>
            <a:pPr marL="457200" indent="-457200">
              <a:buFont typeface="Wingdings" panose="05000000000000000000" pitchFamily="2" charset="2"/>
              <a:buChar char="q"/>
            </a:pPr>
            <a:r>
              <a:rPr lang="en-US" sz="3600" b="1" dirty="0"/>
              <a:t>Concluding sentence (Restatement of the topic)</a:t>
            </a:r>
          </a:p>
          <a:p>
            <a:endParaRPr lang="en-US" dirty="0"/>
          </a:p>
          <a:p>
            <a:endParaRPr lang="en-US" dirty="0"/>
          </a:p>
        </p:txBody>
      </p:sp>
    </p:spTree>
    <p:extLst>
      <p:ext uri="{BB962C8B-B14F-4D97-AF65-F5344CB8AC3E}">
        <p14:creationId xmlns:p14="http://schemas.microsoft.com/office/powerpoint/2010/main" val="979357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A13EC-1525-4687-AAAC-9A0469A37BD9}"/>
              </a:ext>
            </a:extLst>
          </p:cNvPr>
          <p:cNvSpPr>
            <a:spLocks noGrp="1"/>
          </p:cNvSpPr>
          <p:nvPr>
            <p:ph type="title"/>
          </p:nvPr>
        </p:nvSpPr>
        <p:spPr>
          <a:xfrm>
            <a:off x="1158864" y="102021"/>
            <a:ext cx="9779183" cy="1371697"/>
          </a:xfrm>
        </p:spPr>
        <p:txBody>
          <a:bodyPr/>
          <a:lstStyle/>
          <a:p>
            <a:pPr algn="ctr"/>
            <a:r>
              <a:rPr lang="en-US" dirty="0">
                <a:solidFill>
                  <a:srgbClr val="00B050"/>
                </a:solidFill>
              </a:rPr>
              <a:t>Topic Sentence</a:t>
            </a:r>
          </a:p>
        </p:txBody>
      </p:sp>
      <p:sp>
        <p:nvSpPr>
          <p:cNvPr id="3" name="Content Placeholder 2">
            <a:extLst>
              <a:ext uri="{FF2B5EF4-FFF2-40B4-BE49-F238E27FC236}">
                <a16:creationId xmlns:a16="http://schemas.microsoft.com/office/drawing/2014/main" id="{AF92506C-2DBA-482E-8B66-0E8FBC97C062}"/>
              </a:ext>
            </a:extLst>
          </p:cNvPr>
          <p:cNvSpPr>
            <a:spLocks noGrp="1"/>
          </p:cNvSpPr>
          <p:nvPr>
            <p:ph idx="1"/>
          </p:nvPr>
        </p:nvSpPr>
        <p:spPr>
          <a:xfrm>
            <a:off x="1158865" y="1473719"/>
            <a:ext cx="9779182" cy="3910564"/>
          </a:xfrm>
        </p:spPr>
        <p:txBody>
          <a:bodyPr>
            <a:normAutofit lnSpcReduction="10000"/>
          </a:bodyPr>
          <a:lstStyle/>
          <a:p>
            <a:pPr marL="457200" indent="-457200">
              <a:buFont typeface="Wingdings" panose="05000000000000000000" pitchFamily="2" charset="2"/>
              <a:buChar char="q"/>
            </a:pPr>
            <a:r>
              <a:rPr lang="en-US" sz="3600" b="1" dirty="0">
                <a:solidFill>
                  <a:srgbClr val="C00000"/>
                </a:solidFill>
              </a:rPr>
              <a:t>Topic itself</a:t>
            </a:r>
          </a:p>
          <a:p>
            <a:pPr marL="514350" indent="-514350">
              <a:buFont typeface="Wingdings" panose="05000000000000000000" pitchFamily="2" charset="2"/>
              <a:buChar char="q"/>
            </a:pPr>
            <a:r>
              <a:rPr lang="en-US" sz="3600" b="1" dirty="0">
                <a:solidFill>
                  <a:srgbClr val="00B050"/>
                </a:solidFill>
              </a:rPr>
              <a:t>Controlling idea</a:t>
            </a:r>
          </a:p>
          <a:p>
            <a:r>
              <a:rPr lang="en-US" sz="3600" b="1" dirty="0"/>
              <a:t>For example:</a:t>
            </a:r>
          </a:p>
          <a:p>
            <a:pPr marL="457200" indent="-457200">
              <a:buFont typeface="Wingdings" panose="05000000000000000000" pitchFamily="2" charset="2"/>
              <a:buChar char="q"/>
            </a:pPr>
            <a:r>
              <a:rPr lang="en-US" sz="3600" b="1" dirty="0">
                <a:solidFill>
                  <a:srgbClr val="C00000"/>
                </a:solidFill>
              </a:rPr>
              <a:t>Successful people </a:t>
            </a:r>
            <a:r>
              <a:rPr lang="en-US" sz="3600" b="1" dirty="0"/>
              <a:t>have </a:t>
            </a:r>
            <a:r>
              <a:rPr lang="en-US" sz="3600" b="1" dirty="0">
                <a:solidFill>
                  <a:srgbClr val="00B050"/>
                </a:solidFill>
              </a:rPr>
              <a:t>three common qualities</a:t>
            </a:r>
            <a:r>
              <a:rPr lang="en-US" sz="3600" b="1" dirty="0"/>
              <a:t>. </a:t>
            </a:r>
          </a:p>
          <a:p>
            <a:pPr marL="457200" indent="-457200">
              <a:buFont typeface="Wingdings" panose="05000000000000000000" pitchFamily="2" charset="2"/>
              <a:buChar char="q"/>
            </a:pPr>
            <a:r>
              <a:rPr lang="en-US" sz="3600" b="1" dirty="0"/>
              <a:t>There are </a:t>
            </a:r>
            <a:r>
              <a:rPr lang="en-US" sz="3600" b="1" dirty="0">
                <a:solidFill>
                  <a:srgbClr val="00B050"/>
                </a:solidFill>
              </a:rPr>
              <a:t>three waves or great  advances </a:t>
            </a:r>
            <a:r>
              <a:rPr lang="en-US" sz="3600" b="1" dirty="0"/>
              <a:t>of </a:t>
            </a:r>
            <a:r>
              <a:rPr lang="en-US" sz="3600" b="1" dirty="0">
                <a:solidFill>
                  <a:srgbClr val="C00000"/>
                </a:solidFill>
              </a:rPr>
              <a:t>human history</a:t>
            </a:r>
            <a:r>
              <a:rPr lang="en-US" sz="3600" b="1" dirty="0"/>
              <a:t>. </a:t>
            </a:r>
          </a:p>
          <a:p>
            <a:pPr marL="457200" indent="-457200">
              <a:buFont typeface="Wingdings" panose="05000000000000000000" pitchFamily="2" charset="2"/>
              <a:buChar char="q"/>
            </a:pPr>
            <a:r>
              <a:rPr lang="en-US" sz="3600" b="1" dirty="0">
                <a:solidFill>
                  <a:srgbClr val="C00000"/>
                </a:solidFill>
              </a:rPr>
              <a:t>University education </a:t>
            </a:r>
            <a:r>
              <a:rPr lang="en-US" sz="3600" b="1" dirty="0"/>
              <a:t>widens </a:t>
            </a:r>
            <a:r>
              <a:rPr lang="en-US" sz="3600" b="1" dirty="0">
                <a:solidFill>
                  <a:srgbClr val="00B050"/>
                </a:solidFill>
              </a:rPr>
              <a:t>social horizon</a:t>
            </a:r>
            <a:r>
              <a:rPr lang="en-US" sz="3600" b="1" dirty="0"/>
              <a:t>. </a:t>
            </a:r>
          </a:p>
          <a:p>
            <a:endParaRPr lang="en-US" dirty="0"/>
          </a:p>
        </p:txBody>
      </p:sp>
    </p:spTree>
    <p:extLst>
      <p:ext uri="{BB962C8B-B14F-4D97-AF65-F5344CB8AC3E}">
        <p14:creationId xmlns:p14="http://schemas.microsoft.com/office/powerpoint/2010/main" val="3787844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0DA2E2-AA82-42FF-BF52-1C63F6A82186}"/>
              </a:ext>
            </a:extLst>
          </p:cNvPr>
          <p:cNvSpPr>
            <a:spLocks noGrp="1"/>
          </p:cNvSpPr>
          <p:nvPr>
            <p:ph idx="1"/>
          </p:nvPr>
        </p:nvSpPr>
        <p:spPr>
          <a:xfrm>
            <a:off x="140677" y="576775"/>
            <a:ext cx="11591778" cy="5416062"/>
          </a:xfrm>
        </p:spPr>
        <p:txBody>
          <a:bodyPr>
            <a:normAutofit/>
          </a:bodyPr>
          <a:lstStyle/>
          <a:p>
            <a:r>
              <a:rPr lang="en-US" sz="3200" b="1" dirty="0"/>
              <a:t>Successful people share </a:t>
            </a:r>
            <a:r>
              <a:rPr lang="en-US" sz="3200" b="1" dirty="0">
                <a:solidFill>
                  <a:srgbClr val="00B050"/>
                </a:solidFill>
              </a:rPr>
              <a:t>three common qualities</a:t>
            </a:r>
            <a:r>
              <a:rPr lang="en-US" sz="3200" b="1" dirty="0"/>
              <a:t>. First, people who are successful are </a:t>
            </a:r>
            <a:r>
              <a:rPr lang="en-US" sz="3200" b="1" dirty="0">
                <a:solidFill>
                  <a:srgbClr val="0070C0"/>
                </a:solidFill>
              </a:rPr>
              <a:t>organized.</a:t>
            </a:r>
            <a:r>
              <a:rPr lang="en-US" sz="3200" b="1" dirty="0"/>
              <a:t> They do not waste time and they work in ways that maximize their efficiency. They also work longer hours. Second, they are </a:t>
            </a:r>
            <a:r>
              <a:rPr lang="en-US" sz="3200" b="1" dirty="0">
                <a:solidFill>
                  <a:srgbClr val="0070C0"/>
                </a:solidFill>
              </a:rPr>
              <a:t>focused and single minded</a:t>
            </a:r>
            <a:r>
              <a:rPr lang="en-US" sz="3200" b="1" dirty="0"/>
              <a:t>. They can see where they want to go and only do the things that will get them there. For example, when they are working on something, they do not get lost in the details or overwhelmed by the tasks they need to do. Finally, people who are successful must be </a:t>
            </a:r>
            <a:r>
              <a:rPr lang="en-US" sz="3200" b="1" dirty="0">
                <a:solidFill>
                  <a:srgbClr val="0070C0"/>
                </a:solidFill>
              </a:rPr>
              <a:t>able to set and accomplish goals. </a:t>
            </a:r>
            <a:r>
              <a:rPr lang="en-US" sz="3200" b="1" dirty="0"/>
              <a:t>Not many people succeed without these qualities. Therefore, successful people are </a:t>
            </a:r>
            <a:r>
              <a:rPr lang="en-US" sz="3200" b="1" dirty="0">
                <a:solidFill>
                  <a:srgbClr val="FF0000"/>
                </a:solidFill>
              </a:rPr>
              <a:t>organized, focused and goal-oriented.</a:t>
            </a:r>
          </a:p>
        </p:txBody>
      </p:sp>
    </p:spTree>
    <p:extLst>
      <p:ext uri="{BB962C8B-B14F-4D97-AF65-F5344CB8AC3E}">
        <p14:creationId xmlns:p14="http://schemas.microsoft.com/office/powerpoint/2010/main" val="80693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FA3200-D386-4163-BA40-46B084659126}"/>
              </a:ext>
            </a:extLst>
          </p:cNvPr>
          <p:cNvSpPr>
            <a:spLocks noGrp="1"/>
          </p:cNvSpPr>
          <p:nvPr>
            <p:ph idx="1"/>
          </p:nvPr>
        </p:nvSpPr>
        <p:spPr>
          <a:xfrm>
            <a:off x="548639" y="337626"/>
            <a:ext cx="11029072" cy="5834448"/>
          </a:xfrm>
        </p:spPr>
        <p:txBody>
          <a:bodyPr>
            <a:normAutofit lnSpcReduction="10000"/>
          </a:bodyPr>
          <a:lstStyle/>
          <a:p>
            <a:r>
              <a:rPr lang="en-US" sz="3600" b="1" dirty="0"/>
              <a:t>There are </a:t>
            </a:r>
            <a:r>
              <a:rPr lang="en-US" sz="3600" b="1" dirty="0">
                <a:solidFill>
                  <a:srgbClr val="00B050"/>
                </a:solidFill>
              </a:rPr>
              <a:t>three waves or great advances </a:t>
            </a:r>
            <a:r>
              <a:rPr lang="en-US" sz="3600" b="1" dirty="0"/>
              <a:t>of </a:t>
            </a:r>
            <a:r>
              <a:rPr lang="en-US" sz="3600" b="1" dirty="0">
                <a:solidFill>
                  <a:srgbClr val="C00000"/>
                </a:solidFill>
              </a:rPr>
              <a:t>human civilization</a:t>
            </a:r>
            <a:r>
              <a:rPr lang="en-US" sz="3600" b="1" dirty="0"/>
              <a:t>. The first wave depends on human and animal muscle. It is called </a:t>
            </a:r>
            <a:r>
              <a:rPr lang="en-US" sz="3600" b="1" dirty="0">
                <a:solidFill>
                  <a:srgbClr val="0070C0"/>
                </a:solidFill>
              </a:rPr>
              <a:t>Agricultural Revolution</a:t>
            </a:r>
            <a:r>
              <a:rPr lang="en-US" sz="3600" b="1" dirty="0"/>
              <a:t>. The second wave the expression of machine muscle or </a:t>
            </a:r>
            <a:r>
              <a:rPr lang="en-US" sz="3600" b="1" dirty="0">
                <a:solidFill>
                  <a:srgbClr val="0070C0"/>
                </a:solidFill>
              </a:rPr>
              <a:t>Industrial Revolution</a:t>
            </a:r>
            <a:r>
              <a:rPr lang="en-US" sz="3600" b="1" dirty="0"/>
              <a:t>. It introduces different wonderful innovations and discovery.  The third not on human and animal or machine muscle but on mind. It is what we call age of </a:t>
            </a:r>
            <a:r>
              <a:rPr lang="en-US" sz="3600" b="1" dirty="0">
                <a:solidFill>
                  <a:srgbClr val="0070C0"/>
                </a:solidFill>
              </a:rPr>
              <a:t>Computer and Information Technology</a:t>
            </a:r>
            <a:r>
              <a:rPr lang="en-US" sz="3600" b="1" dirty="0"/>
              <a:t>. After facing these waves or great advances of human civilization, now we are in the era where the world has become like a </a:t>
            </a:r>
            <a:r>
              <a:rPr lang="en-US" sz="3600" b="1" dirty="0">
                <a:solidFill>
                  <a:srgbClr val="C00000"/>
                </a:solidFill>
              </a:rPr>
              <a:t>small village, popularly known as global village. </a:t>
            </a:r>
          </a:p>
          <a:p>
            <a:endParaRPr lang="en-US" dirty="0"/>
          </a:p>
        </p:txBody>
      </p:sp>
    </p:spTree>
    <p:extLst>
      <p:ext uri="{BB962C8B-B14F-4D97-AF65-F5344CB8AC3E}">
        <p14:creationId xmlns:p14="http://schemas.microsoft.com/office/powerpoint/2010/main" val="3153145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966E9-3AE3-44E1-A261-B91FE0555E81}"/>
              </a:ext>
            </a:extLst>
          </p:cNvPr>
          <p:cNvSpPr>
            <a:spLocks noGrp="1"/>
          </p:cNvSpPr>
          <p:nvPr>
            <p:ph type="title"/>
          </p:nvPr>
        </p:nvSpPr>
        <p:spPr>
          <a:xfrm>
            <a:off x="1167618" y="112542"/>
            <a:ext cx="9770429" cy="970670"/>
          </a:xfrm>
        </p:spPr>
        <p:txBody>
          <a:bodyPr/>
          <a:lstStyle/>
          <a:p>
            <a:pPr algn="ctr"/>
            <a:r>
              <a:rPr lang="en-US" dirty="0">
                <a:solidFill>
                  <a:srgbClr val="00B050"/>
                </a:solidFill>
              </a:rPr>
              <a:t>References</a:t>
            </a:r>
          </a:p>
        </p:txBody>
      </p:sp>
      <p:sp>
        <p:nvSpPr>
          <p:cNvPr id="3" name="Content Placeholder 2">
            <a:extLst>
              <a:ext uri="{FF2B5EF4-FFF2-40B4-BE49-F238E27FC236}">
                <a16:creationId xmlns:a16="http://schemas.microsoft.com/office/drawing/2014/main" id="{86B70D7B-DDB2-41BC-930C-16865E4CA2DD}"/>
              </a:ext>
            </a:extLst>
          </p:cNvPr>
          <p:cNvSpPr>
            <a:spLocks noGrp="1"/>
          </p:cNvSpPr>
          <p:nvPr>
            <p:ph idx="1"/>
          </p:nvPr>
        </p:nvSpPr>
        <p:spPr>
          <a:xfrm>
            <a:off x="478302" y="1223889"/>
            <a:ext cx="11465169" cy="5176911"/>
          </a:xfrm>
        </p:spPr>
        <p:txBody>
          <a:bodyPr/>
          <a:lstStyle/>
          <a:p>
            <a:r>
              <a:rPr lang="en-US" dirty="0"/>
              <a:t>Creswell, J. W., &amp; Creswell, J. D. (2022). </a:t>
            </a:r>
            <a:r>
              <a:rPr lang="en-US" i="1" dirty="0"/>
              <a:t>Research design: Qualitative, 	quantitative and mixed methods approaches</a:t>
            </a:r>
            <a:r>
              <a:rPr lang="en-US" dirty="0"/>
              <a:t>. 6th edition. SAGE 	publication, Inc.</a:t>
            </a:r>
          </a:p>
          <a:p>
            <a:r>
              <a:rPr lang="en-US" dirty="0"/>
              <a:t>Graff, G., Birkenstein, C., &amp; Durst, R.(2022). </a:t>
            </a:r>
            <a:r>
              <a:rPr lang="en-US" i="1" dirty="0"/>
              <a:t>They say/I say the moves 	that 	matters in academic writing</a:t>
            </a:r>
            <a:r>
              <a:rPr lang="en-US" dirty="0"/>
              <a:t>. W. W. Norton and Company.</a:t>
            </a:r>
          </a:p>
          <a:p>
            <a:r>
              <a:rPr lang="en-US" dirty="0"/>
              <a:t>Green, S., &amp; </a:t>
            </a:r>
            <a:r>
              <a:rPr lang="en-US" dirty="0" err="1"/>
              <a:t>Lidinsky</a:t>
            </a:r>
            <a:r>
              <a:rPr lang="en-US" dirty="0"/>
              <a:t>, A.(2021). </a:t>
            </a:r>
            <a:r>
              <a:rPr lang="en-US" i="1" dirty="0"/>
              <a:t>From inquiry to academic </a:t>
            </a:r>
          </a:p>
          <a:p>
            <a:r>
              <a:rPr lang="en-US" i="1" dirty="0"/>
              <a:t>	writing: Practical guide</a:t>
            </a:r>
            <a:r>
              <a:rPr lang="en-US" dirty="0"/>
              <a:t>, 5th edition. Bedford/St. Martin’s.</a:t>
            </a:r>
          </a:p>
          <a:p>
            <a:r>
              <a:rPr lang="en-US" dirty="0"/>
              <a:t>Harris, D.(2020). </a:t>
            </a:r>
            <a:r>
              <a:rPr lang="en-US" i="1" dirty="0"/>
              <a:t>Literature review and research design: A guide to 	effective research Practice</a:t>
            </a:r>
            <a:r>
              <a:rPr lang="en-US" dirty="0"/>
              <a:t>. Routledge.</a:t>
            </a:r>
          </a:p>
          <a:p>
            <a:endParaRPr lang="en-US" dirty="0"/>
          </a:p>
          <a:p>
            <a:endParaRPr lang="en-US" dirty="0"/>
          </a:p>
        </p:txBody>
      </p:sp>
    </p:spTree>
    <p:extLst>
      <p:ext uri="{BB962C8B-B14F-4D97-AF65-F5344CB8AC3E}">
        <p14:creationId xmlns:p14="http://schemas.microsoft.com/office/powerpoint/2010/main" val="2811964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1F277-F832-482D-9E41-FF7E69E10795}"/>
              </a:ext>
            </a:extLst>
          </p:cNvPr>
          <p:cNvSpPr>
            <a:spLocks noGrp="1"/>
          </p:cNvSpPr>
          <p:nvPr>
            <p:ph type="title"/>
          </p:nvPr>
        </p:nvSpPr>
        <p:spPr/>
        <p:txBody>
          <a:bodyPr/>
          <a:lstStyle/>
          <a:p>
            <a:pPr algn="ctr"/>
            <a:r>
              <a:rPr lang="en-US" dirty="0">
                <a:solidFill>
                  <a:srgbClr val="00B050"/>
                </a:solidFill>
              </a:rPr>
              <a:t>Home Assignment</a:t>
            </a:r>
          </a:p>
        </p:txBody>
      </p:sp>
      <p:sp>
        <p:nvSpPr>
          <p:cNvPr id="3" name="Content Placeholder 2">
            <a:extLst>
              <a:ext uri="{FF2B5EF4-FFF2-40B4-BE49-F238E27FC236}">
                <a16:creationId xmlns:a16="http://schemas.microsoft.com/office/drawing/2014/main" id="{F741518C-8FB1-41E9-A47D-5EF6C44C504F}"/>
              </a:ext>
            </a:extLst>
          </p:cNvPr>
          <p:cNvSpPr>
            <a:spLocks noGrp="1"/>
          </p:cNvSpPr>
          <p:nvPr>
            <p:ph idx="1"/>
          </p:nvPr>
        </p:nvSpPr>
        <p:spPr/>
        <p:txBody>
          <a:bodyPr/>
          <a:lstStyle/>
          <a:p>
            <a:r>
              <a:rPr lang="en-US" dirty="0"/>
              <a:t>I. </a:t>
            </a:r>
            <a:r>
              <a:rPr lang="en-US" sz="3200" b="1" dirty="0"/>
              <a:t>Select title of your research article following the steps from area to perspective for your study.</a:t>
            </a:r>
          </a:p>
          <a:p>
            <a:r>
              <a:rPr lang="en-US" sz="3200" b="1" dirty="0"/>
              <a:t>II. Write two  paragraphs on your title.</a:t>
            </a:r>
          </a:p>
          <a:p>
            <a:endParaRPr lang="en-US" dirty="0"/>
          </a:p>
        </p:txBody>
      </p:sp>
    </p:spTree>
    <p:extLst>
      <p:ext uri="{BB962C8B-B14F-4D97-AF65-F5344CB8AC3E}">
        <p14:creationId xmlns:p14="http://schemas.microsoft.com/office/powerpoint/2010/main" val="2307151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64AAC-826F-F3AD-288B-20D2C3D2BC56}"/>
              </a:ext>
            </a:extLst>
          </p:cNvPr>
          <p:cNvSpPr>
            <a:spLocks noGrp="1"/>
          </p:cNvSpPr>
          <p:nvPr>
            <p:ph type="title"/>
          </p:nvPr>
        </p:nvSpPr>
        <p:spPr>
          <a:xfrm>
            <a:off x="801858" y="102022"/>
            <a:ext cx="10136189" cy="1051530"/>
          </a:xfrm>
        </p:spPr>
        <p:txBody>
          <a:bodyPr/>
          <a:lstStyle/>
          <a:p>
            <a:pPr algn="ctr"/>
            <a:r>
              <a:rPr lang="en-US" dirty="0">
                <a:solidFill>
                  <a:srgbClr val="00B050"/>
                </a:solidFill>
              </a:rPr>
              <a:t>Research Paper</a:t>
            </a:r>
          </a:p>
        </p:txBody>
      </p:sp>
      <p:sp>
        <p:nvSpPr>
          <p:cNvPr id="3" name="Content Placeholder 2">
            <a:extLst>
              <a:ext uri="{FF2B5EF4-FFF2-40B4-BE49-F238E27FC236}">
                <a16:creationId xmlns:a16="http://schemas.microsoft.com/office/drawing/2014/main" id="{39DF25D5-09E8-3F97-D441-617FF37A689E}"/>
              </a:ext>
            </a:extLst>
          </p:cNvPr>
          <p:cNvSpPr>
            <a:spLocks noGrp="1"/>
          </p:cNvSpPr>
          <p:nvPr>
            <p:ph idx="1"/>
          </p:nvPr>
        </p:nvSpPr>
        <p:spPr>
          <a:xfrm>
            <a:off x="450166" y="1280160"/>
            <a:ext cx="11254154" cy="5475817"/>
          </a:xfrm>
        </p:spPr>
        <p:txBody>
          <a:bodyPr>
            <a:normAutofit fontScale="85000" lnSpcReduction="20000"/>
          </a:bodyPr>
          <a:lstStyle/>
          <a:p>
            <a:pPr marL="457200" indent="-457200">
              <a:buFont typeface="Wingdings" panose="05000000000000000000" pitchFamily="2" charset="2"/>
              <a:buChar char="v"/>
            </a:pPr>
            <a:r>
              <a:rPr lang="en-US" b="1" dirty="0"/>
              <a:t>A Research Paper is a piece of academic writing based on its author’s original research on a particular topic, and the analysis and interpretation of the research findings. It can be a term paper, master's thesis or a doctoral dissertation.</a:t>
            </a:r>
          </a:p>
          <a:p>
            <a:pPr marL="457200" indent="-457200">
              <a:buFont typeface="Wingdings" panose="05000000000000000000" pitchFamily="2" charset="2"/>
              <a:buChar char="v"/>
            </a:pPr>
            <a:r>
              <a:rPr lang="en-US" b="1" dirty="0"/>
              <a:t>Title</a:t>
            </a:r>
          </a:p>
          <a:p>
            <a:pPr marL="457200" indent="-457200">
              <a:buFont typeface="Wingdings" panose="05000000000000000000" pitchFamily="2" charset="2"/>
              <a:buChar char="v"/>
            </a:pPr>
            <a:r>
              <a:rPr lang="en-US" b="1" dirty="0"/>
              <a:t>Abstract</a:t>
            </a:r>
          </a:p>
          <a:p>
            <a:pPr marL="457200" indent="-457200">
              <a:buFont typeface="Wingdings" panose="05000000000000000000" pitchFamily="2" charset="2"/>
              <a:buChar char="v"/>
            </a:pPr>
            <a:r>
              <a:rPr lang="en-US" b="1" dirty="0"/>
              <a:t>Key Words</a:t>
            </a:r>
          </a:p>
          <a:p>
            <a:pPr marL="457200" indent="-457200">
              <a:buFont typeface="Wingdings" panose="05000000000000000000" pitchFamily="2" charset="2"/>
              <a:buChar char="v"/>
            </a:pPr>
            <a:r>
              <a:rPr lang="en-US" b="1" dirty="0"/>
              <a:t>Introduction</a:t>
            </a:r>
          </a:p>
          <a:p>
            <a:pPr marL="457200" indent="-457200">
              <a:buFont typeface="Wingdings" panose="05000000000000000000" pitchFamily="2" charset="2"/>
              <a:buChar char="v"/>
            </a:pPr>
            <a:r>
              <a:rPr lang="en-US" b="1" dirty="0"/>
              <a:t>Study Area</a:t>
            </a:r>
          </a:p>
          <a:p>
            <a:pPr marL="457200" indent="-457200">
              <a:buFont typeface="Wingdings" panose="05000000000000000000" pitchFamily="2" charset="2"/>
              <a:buChar char="v"/>
            </a:pPr>
            <a:r>
              <a:rPr lang="en-US" b="1" dirty="0"/>
              <a:t>Literature Review</a:t>
            </a:r>
          </a:p>
          <a:p>
            <a:pPr marL="457200" indent="-457200">
              <a:buFont typeface="Wingdings" panose="05000000000000000000" pitchFamily="2" charset="2"/>
              <a:buChar char="v"/>
            </a:pPr>
            <a:r>
              <a:rPr lang="en-US" b="1" dirty="0"/>
              <a:t>Methodology/ Methods and Materials</a:t>
            </a:r>
          </a:p>
          <a:p>
            <a:pPr marL="457200" indent="-457200">
              <a:buFont typeface="Wingdings" panose="05000000000000000000" pitchFamily="2" charset="2"/>
              <a:buChar char="v"/>
            </a:pPr>
            <a:r>
              <a:rPr lang="en-US" b="1" dirty="0"/>
              <a:t>Result and Discussion (Body of the Paper)/Textual Analysis</a:t>
            </a:r>
          </a:p>
          <a:p>
            <a:pPr marL="457200" indent="-457200">
              <a:buFont typeface="Wingdings" panose="05000000000000000000" pitchFamily="2" charset="2"/>
              <a:buChar char="v"/>
            </a:pPr>
            <a:r>
              <a:rPr lang="en-US" b="1" dirty="0"/>
              <a:t>Conclusion</a:t>
            </a:r>
          </a:p>
          <a:p>
            <a:pPr marL="457200" indent="-457200">
              <a:buFont typeface="Wingdings" panose="05000000000000000000" pitchFamily="2" charset="2"/>
              <a:buChar char="v"/>
            </a:pPr>
            <a:r>
              <a:rPr lang="en-US" b="1" dirty="0"/>
              <a:t>Appendix</a:t>
            </a:r>
          </a:p>
          <a:p>
            <a:pPr marL="457200" indent="-457200">
              <a:buFont typeface="Wingdings" panose="05000000000000000000" pitchFamily="2" charset="2"/>
              <a:buChar char="v"/>
            </a:pPr>
            <a:r>
              <a:rPr lang="en-US" b="1" dirty="0"/>
              <a:t>References/Works Cited</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3874240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2C7F3-D2C6-A2F5-0591-51A2E9B60880}"/>
              </a:ext>
            </a:extLst>
          </p:cNvPr>
          <p:cNvSpPr>
            <a:spLocks noGrp="1"/>
          </p:cNvSpPr>
          <p:nvPr>
            <p:ph type="title"/>
          </p:nvPr>
        </p:nvSpPr>
        <p:spPr>
          <a:xfrm>
            <a:off x="984738" y="102022"/>
            <a:ext cx="10339753" cy="1037462"/>
          </a:xfrm>
        </p:spPr>
        <p:txBody>
          <a:bodyPr/>
          <a:lstStyle/>
          <a:p>
            <a:pPr algn="ctr"/>
            <a:r>
              <a:rPr lang="en-US" dirty="0">
                <a:solidFill>
                  <a:srgbClr val="00B050"/>
                </a:solidFill>
              </a:rPr>
              <a:t>Abstract</a:t>
            </a:r>
          </a:p>
        </p:txBody>
      </p:sp>
      <p:sp>
        <p:nvSpPr>
          <p:cNvPr id="3" name="Content Placeholder 2">
            <a:extLst>
              <a:ext uri="{FF2B5EF4-FFF2-40B4-BE49-F238E27FC236}">
                <a16:creationId xmlns:a16="http://schemas.microsoft.com/office/drawing/2014/main" id="{A9259B87-1918-6E48-3EC0-BD1FCC13D43D}"/>
              </a:ext>
            </a:extLst>
          </p:cNvPr>
          <p:cNvSpPr>
            <a:spLocks noGrp="1"/>
          </p:cNvSpPr>
          <p:nvPr>
            <p:ph idx="1"/>
          </p:nvPr>
        </p:nvSpPr>
        <p:spPr>
          <a:xfrm>
            <a:off x="337624" y="1448972"/>
            <a:ext cx="10986867" cy="5307007"/>
          </a:xfrm>
        </p:spPr>
        <p:txBody>
          <a:bodyPr>
            <a:normAutofit fontScale="92500" lnSpcReduction="10000"/>
          </a:bodyPr>
          <a:lstStyle/>
          <a:p>
            <a:pPr marL="457200" indent="-457200">
              <a:buFont typeface="Wingdings" panose="05000000000000000000" pitchFamily="2" charset="2"/>
              <a:buChar char="v"/>
            </a:pPr>
            <a:r>
              <a:rPr lang="en-US" sz="3600" b="1" dirty="0"/>
              <a:t>An abstract is a brief summary of a research article, thesis, review, conference proceeding, or any in-depth analysis of a particular subject or discipline</a:t>
            </a:r>
          </a:p>
          <a:p>
            <a:pPr marL="457200" indent="-457200">
              <a:buFont typeface="Wingdings" panose="05000000000000000000" pitchFamily="2" charset="2"/>
              <a:buChar char="v"/>
            </a:pPr>
            <a:r>
              <a:rPr lang="en-US" sz="3600" b="1" dirty="0"/>
              <a:t>It is often used to help reader quickly ascertain the paper’s purpose</a:t>
            </a:r>
          </a:p>
          <a:p>
            <a:pPr marL="457200" indent="-457200">
              <a:buFont typeface="Wingdings" panose="05000000000000000000" pitchFamily="2" charset="2"/>
              <a:buChar char="v"/>
            </a:pPr>
            <a:r>
              <a:rPr lang="en-US" sz="3600" b="1" dirty="0"/>
              <a:t>Issue raised/explored and primary text, major argument</a:t>
            </a:r>
          </a:p>
          <a:p>
            <a:pPr marL="457200" indent="-457200">
              <a:buFont typeface="Wingdings" panose="05000000000000000000" pitchFamily="2" charset="2"/>
              <a:buChar char="v"/>
            </a:pPr>
            <a:r>
              <a:rPr lang="en-US" sz="3600" b="1" dirty="0"/>
              <a:t>Objectives of the study</a:t>
            </a:r>
          </a:p>
          <a:p>
            <a:pPr marL="457200" indent="-457200">
              <a:buFont typeface="Wingdings" panose="05000000000000000000" pitchFamily="2" charset="2"/>
              <a:buChar char="v"/>
            </a:pPr>
            <a:r>
              <a:rPr lang="en-US" sz="3600" b="1" dirty="0"/>
              <a:t>Gist of the study</a:t>
            </a:r>
          </a:p>
          <a:p>
            <a:pPr marL="457200" indent="-457200">
              <a:buFont typeface="Wingdings" panose="05000000000000000000" pitchFamily="2" charset="2"/>
              <a:buChar char="v"/>
            </a:pPr>
            <a:r>
              <a:rPr lang="en-US" sz="3600" b="1" dirty="0"/>
              <a:t>Significance of the study within the context of existing scholarship</a:t>
            </a:r>
          </a:p>
          <a:p>
            <a:pPr marL="457200" indent="-457200">
              <a:buFont typeface="Wingdings" panose="05000000000000000000" pitchFamily="2" charset="2"/>
              <a:buChar char="v"/>
            </a:pPr>
            <a:r>
              <a:rPr lang="en-US" sz="3600" b="1" dirty="0"/>
              <a:t>Abstract should be followed by Key Terms: 4-8 words</a:t>
            </a:r>
          </a:p>
          <a:p>
            <a:pPr marL="457200" indent="-457200">
              <a:buFont typeface="Wingdings" panose="05000000000000000000" pitchFamily="2" charset="2"/>
              <a:buChar char="v"/>
            </a:pPr>
            <a:endParaRPr lang="en-US" sz="3600" b="1" dirty="0"/>
          </a:p>
        </p:txBody>
      </p:sp>
    </p:spTree>
    <p:extLst>
      <p:ext uri="{BB962C8B-B14F-4D97-AF65-F5344CB8AC3E}">
        <p14:creationId xmlns:p14="http://schemas.microsoft.com/office/powerpoint/2010/main" val="3141867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380AB5-661C-BED4-A571-87BF6FA258D6}"/>
              </a:ext>
            </a:extLst>
          </p:cNvPr>
          <p:cNvSpPr>
            <a:spLocks noGrp="1"/>
          </p:cNvSpPr>
          <p:nvPr>
            <p:ph idx="1"/>
          </p:nvPr>
        </p:nvSpPr>
        <p:spPr>
          <a:xfrm>
            <a:off x="337624" y="604911"/>
            <a:ext cx="11015003" cy="6151068"/>
          </a:xfrm>
        </p:spPr>
        <p:txBody>
          <a:bodyPr/>
          <a:lstStyle/>
          <a:p>
            <a:r>
              <a:rPr lang="en-US" b="1" dirty="0">
                <a:solidFill>
                  <a:srgbClr val="FF0000"/>
                </a:solidFill>
              </a:rPr>
              <a:t>Example</a:t>
            </a:r>
          </a:p>
          <a:p>
            <a:r>
              <a:rPr lang="en-US" b="1" dirty="0">
                <a:solidFill>
                  <a:srgbClr val="002060"/>
                </a:solidFill>
              </a:rPr>
              <a:t>This article is an exploration of Kali, a Hindu deity, through </a:t>
            </a:r>
            <a:r>
              <a:rPr lang="en-US" b="1" dirty="0" err="1">
                <a:solidFill>
                  <a:srgbClr val="002060"/>
                </a:solidFill>
              </a:rPr>
              <a:t>Panofskian</a:t>
            </a:r>
            <a:r>
              <a:rPr lang="en-US" b="1" dirty="0">
                <a:solidFill>
                  <a:srgbClr val="002060"/>
                </a:solidFill>
              </a:rPr>
              <a:t> three-tiered meanings of visual arts: pre-iconography description, iconographical analysis and iconological interpretation. </a:t>
            </a:r>
            <a:r>
              <a:rPr lang="en-US" b="1" dirty="0">
                <a:solidFill>
                  <a:srgbClr val="00B050"/>
                </a:solidFill>
              </a:rPr>
              <a:t>It presents neither a dogmatic nor an erotic interpretation of Kali but a purely objective analysis of the Hindu deity. </a:t>
            </a:r>
            <a:r>
              <a:rPr lang="en-US" b="1" dirty="0">
                <a:solidFill>
                  <a:srgbClr val="C00000"/>
                </a:solidFill>
              </a:rPr>
              <a:t>It is argued that Kali has layers of implications, associations and meanings as well as multiple forms, namely Kali, </a:t>
            </a:r>
            <a:r>
              <a:rPr lang="en-US" b="1" dirty="0" err="1">
                <a:solidFill>
                  <a:srgbClr val="C00000"/>
                </a:solidFill>
              </a:rPr>
              <a:t>Chhinnamasta</a:t>
            </a:r>
            <a:r>
              <a:rPr lang="en-US" b="1" dirty="0">
                <a:solidFill>
                  <a:srgbClr val="C00000"/>
                </a:solidFill>
              </a:rPr>
              <a:t> Kali, Tara, </a:t>
            </a:r>
            <a:r>
              <a:rPr lang="en-US" b="1" dirty="0" err="1">
                <a:solidFill>
                  <a:srgbClr val="C00000"/>
                </a:solidFill>
              </a:rPr>
              <a:t>Bhuvanshwori</a:t>
            </a:r>
            <a:r>
              <a:rPr lang="en-US" b="1" dirty="0">
                <a:solidFill>
                  <a:srgbClr val="C00000"/>
                </a:solidFill>
              </a:rPr>
              <a:t>, </a:t>
            </a:r>
            <a:r>
              <a:rPr lang="en-US" b="1" dirty="0" err="1">
                <a:solidFill>
                  <a:srgbClr val="C00000"/>
                </a:solidFill>
              </a:rPr>
              <a:t>Bagalamukhi</a:t>
            </a:r>
            <a:r>
              <a:rPr lang="en-US" b="1" dirty="0">
                <a:solidFill>
                  <a:srgbClr val="C00000"/>
                </a:solidFill>
              </a:rPr>
              <a:t>, </a:t>
            </a:r>
            <a:r>
              <a:rPr lang="en-US" b="1" dirty="0" err="1">
                <a:solidFill>
                  <a:srgbClr val="C00000"/>
                </a:solidFill>
              </a:rPr>
              <a:t>Dhumvawati</a:t>
            </a:r>
            <a:r>
              <a:rPr lang="en-US" b="1" dirty="0">
                <a:solidFill>
                  <a:srgbClr val="C00000"/>
                </a:solidFill>
              </a:rPr>
              <a:t>, Kamala, Bhairavi, </a:t>
            </a:r>
            <a:r>
              <a:rPr lang="en-US" b="1" dirty="0" err="1">
                <a:solidFill>
                  <a:srgbClr val="C00000"/>
                </a:solidFill>
              </a:rPr>
              <a:t>Sodashi</a:t>
            </a:r>
            <a:r>
              <a:rPr lang="en-US" b="1" dirty="0">
                <a:solidFill>
                  <a:srgbClr val="C00000"/>
                </a:solidFill>
              </a:rPr>
              <a:t>, and Matangi. Each form is also associated with different mythologies, allegories, and allusions of their origin.</a:t>
            </a:r>
            <a:r>
              <a:rPr lang="en-US" b="1" dirty="0">
                <a:solidFill>
                  <a:srgbClr val="002060"/>
                </a:solidFill>
              </a:rPr>
              <a:t> It is assumed that this article has had great significance in the academia as well as for the academicians and academics who are interested in carrying out research works with an objective description, analysis and interpretation of any visual arts.</a:t>
            </a:r>
          </a:p>
          <a:p>
            <a:endParaRPr lang="en-US" b="1" dirty="0">
              <a:solidFill>
                <a:srgbClr val="002060"/>
              </a:solidFill>
            </a:endParaRPr>
          </a:p>
        </p:txBody>
      </p:sp>
    </p:spTree>
    <p:extLst>
      <p:ext uri="{BB962C8B-B14F-4D97-AF65-F5344CB8AC3E}">
        <p14:creationId xmlns:p14="http://schemas.microsoft.com/office/powerpoint/2010/main" val="3837764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63919-AE0D-3A58-ED8E-06D30C873EB2}"/>
              </a:ext>
            </a:extLst>
          </p:cNvPr>
          <p:cNvSpPr>
            <a:spLocks noGrp="1"/>
          </p:cNvSpPr>
          <p:nvPr>
            <p:ph type="title"/>
          </p:nvPr>
        </p:nvSpPr>
        <p:spPr>
          <a:xfrm>
            <a:off x="844062" y="102022"/>
            <a:ext cx="10093985" cy="1037462"/>
          </a:xfrm>
        </p:spPr>
        <p:txBody>
          <a:bodyPr/>
          <a:lstStyle/>
          <a:p>
            <a:pPr algn="ctr"/>
            <a:r>
              <a:rPr lang="en-US" dirty="0">
                <a:solidFill>
                  <a:srgbClr val="00B050"/>
                </a:solidFill>
              </a:rPr>
              <a:t>Introduction</a:t>
            </a:r>
          </a:p>
        </p:txBody>
      </p:sp>
      <p:sp>
        <p:nvSpPr>
          <p:cNvPr id="3" name="Content Placeholder 2">
            <a:extLst>
              <a:ext uri="{FF2B5EF4-FFF2-40B4-BE49-F238E27FC236}">
                <a16:creationId xmlns:a16="http://schemas.microsoft.com/office/drawing/2014/main" id="{5E212F67-7A6C-E501-1032-C5ADCFD24574}"/>
              </a:ext>
            </a:extLst>
          </p:cNvPr>
          <p:cNvSpPr>
            <a:spLocks noGrp="1"/>
          </p:cNvSpPr>
          <p:nvPr>
            <p:ph idx="1"/>
          </p:nvPr>
        </p:nvSpPr>
        <p:spPr>
          <a:xfrm>
            <a:off x="504092" y="1266091"/>
            <a:ext cx="11183815" cy="5489887"/>
          </a:xfrm>
        </p:spPr>
        <p:txBody>
          <a:bodyPr>
            <a:normAutofit fontScale="92500" lnSpcReduction="10000"/>
          </a:bodyPr>
          <a:lstStyle/>
          <a:p>
            <a:r>
              <a:rPr lang="en-US" b="1" dirty="0">
                <a:solidFill>
                  <a:srgbClr val="002060"/>
                </a:solidFill>
              </a:rPr>
              <a:t>A. Introductory paragraph</a:t>
            </a:r>
          </a:p>
          <a:p>
            <a:pPr marL="457200" indent="-457200">
              <a:buFont typeface="Wingdings" panose="05000000000000000000" pitchFamily="2" charset="2"/>
              <a:buChar char="v"/>
            </a:pPr>
            <a:r>
              <a:rPr lang="en-US" b="1" dirty="0">
                <a:solidFill>
                  <a:srgbClr val="FF0000"/>
                </a:solidFill>
              </a:rPr>
              <a:t>Promise sentence</a:t>
            </a:r>
          </a:p>
          <a:p>
            <a:pPr marL="457200" indent="-457200">
              <a:buFont typeface="Wingdings" panose="05000000000000000000" pitchFamily="2" charset="2"/>
              <a:buChar char="v"/>
            </a:pPr>
            <a:r>
              <a:rPr lang="en-US" b="1" dirty="0">
                <a:solidFill>
                  <a:srgbClr val="FF0000"/>
                </a:solidFill>
              </a:rPr>
              <a:t>Text in the context: Location, situation and status of the study area</a:t>
            </a:r>
          </a:p>
          <a:p>
            <a:pPr marL="457200" indent="-457200">
              <a:buFont typeface="Wingdings" panose="05000000000000000000" pitchFamily="2" charset="2"/>
              <a:buChar char="v"/>
            </a:pPr>
            <a:r>
              <a:rPr lang="en-US" b="1" dirty="0">
                <a:solidFill>
                  <a:srgbClr val="FF0000"/>
                </a:solidFill>
              </a:rPr>
              <a:t>Basic theoretical insights</a:t>
            </a:r>
          </a:p>
          <a:p>
            <a:pPr marL="457200" indent="-457200">
              <a:buFont typeface="Wingdings" panose="05000000000000000000" pitchFamily="2" charset="2"/>
              <a:buChar char="v"/>
            </a:pPr>
            <a:r>
              <a:rPr lang="en-US" b="1" dirty="0">
                <a:solidFill>
                  <a:srgbClr val="FF0000"/>
                </a:solidFill>
              </a:rPr>
              <a:t>Thesis statement</a:t>
            </a:r>
          </a:p>
          <a:p>
            <a:pPr marL="457200" indent="-457200">
              <a:buFont typeface="Wingdings" panose="05000000000000000000" pitchFamily="2" charset="2"/>
              <a:buChar char="v"/>
            </a:pPr>
            <a:r>
              <a:rPr lang="en-US" b="1" dirty="0">
                <a:solidFill>
                  <a:srgbClr val="7030A0"/>
                </a:solidFill>
              </a:rPr>
              <a:t>Introduction of key terms with authentic sources</a:t>
            </a:r>
            <a:endParaRPr lang="en-US" b="1" dirty="0">
              <a:solidFill>
                <a:srgbClr val="002060"/>
              </a:solidFill>
            </a:endParaRPr>
          </a:p>
          <a:p>
            <a:pPr marL="457200" indent="-457200">
              <a:buFont typeface="Wingdings" panose="05000000000000000000" pitchFamily="2" charset="2"/>
              <a:buChar char="v"/>
            </a:pPr>
            <a:r>
              <a:rPr lang="en-US" b="1" dirty="0">
                <a:solidFill>
                  <a:srgbClr val="FF0000"/>
                </a:solidFill>
              </a:rPr>
              <a:t>Brief Review of Relevant Literature</a:t>
            </a:r>
          </a:p>
          <a:p>
            <a:pPr marL="457200" indent="-457200">
              <a:buFont typeface="Wingdings" panose="05000000000000000000" pitchFamily="2" charset="2"/>
              <a:buChar char="v"/>
            </a:pPr>
            <a:r>
              <a:rPr lang="en-US" b="1" dirty="0">
                <a:solidFill>
                  <a:srgbClr val="FF0000"/>
                </a:solidFill>
              </a:rPr>
              <a:t>Research Gap</a:t>
            </a:r>
          </a:p>
          <a:p>
            <a:r>
              <a:rPr lang="en-US" b="1" dirty="0">
                <a:solidFill>
                  <a:srgbClr val="00B050"/>
                </a:solidFill>
              </a:rPr>
              <a:t>Begin like this:</a:t>
            </a:r>
          </a:p>
          <a:p>
            <a:r>
              <a:rPr lang="en-US" b="1" dirty="0">
                <a:solidFill>
                  <a:srgbClr val="00B0F0"/>
                </a:solidFill>
              </a:rPr>
              <a:t>This paper explores/examines/ analyzes . . . . . . . . . . in . . . . . . . . . . . . . by applying . . . . . . . perspective. OR </a:t>
            </a:r>
            <a:r>
              <a:rPr lang="en-US" b="1" dirty="0">
                <a:solidFill>
                  <a:srgbClr val="002060"/>
                </a:solidFill>
              </a:rPr>
              <a:t>This study examines . . .in. . . by applying . . . perspective with special focus on . . . .</a:t>
            </a:r>
          </a:p>
          <a:p>
            <a:endParaRPr lang="en-US" dirty="0"/>
          </a:p>
        </p:txBody>
      </p:sp>
    </p:spTree>
    <p:extLst>
      <p:ext uri="{BB962C8B-B14F-4D97-AF65-F5344CB8AC3E}">
        <p14:creationId xmlns:p14="http://schemas.microsoft.com/office/powerpoint/2010/main" val="796758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9714E-7ED2-4856-9A08-FF026A06FD16}"/>
              </a:ext>
            </a:extLst>
          </p:cNvPr>
          <p:cNvSpPr>
            <a:spLocks noGrp="1"/>
          </p:cNvSpPr>
          <p:nvPr>
            <p:ph type="title"/>
          </p:nvPr>
        </p:nvSpPr>
        <p:spPr>
          <a:xfrm>
            <a:off x="1158864" y="102021"/>
            <a:ext cx="9779183" cy="1164071"/>
          </a:xfrm>
        </p:spPr>
        <p:txBody>
          <a:bodyPr/>
          <a:lstStyle/>
          <a:p>
            <a:pPr algn="ctr"/>
            <a:r>
              <a:rPr lang="en-US" dirty="0">
                <a:solidFill>
                  <a:srgbClr val="00B050"/>
                </a:solidFill>
              </a:rPr>
              <a:t>Literature Review</a:t>
            </a:r>
          </a:p>
        </p:txBody>
      </p:sp>
      <p:sp>
        <p:nvSpPr>
          <p:cNvPr id="3" name="Content Placeholder 2">
            <a:extLst>
              <a:ext uri="{FF2B5EF4-FFF2-40B4-BE49-F238E27FC236}">
                <a16:creationId xmlns:a16="http://schemas.microsoft.com/office/drawing/2014/main" id="{A8B62741-1600-41DD-85BF-4C7BD8E4CB6C}"/>
              </a:ext>
            </a:extLst>
          </p:cNvPr>
          <p:cNvSpPr>
            <a:spLocks noGrp="1"/>
          </p:cNvSpPr>
          <p:nvPr>
            <p:ph idx="1"/>
          </p:nvPr>
        </p:nvSpPr>
        <p:spPr>
          <a:xfrm>
            <a:off x="309488" y="1266092"/>
            <a:ext cx="11493305" cy="5489887"/>
          </a:xfrm>
        </p:spPr>
        <p:txBody>
          <a:bodyPr>
            <a:normAutofit fontScale="92500" lnSpcReduction="20000"/>
          </a:bodyPr>
          <a:lstStyle/>
          <a:p>
            <a:pPr marL="457200" indent="-457200">
              <a:buFont typeface="Wingdings" panose="05000000000000000000" pitchFamily="2" charset="2"/>
              <a:buChar char="v"/>
            </a:pPr>
            <a:r>
              <a:rPr lang="en-US" b="1" dirty="0">
                <a:solidFill>
                  <a:srgbClr val="C00000"/>
                </a:solidFill>
              </a:rPr>
              <a:t>Follow 8Cs</a:t>
            </a:r>
            <a:r>
              <a:rPr lang="en-US" b="1" dirty="0"/>
              <a:t>: Consult, Collect, Categorize, Compare, Contrast, Cite, Critique, Connect</a:t>
            </a:r>
          </a:p>
          <a:p>
            <a:pPr marL="457200" indent="-457200">
              <a:buFont typeface="Wingdings" panose="05000000000000000000" pitchFamily="2" charset="2"/>
              <a:buChar char="v"/>
            </a:pPr>
            <a:r>
              <a:rPr lang="en-US" b="1" dirty="0">
                <a:solidFill>
                  <a:srgbClr val="C00000"/>
                </a:solidFill>
              </a:rPr>
              <a:t>Introductory Paragraph</a:t>
            </a:r>
          </a:p>
          <a:p>
            <a:pPr marL="571500" indent="-571500">
              <a:buAutoNum type="romanLcPeriod"/>
            </a:pPr>
            <a:r>
              <a:rPr lang="en-US" b="1" dirty="0"/>
              <a:t>What do you do in this section?</a:t>
            </a:r>
          </a:p>
          <a:p>
            <a:pPr marL="571500" indent="-571500">
              <a:buAutoNum type="romanLcPeriod"/>
            </a:pPr>
            <a:r>
              <a:rPr lang="en-US" b="1" dirty="0"/>
              <a:t>Why do you need a thorough, sophisticated literature review?</a:t>
            </a:r>
          </a:p>
          <a:p>
            <a:pPr marL="571500" indent="-571500">
              <a:buAutoNum type="romanLcPeriod"/>
            </a:pPr>
            <a:r>
              <a:rPr lang="en-US" b="1" dirty="0"/>
              <a:t>How have you written your literature review in this paper?</a:t>
            </a:r>
          </a:p>
          <a:p>
            <a:pPr marL="457200" indent="-457200">
              <a:buFont typeface="Wingdings" panose="05000000000000000000" pitchFamily="2" charset="2"/>
              <a:buChar char="v"/>
            </a:pPr>
            <a:r>
              <a:rPr lang="en-US" b="1" dirty="0"/>
              <a:t>Write reviews in chronological or thematic order</a:t>
            </a:r>
          </a:p>
          <a:p>
            <a:pPr marL="457200" indent="-457200">
              <a:buFont typeface="Wingdings" panose="05000000000000000000" pitchFamily="2" charset="2"/>
              <a:buChar char="v"/>
            </a:pPr>
            <a:r>
              <a:rPr lang="en-US" b="1" dirty="0"/>
              <a:t>While writing reviews, do not write only what others say but also write how your study differs from them</a:t>
            </a:r>
          </a:p>
          <a:p>
            <a:pPr marL="457200" indent="-457200">
              <a:buFont typeface="Wingdings" panose="05000000000000000000" pitchFamily="2" charset="2"/>
              <a:buChar char="v"/>
            </a:pPr>
            <a:r>
              <a:rPr lang="en-US" b="1" dirty="0"/>
              <a:t>Identify research gap and show your point of departure</a:t>
            </a:r>
          </a:p>
          <a:p>
            <a:pPr marL="457200" indent="-457200">
              <a:buFont typeface="Wingdings" panose="05000000000000000000" pitchFamily="2" charset="2"/>
              <a:buChar char="v"/>
            </a:pPr>
            <a:r>
              <a:rPr lang="en-US" b="1" dirty="0">
                <a:solidFill>
                  <a:srgbClr val="C00000"/>
                </a:solidFill>
              </a:rPr>
              <a:t>End like this: </a:t>
            </a:r>
          </a:p>
          <a:p>
            <a:r>
              <a:rPr lang="en-US" b="1" dirty="0"/>
              <a:t>Despite these studies, there is still a lack of scholarship . . . .Therefore, this paper aims to address/fill the gap of . . . .</a:t>
            </a:r>
          </a:p>
          <a:p>
            <a:r>
              <a:rPr lang="en-US" b="1" dirty="0"/>
              <a:t> </a:t>
            </a:r>
          </a:p>
        </p:txBody>
      </p:sp>
    </p:spTree>
    <p:extLst>
      <p:ext uri="{BB962C8B-B14F-4D97-AF65-F5344CB8AC3E}">
        <p14:creationId xmlns:p14="http://schemas.microsoft.com/office/powerpoint/2010/main" val="4188832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67EB1-1952-C837-CFE4-7CF467A1662D}"/>
              </a:ext>
            </a:extLst>
          </p:cNvPr>
          <p:cNvSpPr>
            <a:spLocks noGrp="1"/>
          </p:cNvSpPr>
          <p:nvPr>
            <p:ph type="title"/>
          </p:nvPr>
        </p:nvSpPr>
        <p:spPr>
          <a:xfrm>
            <a:off x="900332" y="102021"/>
            <a:ext cx="10037715" cy="1192207"/>
          </a:xfrm>
        </p:spPr>
        <p:txBody>
          <a:bodyPr/>
          <a:lstStyle/>
          <a:p>
            <a:pPr algn="ctr"/>
            <a:r>
              <a:rPr lang="en-US" dirty="0">
                <a:solidFill>
                  <a:srgbClr val="00B050"/>
                </a:solidFill>
              </a:rPr>
              <a:t>Research Methodology/Methods and Materials</a:t>
            </a:r>
          </a:p>
        </p:txBody>
      </p:sp>
      <p:sp>
        <p:nvSpPr>
          <p:cNvPr id="3" name="Content Placeholder 2">
            <a:extLst>
              <a:ext uri="{FF2B5EF4-FFF2-40B4-BE49-F238E27FC236}">
                <a16:creationId xmlns:a16="http://schemas.microsoft.com/office/drawing/2014/main" id="{7DEE243B-BAF7-C2FF-482B-1C54A077AB49}"/>
              </a:ext>
            </a:extLst>
          </p:cNvPr>
          <p:cNvSpPr>
            <a:spLocks noGrp="1"/>
          </p:cNvSpPr>
          <p:nvPr>
            <p:ph idx="1"/>
          </p:nvPr>
        </p:nvSpPr>
        <p:spPr>
          <a:xfrm>
            <a:off x="633046" y="1800665"/>
            <a:ext cx="10305001" cy="4839286"/>
          </a:xfrm>
        </p:spPr>
        <p:txBody>
          <a:bodyPr/>
          <a:lstStyle/>
          <a:p>
            <a:pPr marL="457200" indent="-457200">
              <a:buFont typeface="Wingdings" panose="05000000000000000000" pitchFamily="2" charset="2"/>
              <a:buChar char="v"/>
            </a:pPr>
            <a:r>
              <a:rPr lang="en-US" sz="3600" b="1" dirty="0"/>
              <a:t>Research design</a:t>
            </a:r>
          </a:p>
          <a:p>
            <a:pPr marL="457200" indent="-457200">
              <a:buFont typeface="Wingdings" panose="05000000000000000000" pitchFamily="2" charset="2"/>
              <a:buChar char="v"/>
            </a:pPr>
            <a:r>
              <a:rPr lang="en-US" sz="3600" b="1" dirty="0"/>
              <a:t>Reasons for selecting the study area</a:t>
            </a:r>
          </a:p>
          <a:p>
            <a:pPr marL="457200" indent="-457200">
              <a:buFont typeface="Wingdings" panose="05000000000000000000" pitchFamily="2" charset="2"/>
              <a:buChar char="v"/>
            </a:pPr>
            <a:r>
              <a:rPr lang="en-US" sz="3600" b="1" dirty="0"/>
              <a:t>Methods of collecting data</a:t>
            </a:r>
          </a:p>
          <a:p>
            <a:pPr marL="457200" indent="-457200">
              <a:buFont typeface="Wingdings" panose="05000000000000000000" pitchFamily="2" charset="2"/>
              <a:buChar char="v"/>
            </a:pPr>
            <a:r>
              <a:rPr lang="en-US" sz="3600" b="1" dirty="0"/>
              <a:t>Tools/processes of </a:t>
            </a:r>
            <a:r>
              <a:rPr lang="en-US" sz="3600" b="1" dirty="0" err="1"/>
              <a:t>analysing</a:t>
            </a:r>
            <a:r>
              <a:rPr lang="en-US" sz="3600" b="1" dirty="0"/>
              <a:t> data</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858420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4D07A-CD2A-7C9F-528A-F35A9B3CB1C7}"/>
              </a:ext>
            </a:extLst>
          </p:cNvPr>
          <p:cNvSpPr>
            <a:spLocks noGrp="1"/>
          </p:cNvSpPr>
          <p:nvPr>
            <p:ph type="title"/>
          </p:nvPr>
        </p:nvSpPr>
        <p:spPr>
          <a:xfrm>
            <a:off x="731520" y="102021"/>
            <a:ext cx="10663311" cy="1371697"/>
          </a:xfrm>
        </p:spPr>
        <p:txBody>
          <a:bodyPr/>
          <a:lstStyle/>
          <a:p>
            <a:pPr algn="ctr"/>
            <a:r>
              <a:rPr lang="en-US" dirty="0">
                <a:solidFill>
                  <a:srgbClr val="FF0000"/>
                </a:solidFill>
              </a:rPr>
              <a:t>Research Design</a:t>
            </a:r>
          </a:p>
        </p:txBody>
      </p:sp>
      <p:sp>
        <p:nvSpPr>
          <p:cNvPr id="3" name="Content Placeholder 2">
            <a:extLst>
              <a:ext uri="{FF2B5EF4-FFF2-40B4-BE49-F238E27FC236}">
                <a16:creationId xmlns:a16="http://schemas.microsoft.com/office/drawing/2014/main" id="{3CD7711B-1BAC-042A-AD59-CC37C3F2939B}"/>
              </a:ext>
            </a:extLst>
          </p:cNvPr>
          <p:cNvSpPr>
            <a:spLocks noGrp="1"/>
          </p:cNvSpPr>
          <p:nvPr>
            <p:ph idx="1"/>
          </p:nvPr>
        </p:nvSpPr>
        <p:spPr>
          <a:xfrm>
            <a:off x="450166" y="1603717"/>
            <a:ext cx="11211951" cy="5152262"/>
          </a:xfrm>
        </p:spPr>
        <p:txBody>
          <a:bodyPr>
            <a:normAutofit fontScale="92500"/>
          </a:bodyPr>
          <a:lstStyle/>
          <a:p>
            <a:pPr marL="457200" indent="-457200">
              <a:buFont typeface="Wingdings" panose="05000000000000000000" pitchFamily="2" charset="2"/>
              <a:buChar char="v"/>
            </a:pPr>
            <a:r>
              <a:rPr lang="en-US" b="1" dirty="0"/>
              <a:t>In order to measure social phenomenon, a scientific research design is required</a:t>
            </a:r>
          </a:p>
          <a:p>
            <a:pPr marL="457200" indent="-457200">
              <a:buFont typeface="Wingdings" panose="05000000000000000000" pitchFamily="2" charset="2"/>
              <a:buChar char="v"/>
            </a:pPr>
            <a:r>
              <a:rPr lang="en-US" b="1" dirty="0"/>
              <a:t>Research design is simply a planning of research with the main focus on,</a:t>
            </a:r>
          </a:p>
          <a:p>
            <a:pPr marL="457200" indent="-457200">
              <a:buFont typeface="Wingdings" panose="05000000000000000000" pitchFamily="2" charset="2"/>
              <a:buChar char="v"/>
            </a:pPr>
            <a:r>
              <a:rPr lang="en-US" b="1" dirty="0">
                <a:solidFill>
                  <a:srgbClr val="FF0000"/>
                </a:solidFill>
              </a:rPr>
              <a:t>What to research (subject matter)</a:t>
            </a:r>
            <a:r>
              <a:rPr lang="en-US" b="1" dirty="0"/>
              <a:t> – Objectives, conceptual framework, hypotheses/Major Argument</a:t>
            </a:r>
          </a:p>
          <a:p>
            <a:pPr marL="457200" indent="-457200">
              <a:buFont typeface="Wingdings" panose="05000000000000000000" pitchFamily="2" charset="2"/>
              <a:buChar char="v"/>
            </a:pPr>
            <a:r>
              <a:rPr lang="en-US" b="1" dirty="0">
                <a:solidFill>
                  <a:srgbClr val="FF0000"/>
                </a:solidFill>
              </a:rPr>
              <a:t>Why to research (research problem) </a:t>
            </a:r>
            <a:r>
              <a:rPr lang="en-US" b="1" dirty="0"/>
              <a:t>– Formulation of Research problem (conceptualization)</a:t>
            </a:r>
          </a:p>
          <a:p>
            <a:pPr marL="457200" indent="-457200">
              <a:buFont typeface="Wingdings" panose="05000000000000000000" pitchFamily="2" charset="2"/>
              <a:buChar char="v"/>
            </a:pPr>
            <a:r>
              <a:rPr lang="en-US" b="1" dirty="0">
                <a:solidFill>
                  <a:srgbClr val="FF0000"/>
                </a:solidFill>
              </a:rPr>
              <a:t>How to research </a:t>
            </a:r>
            <a:r>
              <a:rPr lang="en-US" b="1" dirty="0"/>
              <a:t>(methodology) – Epistemology, theory, methods </a:t>
            </a:r>
          </a:p>
          <a:p>
            <a:pPr marL="457200" indent="-457200">
              <a:buFont typeface="Wingdings" panose="05000000000000000000" pitchFamily="2" charset="2"/>
              <a:buChar char="v"/>
            </a:pPr>
            <a:r>
              <a:rPr lang="en-US" b="1" dirty="0">
                <a:solidFill>
                  <a:srgbClr val="FF0000"/>
                </a:solidFill>
              </a:rPr>
              <a:t>Whom to research (study population)</a:t>
            </a:r>
            <a:r>
              <a:rPr lang="en-US" b="1" dirty="0"/>
              <a:t> – Population definition and sampling</a:t>
            </a:r>
          </a:p>
          <a:p>
            <a:pPr marL="457200" indent="-457200">
              <a:buFont typeface="Wingdings" panose="05000000000000000000" pitchFamily="2" charset="2"/>
              <a:buChar char="v"/>
            </a:pPr>
            <a:r>
              <a:rPr lang="en-US" b="1" dirty="0"/>
              <a:t>Research design also includes planning on: </a:t>
            </a:r>
          </a:p>
          <a:p>
            <a:pPr marL="457200" indent="-457200">
              <a:buFont typeface="Wingdings" panose="05000000000000000000" pitchFamily="2" charset="2"/>
              <a:buChar char="v"/>
            </a:pPr>
            <a:r>
              <a:rPr lang="en-US" b="1" dirty="0"/>
              <a:t>When to research, who will research, cost involved, dissemination of findings </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28890769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BAC39-735D-98A5-1C13-9BCA194ACCDB}"/>
              </a:ext>
            </a:extLst>
          </p:cNvPr>
          <p:cNvSpPr>
            <a:spLocks noGrp="1"/>
          </p:cNvSpPr>
          <p:nvPr>
            <p:ph type="title"/>
          </p:nvPr>
        </p:nvSpPr>
        <p:spPr>
          <a:xfrm>
            <a:off x="422031" y="102021"/>
            <a:ext cx="11043137" cy="1371697"/>
          </a:xfrm>
        </p:spPr>
        <p:txBody>
          <a:bodyPr/>
          <a:lstStyle/>
          <a:p>
            <a:pPr algn="ctr"/>
            <a:r>
              <a:rPr lang="en-US" dirty="0">
                <a:solidFill>
                  <a:srgbClr val="00B050"/>
                </a:solidFill>
              </a:rPr>
              <a:t>Method under Qualitative Research Design</a:t>
            </a:r>
          </a:p>
        </p:txBody>
      </p:sp>
      <p:sp>
        <p:nvSpPr>
          <p:cNvPr id="3" name="Content Placeholder 2">
            <a:extLst>
              <a:ext uri="{FF2B5EF4-FFF2-40B4-BE49-F238E27FC236}">
                <a16:creationId xmlns:a16="http://schemas.microsoft.com/office/drawing/2014/main" id="{88D41FB5-701D-81AC-4347-ABE991B26436}"/>
              </a:ext>
            </a:extLst>
          </p:cNvPr>
          <p:cNvSpPr>
            <a:spLocks noGrp="1"/>
          </p:cNvSpPr>
          <p:nvPr>
            <p:ph idx="1"/>
          </p:nvPr>
        </p:nvSpPr>
        <p:spPr>
          <a:xfrm>
            <a:off x="422031" y="1744395"/>
            <a:ext cx="10516016" cy="4895556"/>
          </a:xfrm>
        </p:spPr>
        <p:txBody>
          <a:bodyPr/>
          <a:lstStyle/>
          <a:p>
            <a:pPr marL="457200" indent="-457200">
              <a:buFont typeface="Wingdings" panose="05000000000000000000" pitchFamily="2" charset="2"/>
              <a:buChar char="v"/>
            </a:pPr>
            <a:r>
              <a:rPr lang="en-US" b="1" dirty="0"/>
              <a:t>Phenomenology</a:t>
            </a:r>
          </a:p>
          <a:p>
            <a:pPr marL="457200" indent="-457200">
              <a:buFont typeface="Wingdings" panose="05000000000000000000" pitchFamily="2" charset="2"/>
              <a:buChar char="v"/>
            </a:pPr>
            <a:r>
              <a:rPr lang="en-US" b="1" dirty="0"/>
              <a:t>Hermeneutics</a:t>
            </a:r>
          </a:p>
          <a:p>
            <a:pPr marL="457200" indent="-457200">
              <a:buFont typeface="Wingdings" panose="05000000000000000000" pitchFamily="2" charset="2"/>
              <a:buChar char="v"/>
            </a:pPr>
            <a:r>
              <a:rPr lang="en-US" b="1" dirty="0"/>
              <a:t>Content Analysis</a:t>
            </a:r>
          </a:p>
          <a:p>
            <a:pPr marL="457200" indent="-457200">
              <a:buFont typeface="Wingdings" panose="05000000000000000000" pitchFamily="2" charset="2"/>
              <a:buChar char="v"/>
            </a:pPr>
            <a:r>
              <a:rPr lang="en-US" b="1" dirty="0"/>
              <a:t>Thematic Categorization</a:t>
            </a:r>
          </a:p>
          <a:p>
            <a:pPr marL="457200" indent="-457200">
              <a:buFont typeface="Wingdings" panose="05000000000000000000" pitchFamily="2" charset="2"/>
              <a:buChar char="v"/>
            </a:pPr>
            <a:r>
              <a:rPr lang="en-US" b="1" dirty="0"/>
              <a:t>Triangulation</a:t>
            </a:r>
          </a:p>
          <a:p>
            <a:pPr marL="457200" indent="-457200">
              <a:buFont typeface="Wingdings" panose="05000000000000000000" pitchFamily="2" charset="2"/>
              <a:buChar char="v"/>
            </a:pPr>
            <a:r>
              <a:rPr lang="en-US" b="1" dirty="0"/>
              <a:t>Interpretive Validity</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13052029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AECCB-ECEA-1C76-D3C3-5FABE9EC4388}"/>
              </a:ext>
            </a:extLst>
          </p:cNvPr>
          <p:cNvSpPr>
            <a:spLocks noGrp="1"/>
          </p:cNvSpPr>
          <p:nvPr>
            <p:ph type="title"/>
          </p:nvPr>
        </p:nvSpPr>
        <p:spPr>
          <a:xfrm>
            <a:off x="1158864" y="102021"/>
            <a:ext cx="9779183" cy="1262545"/>
          </a:xfrm>
        </p:spPr>
        <p:txBody>
          <a:bodyPr/>
          <a:lstStyle/>
          <a:p>
            <a:pPr algn="ctr"/>
            <a:r>
              <a:rPr lang="en-US" dirty="0">
                <a:solidFill>
                  <a:srgbClr val="00B050"/>
                </a:solidFill>
              </a:rPr>
              <a:t>Triangulation</a:t>
            </a:r>
          </a:p>
        </p:txBody>
      </p:sp>
      <p:sp>
        <p:nvSpPr>
          <p:cNvPr id="3" name="Content Placeholder 2">
            <a:extLst>
              <a:ext uri="{FF2B5EF4-FFF2-40B4-BE49-F238E27FC236}">
                <a16:creationId xmlns:a16="http://schemas.microsoft.com/office/drawing/2014/main" id="{61AC806C-946B-020F-D3AD-F4B6BC9D8509}"/>
              </a:ext>
            </a:extLst>
          </p:cNvPr>
          <p:cNvSpPr>
            <a:spLocks noGrp="1"/>
          </p:cNvSpPr>
          <p:nvPr>
            <p:ph idx="1"/>
          </p:nvPr>
        </p:nvSpPr>
        <p:spPr>
          <a:xfrm>
            <a:off x="436098" y="1702191"/>
            <a:ext cx="11000936" cy="4937760"/>
          </a:xfrm>
        </p:spPr>
        <p:txBody>
          <a:bodyPr/>
          <a:lstStyle/>
          <a:p>
            <a:pPr marL="457200" indent="-457200">
              <a:buFont typeface="Wingdings" panose="05000000000000000000" pitchFamily="2" charset="2"/>
              <a:buChar char="v"/>
            </a:pPr>
            <a:r>
              <a:rPr lang="en-US" sz="3600" b="1" dirty="0"/>
              <a:t>The use of  multiple methods or data sources in qualitative research to develop comprehensive understanding of phenomena; </a:t>
            </a:r>
          </a:p>
          <a:p>
            <a:pPr marL="457200" indent="-457200">
              <a:buFont typeface="Wingdings" panose="05000000000000000000" pitchFamily="2" charset="2"/>
              <a:buChar char="v"/>
            </a:pPr>
            <a:r>
              <a:rPr lang="en-US" sz="3600" b="1" dirty="0"/>
              <a:t> A strategy in qualitative research to test validity through convergence of  information/data from different sources</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10070477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B19F1-6F3B-D82B-2185-25A70340813A}"/>
              </a:ext>
            </a:extLst>
          </p:cNvPr>
          <p:cNvSpPr>
            <a:spLocks noGrp="1"/>
          </p:cNvSpPr>
          <p:nvPr>
            <p:ph type="title"/>
          </p:nvPr>
        </p:nvSpPr>
        <p:spPr>
          <a:xfrm>
            <a:off x="1158864" y="102021"/>
            <a:ext cx="10235967" cy="1371697"/>
          </a:xfrm>
        </p:spPr>
        <p:txBody>
          <a:bodyPr/>
          <a:lstStyle/>
          <a:p>
            <a:pPr algn="ctr"/>
            <a:r>
              <a:rPr lang="en-US" dirty="0">
                <a:solidFill>
                  <a:srgbClr val="00B050"/>
                </a:solidFill>
              </a:rPr>
              <a:t>Interpretative Validity</a:t>
            </a:r>
          </a:p>
        </p:txBody>
      </p:sp>
      <p:sp>
        <p:nvSpPr>
          <p:cNvPr id="3" name="Content Placeholder 2">
            <a:extLst>
              <a:ext uri="{FF2B5EF4-FFF2-40B4-BE49-F238E27FC236}">
                <a16:creationId xmlns:a16="http://schemas.microsoft.com/office/drawing/2014/main" id="{DD3B8A13-AA4F-EC9E-EACC-6E29E48E77AD}"/>
              </a:ext>
            </a:extLst>
          </p:cNvPr>
          <p:cNvSpPr>
            <a:spLocks noGrp="1"/>
          </p:cNvSpPr>
          <p:nvPr>
            <p:ph idx="1"/>
          </p:nvPr>
        </p:nvSpPr>
        <p:spPr>
          <a:xfrm>
            <a:off x="267286" y="1589649"/>
            <a:ext cx="11310425" cy="5050302"/>
          </a:xfrm>
        </p:spPr>
        <p:txBody>
          <a:bodyPr>
            <a:normAutofit/>
          </a:bodyPr>
          <a:lstStyle/>
          <a:p>
            <a:pPr marL="457200" indent="-457200">
              <a:buFont typeface="Wingdings" panose="05000000000000000000" pitchFamily="2" charset="2"/>
              <a:buChar char="v"/>
            </a:pPr>
            <a:r>
              <a:rPr lang="en-US" sz="3600" b="1" dirty="0"/>
              <a:t>Claim/proposition as topic sentence</a:t>
            </a:r>
          </a:p>
          <a:p>
            <a:pPr marL="457200" indent="-457200">
              <a:buFont typeface="Wingdings" panose="05000000000000000000" pitchFamily="2" charset="2"/>
              <a:buChar char="v"/>
            </a:pPr>
            <a:r>
              <a:rPr lang="en-US" sz="3600" b="1" dirty="0"/>
              <a:t>Evidence from study area</a:t>
            </a:r>
          </a:p>
          <a:p>
            <a:pPr marL="457200" indent="-457200">
              <a:buFont typeface="Wingdings" panose="05000000000000000000" pitchFamily="2" charset="2"/>
              <a:buChar char="v"/>
            </a:pPr>
            <a:r>
              <a:rPr lang="en-US" sz="3600" b="1" dirty="0"/>
              <a:t>Objective reflection over the evidence with the support of theoretical parameters</a:t>
            </a:r>
          </a:p>
        </p:txBody>
      </p:sp>
    </p:spTree>
    <p:extLst>
      <p:ext uri="{BB962C8B-B14F-4D97-AF65-F5344CB8AC3E}">
        <p14:creationId xmlns:p14="http://schemas.microsoft.com/office/powerpoint/2010/main" val="13717253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51AB4-BD1B-AB88-02B2-9C854136D24D}"/>
              </a:ext>
            </a:extLst>
          </p:cNvPr>
          <p:cNvSpPr>
            <a:spLocks noGrp="1"/>
          </p:cNvSpPr>
          <p:nvPr>
            <p:ph type="title"/>
          </p:nvPr>
        </p:nvSpPr>
        <p:spPr>
          <a:xfrm>
            <a:off x="1158864" y="102021"/>
            <a:ext cx="9779183" cy="1371697"/>
          </a:xfrm>
        </p:spPr>
        <p:txBody>
          <a:bodyPr/>
          <a:lstStyle/>
          <a:p>
            <a:pPr algn="ctr"/>
            <a:r>
              <a:rPr lang="en-US" dirty="0"/>
              <a:t>Methods of Collecting Data</a:t>
            </a:r>
          </a:p>
        </p:txBody>
      </p:sp>
      <p:sp>
        <p:nvSpPr>
          <p:cNvPr id="3" name="Content Placeholder 2">
            <a:extLst>
              <a:ext uri="{FF2B5EF4-FFF2-40B4-BE49-F238E27FC236}">
                <a16:creationId xmlns:a16="http://schemas.microsoft.com/office/drawing/2014/main" id="{DEDCECB1-B966-021F-1C56-1A9897A2CD37}"/>
              </a:ext>
            </a:extLst>
          </p:cNvPr>
          <p:cNvSpPr>
            <a:spLocks noGrp="1"/>
          </p:cNvSpPr>
          <p:nvPr>
            <p:ph idx="1"/>
          </p:nvPr>
        </p:nvSpPr>
        <p:spPr>
          <a:xfrm>
            <a:off x="436098" y="1603717"/>
            <a:ext cx="10501949" cy="5152262"/>
          </a:xfrm>
        </p:spPr>
        <p:txBody>
          <a:bodyPr/>
          <a:lstStyle/>
          <a:p>
            <a:r>
              <a:rPr lang="en-US" sz="3600" b="1" dirty="0">
                <a:solidFill>
                  <a:srgbClr val="00B050"/>
                </a:solidFill>
              </a:rPr>
              <a:t>A: Primary Data: </a:t>
            </a:r>
          </a:p>
          <a:p>
            <a:pPr marL="457200" indent="-457200">
              <a:buFont typeface="Wingdings" panose="05000000000000000000" pitchFamily="2" charset="2"/>
              <a:buChar char="v"/>
            </a:pPr>
            <a:r>
              <a:rPr lang="en-US" b="1" dirty="0"/>
              <a:t>Study Area, Questionnaire, Interview, In-depth Interview (IDI), Focused Group Discussion (FGD), Key Informants’ Information (KII), etc.</a:t>
            </a:r>
          </a:p>
          <a:p>
            <a:pPr marL="457200" indent="-457200">
              <a:buFont typeface="Wingdings" panose="05000000000000000000" pitchFamily="2" charset="2"/>
              <a:buChar char="v"/>
            </a:pPr>
            <a:r>
              <a:rPr lang="en-US" b="1" dirty="0"/>
              <a:t>Sampling: Population, Sampling population. Sampling Methods: Purposive/Random/ Snowball Sampling</a:t>
            </a:r>
          </a:p>
          <a:p>
            <a:r>
              <a:rPr lang="en-US" sz="3600" b="1" dirty="0">
                <a:solidFill>
                  <a:srgbClr val="00B050"/>
                </a:solidFill>
              </a:rPr>
              <a:t>B. Secondary Data: </a:t>
            </a:r>
          </a:p>
          <a:p>
            <a:pPr marL="457200" indent="-457200">
              <a:buFont typeface="Wingdings" panose="05000000000000000000" pitchFamily="2" charset="2"/>
              <a:buChar char="v"/>
            </a:pPr>
            <a:r>
              <a:rPr lang="en-US" b="1" dirty="0"/>
              <a:t>Research based books, articles from Scholarly journals, Previous studies, dissertations, databases(organized collection of structured  information, or data typically stored in a computer system in SQL= Structured Query Language)</a:t>
            </a:r>
          </a:p>
          <a:p>
            <a:endParaRPr lang="en-US" dirty="0"/>
          </a:p>
        </p:txBody>
      </p:sp>
    </p:spTree>
    <p:extLst>
      <p:ext uri="{BB962C8B-B14F-4D97-AF65-F5344CB8AC3E}">
        <p14:creationId xmlns:p14="http://schemas.microsoft.com/office/powerpoint/2010/main" val="577969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959B-9283-9EF0-76A0-1B09817AFE97}"/>
              </a:ext>
            </a:extLst>
          </p:cNvPr>
          <p:cNvSpPr>
            <a:spLocks noGrp="1"/>
          </p:cNvSpPr>
          <p:nvPr>
            <p:ph type="title"/>
          </p:nvPr>
        </p:nvSpPr>
        <p:spPr>
          <a:xfrm>
            <a:off x="1158864" y="102021"/>
            <a:ext cx="9779183" cy="1192207"/>
          </a:xfrm>
        </p:spPr>
        <p:txBody>
          <a:bodyPr/>
          <a:lstStyle/>
          <a:p>
            <a:pPr algn="ctr"/>
            <a:r>
              <a:rPr lang="en-US" dirty="0">
                <a:solidFill>
                  <a:srgbClr val="00B050"/>
                </a:solidFill>
              </a:rPr>
              <a:t>Theoretical Framework</a:t>
            </a:r>
          </a:p>
        </p:txBody>
      </p:sp>
      <p:sp>
        <p:nvSpPr>
          <p:cNvPr id="3" name="Content Placeholder 2">
            <a:extLst>
              <a:ext uri="{FF2B5EF4-FFF2-40B4-BE49-F238E27FC236}">
                <a16:creationId xmlns:a16="http://schemas.microsoft.com/office/drawing/2014/main" id="{FF90964A-24A9-8E77-ED89-0C321BF93E3A}"/>
              </a:ext>
            </a:extLst>
          </p:cNvPr>
          <p:cNvSpPr>
            <a:spLocks noGrp="1"/>
          </p:cNvSpPr>
          <p:nvPr>
            <p:ph idx="1"/>
          </p:nvPr>
        </p:nvSpPr>
        <p:spPr>
          <a:xfrm>
            <a:off x="182880" y="1294228"/>
            <a:ext cx="11451102" cy="5563771"/>
          </a:xfrm>
        </p:spPr>
        <p:txBody>
          <a:bodyPr>
            <a:normAutofit/>
          </a:bodyPr>
          <a:lstStyle/>
          <a:p>
            <a:r>
              <a:rPr lang="en-US" sz="3600" b="1" dirty="0">
                <a:solidFill>
                  <a:srgbClr val="00B050"/>
                </a:solidFill>
              </a:rPr>
              <a:t>THEORY:</a:t>
            </a:r>
            <a:r>
              <a:rPr lang="en-US" dirty="0"/>
              <a:t> </a:t>
            </a:r>
          </a:p>
          <a:p>
            <a:pPr marL="457200" indent="-457200">
              <a:buFont typeface="Wingdings" panose="05000000000000000000" pitchFamily="2" charset="2"/>
              <a:buChar char="v"/>
            </a:pPr>
            <a:r>
              <a:rPr lang="en-US" sz="3200" b="1" dirty="0"/>
              <a:t>A theory is a set of interrelated constructs (concepts), definitions, and propositions that presents a systematic view of phenomenon by specifying relations among variables, with the purpose of explaining and predicting the phenomenon.</a:t>
            </a:r>
          </a:p>
          <a:p>
            <a:pPr marL="457200" indent="-457200">
              <a:buFont typeface="Wingdings" panose="05000000000000000000" pitchFamily="2" charset="2"/>
              <a:buChar char="v"/>
            </a:pPr>
            <a:r>
              <a:rPr lang="en-US" sz="3200" b="1" dirty="0"/>
              <a:t>According to Bernard Cohen, "A theory is a set of interrelated universal statements, some of which are definitions and some of which are relationships assumed to be true, together with a syntax, a set of rules for manipulating the statements to arrive at new statements" (1989, p. 178). </a:t>
            </a:r>
          </a:p>
          <a:p>
            <a:endParaRPr lang="en-US" sz="3200" b="1" dirty="0"/>
          </a:p>
          <a:p>
            <a:endParaRPr lang="en-US" dirty="0"/>
          </a:p>
        </p:txBody>
      </p:sp>
    </p:spTree>
    <p:extLst>
      <p:ext uri="{BB962C8B-B14F-4D97-AF65-F5344CB8AC3E}">
        <p14:creationId xmlns:p14="http://schemas.microsoft.com/office/powerpoint/2010/main" val="4715313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63FCD-D047-DFD8-0C0F-54D3DDB726ED}"/>
              </a:ext>
            </a:extLst>
          </p:cNvPr>
          <p:cNvSpPr>
            <a:spLocks noGrp="1"/>
          </p:cNvSpPr>
          <p:nvPr>
            <p:ph type="title"/>
          </p:nvPr>
        </p:nvSpPr>
        <p:spPr>
          <a:xfrm>
            <a:off x="1158864" y="102021"/>
            <a:ext cx="9779183" cy="1009327"/>
          </a:xfrm>
        </p:spPr>
        <p:txBody>
          <a:bodyPr/>
          <a:lstStyle/>
          <a:p>
            <a:pPr algn="ctr"/>
            <a:r>
              <a:rPr lang="en-US" dirty="0">
                <a:solidFill>
                  <a:srgbClr val="00B050"/>
                </a:solidFill>
              </a:rPr>
              <a:t>Developing Theoretical Framework</a:t>
            </a:r>
          </a:p>
        </p:txBody>
      </p:sp>
      <p:sp>
        <p:nvSpPr>
          <p:cNvPr id="3" name="Content Placeholder 2">
            <a:extLst>
              <a:ext uri="{FF2B5EF4-FFF2-40B4-BE49-F238E27FC236}">
                <a16:creationId xmlns:a16="http://schemas.microsoft.com/office/drawing/2014/main" id="{EC322AE1-70D4-F6A7-B0F4-B4D88ECD01F4}"/>
              </a:ext>
            </a:extLst>
          </p:cNvPr>
          <p:cNvSpPr>
            <a:spLocks noGrp="1"/>
          </p:cNvSpPr>
          <p:nvPr>
            <p:ph idx="1"/>
          </p:nvPr>
        </p:nvSpPr>
        <p:spPr>
          <a:xfrm>
            <a:off x="365760" y="1505243"/>
            <a:ext cx="10572287" cy="5120640"/>
          </a:xfrm>
        </p:spPr>
        <p:txBody>
          <a:bodyPr>
            <a:normAutofit fontScale="92500" lnSpcReduction="10000"/>
          </a:bodyPr>
          <a:lstStyle/>
          <a:p>
            <a:pPr marL="457200" indent="-457200">
              <a:buFont typeface="Wingdings" panose="05000000000000000000" pitchFamily="2" charset="2"/>
              <a:buChar char="v"/>
            </a:pPr>
            <a:r>
              <a:rPr lang="en-US" b="1" dirty="0"/>
              <a:t>What is your theoretical perspective?</a:t>
            </a:r>
          </a:p>
          <a:p>
            <a:pPr marL="457200" indent="-457200">
              <a:buFont typeface="Wingdings" panose="05000000000000000000" pitchFamily="2" charset="2"/>
              <a:buChar char="v"/>
            </a:pPr>
            <a:r>
              <a:rPr lang="en-US" b="1" dirty="0"/>
              <a:t>What does it claim?</a:t>
            </a:r>
          </a:p>
          <a:p>
            <a:pPr marL="457200" indent="-457200">
              <a:buFont typeface="Wingdings" panose="05000000000000000000" pitchFamily="2" charset="2"/>
              <a:buChar char="v"/>
            </a:pPr>
            <a:r>
              <a:rPr lang="en-US" b="1" dirty="0"/>
              <a:t>What are its major trends/models?</a:t>
            </a:r>
          </a:p>
          <a:p>
            <a:pPr marL="457200" indent="-457200">
              <a:buFont typeface="Wingdings" panose="05000000000000000000" pitchFamily="2" charset="2"/>
              <a:buChar char="v"/>
            </a:pPr>
            <a:r>
              <a:rPr lang="en-US" b="1" dirty="0"/>
              <a:t>Which trend/model are you applying in your study?</a:t>
            </a:r>
          </a:p>
          <a:p>
            <a:pPr marL="457200" indent="-457200">
              <a:buFont typeface="Wingdings" panose="05000000000000000000" pitchFamily="2" charset="2"/>
              <a:buChar char="v"/>
            </a:pPr>
            <a:r>
              <a:rPr lang="en-US" b="1" dirty="0"/>
              <a:t>What does it claim?</a:t>
            </a:r>
          </a:p>
          <a:p>
            <a:pPr marL="457200" indent="-457200">
              <a:buFont typeface="Wingdings" panose="05000000000000000000" pitchFamily="2" charset="2"/>
              <a:buChar char="v"/>
            </a:pPr>
            <a:r>
              <a:rPr lang="en-US" b="1" dirty="0"/>
              <a:t>Who are the major theorists of this trend/model?</a:t>
            </a:r>
          </a:p>
          <a:p>
            <a:pPr marL="457200" indent="-457200">
              <a:buFont typeface="Wingdings" panose="05000000000000000000" pitchFamily="2" charset="2"/>
              <a:buChar char="v"/>
            </a:pPr>
            <a:r>
              <a:rPr lang="en-US" b="1" dirty="0"/>
              <a:t>Who are the major theorists you are applying?</a:t>
            </a:r>
          </a:p>
          <a:p>
            <a:pPr marL="457200" indent="-457200">
              <a:buFont typeface="Wingdings" panose="05000000000000000000" pitchFamily="2" charset="2"/>
              <a:buChar char="v"/>
            </a:pPr>
            <a:r>
              <a:rPr lang="en-US" b="1" dirty="0"/>
              <a:t>What are their critical insights, with reference to their authentic books and articles,  that you are applying as theoretical parameters to </a:t>
            </a:r>
            <a:r>
              <a:rPr lang="en-US" b="1" dirty="0" err="1"/>
              <a:t>analyse</a:t>
            </a:r>
            <a:r>
              <a:rPr lang="en-US" b="1" dirty="0"/>
              <a:t> the texts under scrutiny in your study?</a:t>
            </a:r>
          </a:p>
          <a:p>
            <a:pPr marL="457200" indent="-457200">
              <a:buFont typeface="Wingdings" panose="05000000000000000000" pitchFamily="2" charset="2"/>
              <a:buChar char="v"/>
            </a:pPr>
            <a:r>
              <a:rPr lang="en-US" b="1" dirty="0">
                <a:solidFill>
                  <a:srgbClr val="0070C0"/>
                </a:solidFill>
              </a:rPr>
              <a:t>Remember:</a:t>
            </a:r>
            <a:r>
              <a:rPr lang="en-US" dirty="0"/>
              <a:t> </a:t>
            </a:r>
            <a:r>
              <a:rPr lang="en-US" b="1" dirty="0">
                <a:solidFill>
                  <a:srgbClr val="FF0000"/>
                </a:solidFill>
              </a:rPr>
              <a:t>These critical insights are  Theoretical parameters  in your study. These theoretical parameters constitute theoretical Framework.</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9683140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14F08-0445-5494-4AE7-75BEFC08D38A}"/>
              </a:ext>
            </a:extLst>
          </p:cNvPr>
          <p:cNvSpPr>
            <a:spLocks noGrp="1"/>
          </p:cNvSpPr>
          <p:nvPr>
            <p:ph type="title"/>
          </p:nvPr>
        </p:nvSpPr>
        <p:spPr>
          <a:xfrm>
            <a:off x="858130" y="102022"/>
            <a:ext cx="10079918" cy="1206274"/>
          </a:xfrm>
        </p:spPr>
        <p:txBody>
          <a:bodyPr/>
          <a:lstStyle/>
          <a:p>
            <a:pPr algn="ctr"/>
            <a:r>
              <a:rPr lang="en-US" dirty="0">
                <a:solidFill>
                  <a:srgbClr val="00B050"/>
                </a:solidFill>
              </a:rPr>
              <a:t>Textual Analysis/Results and Discussion</a:t>
            </a:r>
          </a:p>
        </p:txBody>
      </p:sp>
      <p:sp>
        <p:nvSpPr>
          <p:cNvPr id="3" name="Content Placeholder 2">
            <a:extLst>
              <a:ext uri="{FF2B5EF4-FFF2-40B4-BE49-F238E27FC236}">
                <a16:creationId xmlns:a16="http://schemas.microsoft.com/office/drawing/2014/main" id="{F8A9F1F9-F659-1474-4DDC-3BFA430AD9A3}"/>
              </a:ext>
            </a:extLst>
          </p:cNvPr>
          <p:cNvSpPr>
            <a:spLocks noGrp="1"/>
          </p:cNvSpPr>
          <p:nvPr>
            <p:ph idx="1"/>
          </p:nvPr>
        </p:nvSpPr>
        <p:spPr>
          <a:xfrm>
            <a:off x="393895" y="1519311"/>
            <a:ext cx="11169748" cy="5236667"/>
          </a:xfrm>
        </p:spPr>
        <p:txBody>
          <a:bodyPr/>
          <a:lstStyle/>
          <a:p>
            <a:pPr marL="457200" indent="-457200">
              <a:buFont typeface="Wingdings" panose="05000000000000000000" pitchFamily="2" charset="2"/>
              <a:buChar char="v"/>
            </a:pPr>
            <a:r>
              <a:rPr lang="en-US" sz="3600" b="1" dirty="0"/>
              <a:t>Heart of Research paper</a:t>
            </a:r>
          </a:p>
          <a:p>
            <a:pPr marL="457200" indent="-457200">
              <a:buFont typeface="Wingdings" panose="05000000000000000000" pitchFamily="2" charset="2"/>
              <a:buChar char="v"/>
            </a:pPr>
            <a:r>
              <a:rPr lang="en-US" sz="3600" b="1" dirty="0"/>
              <a:t>Provide appropriate thematic subheadings</a:t>
            </a:r>
          </a:p>
          <a:p>
            <a:pPr marL="457200" indent="-457200">
              <a:buFont typeface="Wingdings" panose="05000000000000000000" pitchFamily="2" charset="2"/>
              <a:buChar char="v"/>
            </a:pPr>
            <a:r>
              <a:rPr lang="en-US" sz="3600" b="1" dirty="0"/>
              <a:t>Provide appropriate tables, charts, graphic presentation, map</a:t>
            </a:r>
          </a:p>
          <a:p>
            <a:pPr marL="457200" indent="-457200">
              <a:buFont typeface="Wingdings" panose="05000000000000000000" pitchFamily="2" charset="2"/>
              <a:buChar char="v"/>
            </a:pPr>
            <a:r>
              <a:rPr lang="en-US" sz="3600" b="1" dirty="0"/>
              <a:t>Each paragraph must be organic: Topic sentence(idea/claim) and supportive details (SAFER)</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25002292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7E181E-B4AB-9203-03D7-98798BA526C2}"/>
              </a:ext>
            </a:extLst>
          </p:cNvPr>
          <p:cNvSpPr>
            <a:spLocks noGrp="1"/>
          </p:cNvSpPr>
          <p:nvPr>
            <p:ph idx="1"/>
          </p:nvPr>
        </p:nvSpPr>
        <p:spPr>
          <a:xfrm>
            <a:off x="168812" y="422031"/>
            <a:ext cx="10769235" cy="6035040"/>
          </a:xfrm>
        </p:spPr>
        <p:txBody>
          <a:bodyPr/>
          <a:lstStyle/>
          <a:p>
            <a:pPr marL="457200" indent="-457200">
              <a:buFont typeface="Wingdings" panose="05000000000000000000" pitchFamily="2" charset="2"/>
              <a:buChar char="v"/>
            </a:pPr>
            <a:r>
              <a:rPr lang="en-US" sz="3600" b="1" dirty="0"/>
              <a:t>Each paragraph of the body part must have: point/claim/argument + textual/study area evidence(s) + interpretation/Reflection supported by theoretical insight(s)</a:t>
            </a:r>
          </a:p>
          <a:p>
            <a:pPr marL="457200" indent="-457200">
              <a:buFont typeface="Wingdings" panose="05000000000000000000" pitchFamily="2" charset="2"/>
              <a:buChar char="v"/>
            </a:pPr>
            <a:r>
              <a:rPr lang="en-US" sz="3600" b="1" dirty="0"/>
              <a:t>Use appropriate linking words/signal phrases to establish cohesion between paragraphs</a:t>
            </a:r>
          </a:p>
          <a:p>
            <a:pPr marL="457200" indent="-457200">
              <a:buFont typeface="Wingdings" panose="05000000000000000000" pitchFamily="2" charset="2"/>
              <a:buChar char="v"/>
            </a:pPr>
            <a:r>
              <a:rPr lang="en-US" sz="3600" b="1" dirty="0"/>
              <a:t>Be careful to maintain logical development of thoughts between paragraphs</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34967014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6B982-D586-C857-1F67-6051B2EE73F1}"/>
              </a:ext>
            </a:extLst>
          </p:cNvPr>
          <p:cNvSpPr>
            <a:spLocks noGrp="1"/>
          </p:cNvSpPr>
          <p:nvPr>
            <p:ph type="title"/>
          </p:nvPr>
        </p:nvSpPr>
        <p:spPr>
          <a:xfrm>
            <a:off x="1167492" y="136527"/>
            <a:ext cx="9601200" cy="1242108"/>
          </a:xfrm>
        </p:spPr>
        <p:txBody>
          <a:bodyPr/>
          <a:lstStyle/>
          <a:p>
            <a:r>
              <a:rPr lang="en-US" dirty="0"/>
              <a:t>Analysis of </a:t>
            </a:r>
            <a:r>
              <a:rPr lang="en-US" i="1" dirty="0"/>
              <a:t>The Drought</a:t>
            </a:r>
          </a:p>
        </p:txBody>
      </p:sp>
      <p:sp>
        <p:nvSpPr>
          <p:cNvPr id="3" name="Content Placeholder 2">
            <a:extLst>
              <a:ext uri="{FF2B5EF4-FFF2-40B4-BE49-F238E27FC236}">
                <a16:creationId xmlns:a16="http://schemas.microsoft.com/office/drawing/2014/main" id="{19AC93F4-C77F-6807-6DAD-C1AF3130DC64}"/>
              </a:ext>
            </a:extLst>
          </p:cNvPr>
          <p:cNvSpPr>
            <a:spLocks noGrp="1"/>
          </p:cNvSpPr>
          <p:nvPr>
            <p:ph idx="1"/>
          </p:nvPr>
        </p:nvSpPr>
        <p:spPr>
          <a:xfrm>
            <a:off x="182880" y="1756697"/>
            <a:ext cx="5648053" cy="4964776"/>
          </a:xfrm>
        </p:spPr>
        <p:txBody>
          <a:bodyPr/>
          <a:lstStyle/>
          <a:p>
            <a:r>
              <a:rPr lang="en-US" sz="2800" b="1" dirty="0">
                <a:solidFill>
                  <a:srgbClr val="FF0000"/>
                </a:solidFill>
              </a:rPr>
              <a:t>Claim: Planetary crisis, a result of anthropocentrism, is maintained incorporating eco-centrism</a:t>
            </a:r>
            <a:r>
              <a:rPr lang="en-US" sz="2800" b="1" dirty="0"/>
              <a:t>. (shift)</a:t>
            </a:r>
          </a:p>
          <a:p>
            <a:r>
              <a:rPr lang="en-US" sz="2800" b="1" dirty="0"/>
              <a:t>	Textual evidences:</a:t>
            </a:r>
          </a:p>
          <a:p>
            <a:r>
              <a:rPr lang="en-US" sz="2800" b="1" dirty="0">
                <a:solidFill>
                  <a:srgbClr val="002060"/>
                </a:solidFill>
              </a:rPr>
              <a:t>The world looks dead, ". . . the dead birds floating in the water" (Ballard </a:t>
            </a:r>
            <a:r>
              <a:rPr lang="en-US" sz="2800" b="1" dirty="0" err="1">
                <a:solidFill>
                  <a:srgbClr val="002060"/>
                </a:solidFill>
              </a:rPr>
              <a:t>ch.</a:t>
            </a:r>
            <a:r>
              <a:rPr lang="en-US" sz="2800" b="1" dirty="0">
                <a:solidFill>
                  <a:srgbClr val="002060"/>
                </a:solidFill>
              </a:rPr>
              <a:t> 1)</a:t>
            </a:r>
          </a:p>
          <a:p>
            <a:r>
              <a:rPr lang="en-US" sz="2800" b="1" dirty="0">
                <a:solidFill>
                  <a:srgbClr val="002060"/>
                </a:solidFill>
              </a:rPr>
              <a:t>“Streams that disappeared " (Ballard </a:t>
            </a:r>
            <a:r>
              <a:rPr lang="en-US" sz="2800" b="1" dirty="0" err="1">
                <a:solidFill>
                  <a:srgbClr val="002060"/>
                </a:solidFill>
              </a:rPr>
              <a:t>ch.</a:t>
            </a:r>
            <a:r>
              <a:rPr lang="en-US" sz="2800" b="1" dirty="0">
                <a:solidFill>
                  <a:srgbClr val="002060"/>
                </a:solidFill>
              </a:rPr>
              <a:t> 19). </a:t>
            </a:r>
          </a:p>
          <a:p>
            <a:r>
              <a:rPr lang="en-US" sz="2800" b="1" dirty="0">
                <a:solidFill>
                  <a:srgbClr val="002060"/>
                </a:solidFill>
              </a:rPr>
              <a:t>(Ransom- science and technology)</a:t>
            </a:r>
          </a:p>
          <a:p>
            <a:endParaRPr lang="en-US" dirty="0"/>
          </a:p>
        </p:txBody>
      </p:sp>
      <p:sp>
        <p:nvSpPr>
          <p:cNvPr id="4" name="Content Placeholder 3">
            <a:extLst>
              <a:ext uri="{FF2B5EF4-FFF2-40B4-BE49-F238E27FC236}">
                <a16:creationId xmlns:a16="http://schemas.microsoft.com/office/drawing/2014/main" id="{47E3E38B-DF91-F51F-39B4-D29893353BA7}"/>
              </a:ext>
            </a:extLst>
          </p:cNvPr>
          <p:cNvSpPr>
            <a:spLocks noGrp="1"/>
          </p:cNvSpPr>
          <p:nvPr>
            <p:ph idx="10"/>
          </p:nvPr>
        </p:nvSpPr>
        <p:spPr>
          <a:xfrm>
            <a:off x="6283234" y="1756697"/>
            <a:ext cx="5421085" cy="5101303"/>
          </a:xfrm>
        </p:spPr>
        <p:txBody>
          <a:bodyPr/>
          <a:lstStyle/>
          <a:p>
            <a:pPr marL="457200" indent="-457200">
              <a:buFont typeface="Arial" panose="020B0604020202020204" pitchFamily="34" charset="0"/>
              <a:buChar char="•"/>
            </a:pPr>
            <a:r>
              <a:rPr lang="en-US" sz="2800" b="1" dirty="0">
                <a:solidFill>
                  <a:srgbClr val="C00000"/>
                </a:solidFill>
              </a:rPr>
              <a:t>Merchant</a:t>
            </a:r>
            <a:r>
              <a:rPr lang="en-US" sz="2800" b="1" dirty="0"/>
              <a:t> : organic world to mechanical world (p. 1,69)</a:t>
            </a:r>
          </a:p>
          <a:p>
            <a:pPr marL="457200" indent="-457200">
              <a:buFont typeface="Arial" panose="020B0604020202020204" pitchFamily="34" charset="0"/>
              <a:buChar char="•"/>
            </a:pPr>
            <a:r>
              <a:rPr lang="en-US" sz="2800" b="1" dirty="0"/>
              <a:t>Situation is beyond human control </a:t>
            </a:r>
          </a:p>
          <a:p>
            <a:pPr marL="457200" indent="-457200">
              <a:buFont typeface="Arial" panose="020B0604020202020204" pitchFamily="34" charset="0"/>
              <a:buChar char="•"/>
            </a:pPr>
            <a:r>
              <a:rPr lang="en-US" sz="2800" b="1" dirty="0"/>
              <a:t>Who is responsible ?	</a:t>
            </a:r>
          </a:p>
          <a:p>
            <a:pPr marL="457200" indent="-457200">
              <a:buFont typeface="Arial" panose="020B0604020202020204" pitchFamily="34" charset="0"/>
              <a:buChar char="•"/>
            </a:pPr>
            <a:r>
              <a:rPr lang="en-US" sz="2800" b="1" dirty="0"/>
              <a:t>Nature’s turn- it rains at last</a:t>
            </a:r>
          </a:p>
          <a:p>
            <a:pPr marL="457200" indent="-457200">
              <a:buFont typeface="Arial" panose="020B0604020202020204" pitchFamily="34" charset="0"/>
              <a:buChar char="•"/>
            </a:pPr>
            <a:r>
              <a:rPr lang="en-US" sz="2800" b="1" dirty="0">
                <a:solidFill>
                  <a:srgbClr val="C00000"/>
                </a:solidFill>
              </a:rPr>
              <a:t>Merchant</a:t>
            </a:r>
            <a:r>
              <a:rPr lang="en-US" sz="2800" b="1" dirty="0"/>
              <a:t>- “Earth, a kindly benevolent female who provided for the needs of mankind” (p. 2). </a:t>
            </a:r>
          </a:p>
          <a:p>
            <a:endParaRPr lang="en-US" dirty="0"/>
          </a:p>
        </p:txBody>
      </p:sp>
    </p:spTree>
    <p:extLst>
      <p:ext uri="{BB962C8B-B14F-4D97-AF65-F5344CB8AC3E}">
        <p14:creationId xmlns:p14="http://schemas.microsoft.com/office/powerpoint/2010/main" val="29822351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63DCA-F99F-06E4-3E32-1C9E54046101}"/>
              </a:ext>
            </a:extLst>
          </p:cNvPr>
          <p:cNvSpPr>
            <a:spLocks noGrp="1"/>
          </p:cNvSpPr>
          <p:nvPr>
            <p:ph type="title"/>
          </p:nvPr>
        </p:nvSpPr>
        <p:spPr>
          <a:xfrm>
            <a:off x="1167492" y="136527"/>
            <a:ext cx="9601200" cy="974822"/>
          </a:xfrm>
        </p:spPr>
        <p:txBody>
          <a:bodyPr/>
          <a:lstStyle/>
          <a:p>
            <a:pPr algn="ctr"/>
            <a:r>
              <a:rPr lang="en-US" sz="3200" dirty="0"/>
              <a:t>Analysis of </a:t>
            </a:r>
            <a:r>
              <a:rPr lang="en-US" sz="3200" i="1" dirty="0"/>
              <a:t>Surfacing</a:t>
            </a:r>
            <a:r>
              <a:rPr lang="en-US" sz="3200" dirty="0"/>
              <a:t> </a:t>
            </a:r>
          </a:p>
        </p:txBody>
      </p:sp>
      <p:sp>
        <p:nvSpPr>
          <p:cNvPr id="3" name="Content Placeholder 2">
            <a:extLst>
              <a:ext uri="{FF2B5EF4-FFF2-40B4-BE49-F238E27FC236}">
                <a16:creationId xmlns:a16="http://schemas.microsoft.com/office/drawing/2014/main" id="{B37E1710-90E6-47A9-4E72-49E8BF0343F6}"/>
              </a:ext>
            </a:extLst>
          </p:cNvPr>
          <p:cNvSpPr>
            <a:spLocks noGrp="1"/>
          </p:cNvSpPr>
          <p:nvPr>
            <p:ph idx="1"/>
          </p:nvPr>
        </p:nvSpPr>
        <p:spPr>
          <a:xfrm>
            <a:off x="295422" y="1392701"/>
            <a:ext cx="5535511" cy="5328771"/>
          </a:xfrm>
        </p:spPr>
        <p:txBody>
          <a:bodyPr/>
          <a:lstStyle/>
          <a:p>
            <a:r>
              <a:rPr lang="en-US" sz="2800" b="1" dirty="0">
                <a:solidFill>
                  <a:schemeClr val="accent1"/>
                </a:solidFill>
                <a:latin typeface="Times New Roman" panose="02020603050405020304" pitchFamily="18" charset="0"/>
                <a:cs typeface="Times New Roman" panose="02020603050405020304" pitchFamily="18" charset="0"/>
              </a:rPr>
              <a:t>Claim- Women and nature are considered like resources to meet the goals of dominant groups.</a:t>
            </a:r>
          </a:p>
          <a:p>
            <a:r>
              <a:rPr lang="en-US" sz="2800" b="1" dirty="0">
                <a:latin typeface="Times New Roman" panose="02020603050405020304" pitchFamily="18" charset="0"/>
                <a:cs typeface="Times New Roman" panose="02020603050405020304" pitchFamily="18" charset="0"/>
              </a:rPr>
              <a:t>Textual lines </a:t>
            </a:r>
          </a:p>
          <a:p>
            <a:r>
              <a:rPr lang="en-US" sz="2800" b="1" dirty="0">
                <a:latin typeface="Times New Roman" panose="02020603050405020304" pitchFamily="18" charset="0"/>
                <a:cs typeface="Times New Roman" panose="02020603050405020304" pitchFamily="18" charset="0"/>
              </a:rPr>
              <a:t>“He said it wasn't a person, only an animal” (185).</a:t>
            </a:r>
          </a:p>
          <a:p>
            <a:r>
              <a:rPr lang="en-US" sz="2800" b="1" dirty="0">
                <a:latin typeface="Times New Roman" panose="02020603050405020304" pitchFamily="18" charset="0"/>
                <a:cs typeface="Times New Roman" panose="02020603050405020304" pitchFamily="18" charset="0"/>
              </a:rPr>
              <a:t>Anna’s body “need a naked lady” for promotion (171). </a:t>
            </a:r>
          </a:p>
          <a:p>
            <a:r>
              <a:rPr lang="en-US" sz="2800" b="1" dirty="0">
                <a:latin typeface="Times New Roman" panose="02020603050405020304" pitchFamily="18" charset="0"/>
                <a:cs typeface="Times New Roman" panose="02020603050405020304" pitchFamily="18" charset="0"/>
              </a:rPr>
              <a:t>“the heron dangled, upside down (151)”/“Birches are dying (1)”</a:t>
            </a:r>
          </a:p>
          <a:p>
            <a:endParaRPr lang="en-US" dirty="0"/>
          </a:p>
        </p:txBody>
      </p:sp>
      <p:sp>
        <p:nvSpPr>
          <p:cNvPr id="4" name="Content Placeholder 3">
            <a:extLst>
              <a:ext uri="{FF2B5EF4-FFF2-40B4-BE49-F238E27FC236}">
                <a16:creationId xmlns:a16="http://schemas.microsoft.com/office/drawing/2014/main" id="{435CE08A-8AB1-7A61-DC8D-8592D51D29B0}"/>
              </a:ext>
            </a:extLst>
          </p:cNvPr>
          <p:cNvSpPr>
            <a:spLocks noGrp="1"/>
          </p:cNvSpPr>
          <p:nvPr>
            <p:ph idx="10"/>
          </p:nvPr>
        </p:nvSpPr>
        <p:spPr>
          <a:xfrm>
            <a:off x="6283234" y="1392701"/>
            <a:ext cx="5308543" cy="5328771"/>
          </a:xfrm>
        </p:spPr>
        <p:txBody>
          <a:bodyPr/>
          <a:lstStyle/>
          <a:p>
            <a:r>
              <a:rPr lang="en-US" sz="2800" b="1" dirty="0">
                <a:solidFill>
                  <a:srgbClr val="FF0000"/>
                </a:solidFill>
                <a:latin typeface="Times New Roman" panose="02020603050405020304" pitchFamily="18" charset="0"/>
                <a:cs typeface="Times New Roman" panose="02020603050405020304" pitchFamily="18" charset="0"/>
              </a:rPr>
              <a:t>Fetus, women’s body, animal, and dying trees =resources</a:t>
            </a:r>
          </a:p>
          <a:p>
            <a:endParaRPr lang="en-US" sz="2800" b="1" dirty="0">
              <a:solidFill>
                <a:srgbClr val="FF0000"/>
              </a:solidFill>
              <a:latin typeface="Times New Roman" panose="02020603050405020304" pitchFamily="18" charset="0"/>
              <a:cs typeface="Times New Roman" panose="02020603050405020304" pitchFamily="18" charset="0"/>
            </a:endParaRPr>
          </a:p>
          <a:p>
            <a:r>
              <a:rPr lang="en-US" sz="2800" b="1" dirty="0">
                <a:solidFill>
                  <a:srgbClr val="FF0000"/>
                </a:solidFill>
                <a:latin typeface="Times New Roman" panose="02020603050405020304" pitchFamily="18" charset="0"/>
                <a:cs typeface="Times New Roman" panose="02020603050405020304" pitchFamily="18" charset="0"/>
              </a:rPr>
              <a:t>Shiva and Miles , “we saw a connection between the oppression of Women, Children &amp; Nature”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6266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5DD1C-81A7-3C2B-DE2F-A68F4A5DEB5E}"/>
              </a:ext>
            </a:extLst>
          </p:cNvPr>
          <p:cNvSpPr>
            <a:spLocks noGrp="1"/>
          </p:cNvSpPr>
          <p:nvPr>
            <p:ph type="title"/>
          </p:nvPr>
        </p:nvSpPr>
        <p:spPr>
          <a:xfrm>
            <a:off x="1167492" y="136526"/>
            <a:ext cx="9601200" cy="609061"/>
          </a:xfrm>
        </p:spPr>
        <p:txBody>
          <a:bodyPr/>
          <a:lstStyle/>
          <a:p>
            <a:endParaRPr lang="en-US" dirty="0"/>
          </a:p>
        </p:txBody>
      </p:sp>
      <p:sp>
        <p:nvSpPr>
          <p:cNvPr id="3" name="Content Placeholder 2">
            <a:extLst>
              <a:ext uri="{FF2B5EF4-FFF2-40B4-BE49-F238E27FC236}">
                <a16:creationId xmlns:a16="http://schemas.microsoft.com/office/drawing/2014/main" id="{BFCE5EAB-0875-903A-CFAF-AE1CA16B9B7E}"/>
              </a:ext>
            </a:extLst>
          </p:cNvPr>
          <p:cNvSpPr>
            <a:spLocks noGrp="1"/>
          </p:cNvSpPr>
          <p:nvPr>
            <p:ph idx="1"/>
          </p:nvPr>
        </p:nvSpPr>
        <p:spPr>
          <a:xfrm>
            <a:off x="365760" y="844062"/>
            <a:ext cx="5465173" cy="5739618"/>
          </a:xfrm>
        </p:spPr>
        <p:txBody>
          <a:bodyPr/>
          <a:lstStyle/>
          <a:p>
            <a:r>
              <a:rPr lang="en-US" sz="3200" b="1" dirty="0">
                <a:latin typeface="Times New Roman" panose="02020603050405020304" pitchFamily="18" charset="0"/>
                <a:cs typeface="Times New Roman" panose="02020603050405020304" pitchFamily="18" charset="0"/>
              </a:rPr>
              <a:t>She narrates, "I am a tree . . . I am a place" (236). </a:t>
            </a:r>
          </a:p>
          <a:p>
            <a:r>
              <a:rPr lang="en-US" sz="3200" b="1" dirty="0">
                <a:latin typeface="Times New Roman" panose="02020603050405020304" pitchFamily="18" charset="0"/>
                <a:cs typeface="Times New Roman" panose="02020603050405020304" pitchFamily="18" charset="0"/>
              </a:rPr>
              <a:t>The rules are over. I can go anywhere now. (245).</a:t>
            </a:r>
          </a:p>
          <a:p>
            <a:r>
              <a:rPr lang="en-US" sz="3200" b="1" dirty="0">
                <a:latin typeface="Times New Roman" panose="02020603050405020304" pitchFamily="18" charset="0"/>
                <a:cs typeface="Times New Roman" panose="02020603050405020304" pitchFamily="18" charset="0"/>
              </a:rPr>
              <a:t>This above all, to refuse to be a victim…I re-enter my own time" (249). </a:t>
            </a:r>
          </a:p>
          <a:p>
            <a:r>
              <a:rPr lang="en-US" sz="3200" b="1" dirty="0">
                <a:latin typeface="Times New Roman" panose="02020603050405020304" pitchFamily="18" charset="0"/>
                <a:cs typeface="Times New Roman" panose="02020603050405020304" pitchFamily="18" charset="0"/>
              </a:rPr>
              <a:t>She is pregnant with Joe again.</a:t>
            </a:r>
          </a:p>
          <a:p>
            <a:endParaRPr lang="en-US" dirty="0"/>
          </a:p>
        </p:txBody>
      </p:sp>
      <p:sp>
        <p:nvSpPr>
          <p:cNvPr id="4" name="Content Placeholder 3">
            <a:extLst>
              <a:ext uri="{FF2B5EF4-FFF2-40B4-BE49-F238E27FC236}">
                <a16:creationId xmlns:a16="http://schemas.microsoft.com/office/drawing/2014/main" id="{FF2B855C-7A66-586C-237B-A6BB21A93506}"/>
              </a:ext>
            </a:extLst>
          </p:cNvPr>
          <p:cNvSpPr>
            <a:spLocks noGrp="1"/>
          </p:cNvSpPr>
          <p:nvPr>
            <p:ph idx="10"/>
          </p:nvPr>
        </p:nvSpPr>
        <p:spPr>
          <a:xfrm>
            <a:off x="6283235" y="844062"/>
            <a:ext cx="5210070" cy="5739618"/>
          </a:xfrm>
        </p:spPr>
        <p:txBody>
          <a:bodyPr>
            <a:normAutofit fontScale="92500" lnSpcReduction="10000"/>
          </a:bodyPr>
          <a:lstStyle/>
          <a:p>
            <a:r>
              <a:rPr lang="en-US" sz="3200" b="1" dirty="0">
                <a:latin typeface="Times New Roman" panose="02020603050405020304" pitchFamily="18" charset="0"/>
                <a:cs typeface="Times New Roman" panose="02020603050405020304" pitchFamily="18" charset="0"/>
              </a:rPr>
              <a:t>Discussion</a:t>
            </a:r>
          </a:p>
          <a:p>
            <a:r>
              <a:rPr lang="en-US" sz="3200" b="1" dirty="0">
                <a:latin typeface="Times New Roman" panose="02020603050405020304" pitchFamily="18" charset="0"/>
                <a:cs typeface="Times New Roman" panose="02020603050405020304" pitchFamily="18" charset="0"/>
              </a:rPr>
              <a:t>How does shift take place?</a:t>
            </a:r>
          </a:p>
          <a:p>
            <a:endParaRPr lang="en-US" sz="3200" b="1"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Two reasons:</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From commercial artist to nature lover.</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She can resist masculine principles , but not men. (Ef politics inclusive, diversified)</a:t>
            </a:r>
          </a:p>
          <a:p>
            <a:r>
              <a:rPr lang="en-US" sz="3200" b="1" dirty="0">
                <a:solidFill>
                  <a:srgbClr val="C00000"/>
                </a:solidFill>
                <a:latin typeface="Times New Roman" panose="02020603050405020304" pitchFamily="18" charset="0"/>
                <a:cs typeface="Times New Roman" panose="02020603050405020304" pitchFamily="18" charset="0"/>
              </a:rPr>
              <a:t>Karren Warren: Ecofeminist  politics should not be male biased but based on pluralism.</a:t>
            </a:r>
          </a:p>
          <a:p>
            <a:endParaRPr lang="en-US" dirty="0"/>
          </a:p>
        </p:txBody>
      </p:sp>
    </p:spTree>
    <p:extLst>
      <p:ext uri="{BB962C8B-B14F-4D97-AF65-F5344CB8AC3E}">
        <p14:creationId xmlns:p14="http://schemas.microsoft.com/office/powerpoint/2010/main" val="18887537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9B5F3-A4E0-1884-84D6-B6A794573D96}"/>
              </a:ext>
            </a:extLst>
          </p:cNvPr>
          <p:cNvSpPr>
            <a:spLocks noGrp="1"/>
          </p:cNvSpPr>
          <p:nvPr>
            <p:ph type="title"/>
          </p:nvPr>
        </p:nvSpPr>
        <p:spPr>
          <a:xfrm>
            <a:off x="1158864" y="102022"/>
            <a:ext cx="9779183" cy="1206274"/>
          </a:xfrm>
        </p:spPr>
        <p:txBody>
          <a:bodyPr/>
          <a:lstStyle/>
          <a:p>
            <a:pPr algn="ctr"/>
            <a:r>
              <a:rPr lang="en-US" dirty="0">
                <a:solidFill>
                  <a:srgbClr val="00B050"/>
                </a:solidFill>
              </a:rPr>
              <a:t>Conclusion</a:t>
            </a:r>
          </a:p>
        </p:txBody>
      </p:sp>
      <p:sp>
        <p:nvSpPr>
          <p:cNvPr id="3" name="Content Placeholder 2">
            <a:extLst>
              <a:ext uri="{FF2B5EF4-FFF2-40B4-BE49-F238E27FC236}">
                <a16:creationId xmlns:a16="http://schemas.microsoft.com/office/drawing/2014/main" id="{2F66B52A-3382-11E2-077B-BA4E05E1D325}"/>
              </a:ext>
            </a:extLst>
          </p:cNvPr>
          <p:cNvSpPr>
            <a:spLocks noGrp="1"/>
          </p:cNvSpPr>
          <p:nvPr>
            <p:ph idx="1"/>
          </p:nvPr>
        </p:nvSpPr>
        <p:spPr>
          <a:xfrm>
            <a:off x="337625" y="1519310"/>
            <a:ext cx="11127544" cy="5236667"/>
          </a:xfrm>
        </p:spPr>
        <p:txBody>
          <a:bodyPr/>
          <a:lstStyle/>
          <a:p>
            <a:pPr marL="457200" indent="-457200">
              <a:buFont typeface="Wingdings" panose="05000000000000000000" pitchFamily="2" charset="2"/>
              <a:buChar char="v"/>
            </a:pPr>
            <a:r>
              <a:rPr lang="en-US" sz="3200" b="1" dirty="0">
                <a:solidFill>
                  <a:srgbClr val="7030A0"/>
                </a:solidFill>
              </a:rPr>
              <a:t>Restatement of the thesis statement</a:t>
            </a:r>
          </a:p>
          <a:p>
            <a:pPr marL="457200" indent="-457200">
              <a:buFont typeface="Wingdings" panose="05000000000000000000" pitchFamily="2" charset="2"/>
              <a:buChar char="v"/>
            </a:pPr>
            <a:r>
              <a:rPr lang="en-US" sz="3200" b="1" dirty="0">
                <a:solidFill>
                  <a:srgbClr val="7030A0"/>
                </a:solidFill>
              </a:rPr>
              <a:t>How the gap is addressed/filled with</a:t>
            </a:r>
          </a:p>
          <a:p>
            <a:pPr marL="457200" indent="-457200">
              <a:buFont typeface="Wingdings" panose="05000000000000000000" pitchFamily="2" charset="2"/>
              <a:buChar char="v"/>
            </a:pPr>
            <a:r>
              <a:rPr lang="en-US" sz="3200" b="1" dirty="0">
                <a:solidFill>
                  <a:srgbClr val="7030A0"/>
                </a:solidFill>
              </a:rPr>
              <a:t>Gist of the results and discussion</a:t>
            </a:r>
          </a:p>
          <a:p>
            <a:pPr marL="457200" indent="-457200">
              <a:buFont typeface="Wingdings" panose="05000000000000000000" pitchFamily="2" charset="2"/>
              <a:buChar char="v"/>
            </a:pPr>
            <a:r>
              <a:rPr lang="en-US" sz="3200" b="1" dirty="0">
                <a:solidFill>
                  <a:srgbClr val="7030A0"/>
                </a:solidFill>
              </a:rPr>
              <a:t>Your judgmental remarks after carrying out a thorough academic research</a:t>
            </a:r>
          </a:p>
          <a:p>
            <a:pPr marL="457200" indent="-457200">
              <a:buFont typeface="Wingdings" panose="05000000000000000000" pitchFamily="2" charset="2"/>
              <a:buChar char="v"/>
            </a:pPr>
            <a:r>
              <a:rPr lang="en-US" sz="3200" b="1" dirty="0">
                <a:solidFill>
                  <a:srgbClr val="7030A0"/>
                </a:solidFill>
              </a:rPr>
              <a:t>Recommendation for further lines of research</a:t>
            </a:r>
          </a:p>
          <a:p>
            <a:pPr marL="457200" indent="-457200">
              <a:buFont typeface="Wingdings" panose="05000000000000000000" pitchFamily="2" charset="2"/>
              <a:buChar char="v"/>
            </a:pPr>
            <a:endParaRPr lang="en-US" b="1" dirty="0">
              <a:solidFill>
                <a:srgbClr val="7030A0"/>
              </a:solidFill>
            </a:endParaRPr>
          </a:p>
        </p:txBody>
      </p:sp>
    </p:spTree>
    <p:extLst>
      <p:ext uri="{BB962C8B-B14F-4D97-AF65-F5344CB8AC3E}">
        <p14:creationId xmlns:p14="http://schemas.microsoft.com/office/powerpoint/2010/main" val="13736078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E0169-028C-5FA7-E5EE-1C13B56405F2}"/>
              </a:ext>
            </a:extLst>
          </p:cNvPr>
          <p:cNvSpPr>
            <a:spLocks noGrp="1"/>
          </p:cNvSpPr>
          <p:nvPr>
            <p:ph type="title"/>
          </p:nvPr>
        </p:nvSpPr>
        <p:spPr>
          <a:xfrm>
            <a:off x="1158864" y="102022"/>
            <a:ext cx="9779183" cy="1234410"/>
          </a:xfrm>
        </p:spPr>
        <p:txBody>
          <a:bodyPr/>
          <a:lstStyle/>
          <a:p>
            <a:pPr algn="ctr"/>
            <a:br>
              <a:rPr lang="en-US" dirty="0"/>
            </a:br>
            <a:br>
              <a:rPr lang="en-US" dirty="0"/>
            </a:br>
            <a:br>
              <a:rPr lang="en-US" dirty="0"/>
            </a:br>
            <a:r>
              <a:rPr lang="en-US" dirty="0">
                <a:solidFill>
                  <a:srgbClr val="00B050"/>
                </a:solidFill>
              </a:rPr>
              <a:t>Language of Scientific Writing</a:t>
            </a:r>
          </a:p>
        </p:txBody>
      </p:sp>
      <p:sp>
        <p:nvSpPr>
          <p:cNvPr id="3" name="Content Placeholder 2">
            <a:extLst>
              <a:ext uri="{FF2B5EF4-FFF2-40B4-BE49-F238E27FC236}">
                <a16:creationId xmlns:a16="http://schemas.microsoft.com/office/drawing/2014/main" id="{34F2E230-C2A6-B7E1-3A10-8215D25878AA}"/>
              </a:ext>
            </a:extLst>
          </p:cNvPr>
          <p:cNvSpPr>
            <a:spLocks noGrp="1"/>
          </p:cNvSpPr>
          <p:nvPr>
            <p:ph idx="1"/>
          </p:nvPr>
        </p:nvSpPr>
        <p:spPr>
          <a:xfrm>
            <a:off x="379828" y="1561514"/>
            <a:ext cx="11380763" cy="5296486"/>
          </a:xfrm>
        </p:spPr>
        <p:txBody>
          <a:bodyPr>
            <a:normAutofit/>
          </a:bodyPr>
          <a:lstStyle/>
          <a:p>
            <a:pPr marL="457200" indent="-457200">
              <a:buFont typeface="Wingdings" panose="05000000000000000000" pitchFamily="2" charset="2"/>
              <a:buChar char="v"/>
            </a:pPr>
            <a:r>
              <a:rPr lang="en-US" b="1" dirty="0"/>
              <a:t>The prime objective of Scientific writing is to provide clear and factual communication. </a:t>
            </a:r>
          </a:p>
          <a:p>
            <a:pPr marL="457200" indent="-457200">
              <a:buFont typeface="Wingdings" panose="05000000000000000000" pitchFamily="2" charset="2"/>
              <a:buChar char="v"/>
            </a:pPr>
            <a:r>
              <a:rPr lang="en-US" b="1" dirty="0"/>
              <a:t>Communicative competence of the researcher ensures the effectiveness of the research report. This effectiveness of the research report can be achieved by presenting ideas in an orderly manner by expressing herself/himself smoothly and precisely. </a:t>
            </a:r>
          </a:p>
          <a:p>
            <a:pPr marL="457200" indent="-457200">
              <a:buFont typeface="Wingdings" panose="05000000000000000000" pitchFamily="2" charset="2"/>
              <a:buChar char="v"/>
            </a:pPr>
            <a:r>
              <a:rPr lang="en-US" b="1" dirty="0"/>
              <a:t>Thus, the qualities of a research is largely determined by maintaining </a:t>
            </a:r>
            <a:r>
              <a:rPr lang="en-US" b="1" dirty="0">
                <a:solidFill>
                  <a:srgbClr val="C00000"/>
                </a:solidFill>
              </a:rPr>
              <a:t>neutral  tone, precision and clarity, economy in expression, use of non-discriminatory language, and continuity in presentation of ideas, smoothness of expression. </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22278151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F0A8F-4C8E-8802-636E-5238E1AD0A49}"/>
              </a:ext>
            </a:extLst>
          </p:cNvPr>
          <p:cNvSpPr>
            <a:spLocks noGrp="1"/>
          </p:cNvSpPr>
          <p:nvPr>
            <p:ph type="title"/>
          </p:nvPr>
        </p:nvSpPr>
        <p:spPr>
          <a:xfrm>
            <a:off x="1158864" y="102021"/>
            <a:ext cx="9779183" cy="1178139"/>
          </a:xfrm>
        </p:spPr>
        <p:txBody>
          <a:bodyPr/>
          <a:lstStyle/>
          <a:p>
            <a:pPr algn="ctr"/>
            <a:r>
              <a:rPr lang="en-US" dirty="0">
                <a:solidFill>
                  <a:srgbClr val="00B050"/>
                </a:solidFill>
              </a:rPr>
              <a:t>Sources</a:t>
            </a:r>
          </a:p>
        </p:txBody>
      </p:sp>
      <p:sp>
        <p:nvSpPr>
          <p:cNvPr id="3" name="Content Placeholder 2">
            <a:extLst>
              <a:ext uri="{FF2B5EF4-FFF2-40B4-BE49-F238E27FC236}">
                <a16:creationId xmlns:a16="http://schemas.microsoft.com/office/drawing/2014/main" id="{30BE3086-B8FB-5B28-926B-3B09F3ACFFF1}"/>
              </a:ext>
            </a:extLst>
          </p:cNvPr>
          <p:cNvSpPr>
            <a:spLocks noGrp="1"/>
          </p:cNvSpPr>
          <p:nvPr>
            <p:ph idx="1"/>
          </p:nvPr>
        </p:nvSpPr>
        <p:spPr>
          <a:xfrm>
            <a:off x="478302" y="1575583"/>
            <a:ext cx="11268221" cy="5180396"/>
          </a:xfrm>
        </p:spPr>
        <p:txBody>
          <a:bodyPr/>
          <a:lstStyle/>
          <a:p>
            <a:r>
              <a:rPr lang="en-US" dirty="0"/>
              <a:t>Creswell, J. W., &amp; Creswell, J. D. (2022). </a:t>
            </a:r>
            <a:r>
              <a:rPr lang="en-US" i="1" dirty="0"/>
              <a:t>Research design: Qualitative, 	quantitative and mixed methods approaches</a:t>
            </a:r>
            <a:r>
              <a:rPr lang="en-US" dirty="0"/>
              <a:t>. 6th edition. SAGE 	publication, Inc.</a:t>
            </a:r>
          </a:p>
          <a:p>
            <a:r>
              <a:rPr lang="en-US" dirty="0"/>
              <a:t>Graff, G., Birkenstein, C., &amp; Durst, R.(2022). </a:t>
            </a:r>
            <a:r>
              <a:rPr lang="en-US" i="1" dirty="0"/>
              <a:t>They say/I say the moves 	that matters in academic writing</a:t>
            </a:r>
            <a:r>
              <a:rPr lang="en-US" dirty="0"/>
              <a:t>. W. W. Norton and Company.</a:t>
            </a:r>
          </a:p>
          <a:p>
            <a:r>
              <a:rPr lang="en-US" dirty="0"/>
              <a:t>Green, S., &amp; </a:t>
            </a:r>
            <a:r>
              <a:rPr lang="en-US" dirty="0" err="1"/>
              <a:t>Lidinsky</a:t>
            </a:r>
            <a:r>
              <a:rPr lang="en-US" dirty="0"/>
              <a:t>, A.(2021). </a:t>
            </a:r>
            <a:r>
              <a:rPr lang="en-US" i="1" dirty="0"/>
              <a:t>From inquiry to academic </a:t>
            </a:r>
          </a:p>
          <a:p>
            <a:r>
              <a:rPr lang="en-US" i="1" dirty="0"/>
              <a:t>	writing: Practical guide</a:t>
            </a:r>
            <a:r>
              <a:rPr lang="en-US" dirty="0"/>
              <a:t>, 5th edition. Bedford/St. Martin’s.</a:t>
            </a:r>
          </a:p>
          <a:p>
            <a:r>
              <a:rPr lang="en-US" dirty="0"/>
              <a:t>Harris, D.(2020). </a:t>
            </a:r>
            <a:r>
              <a:rPr lang="en-US" i="1" dirty="0"/>
              <a:t>Literature review and research design: A guide to 	effective research Practice</a:t>
            </a:r>
            <a:r>
              <a:rPr lang="en-US" dirty="0"/>
              <a:t>. Routledge.</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2429450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8865" y="102021"/>
            <a:ext cx="7680336" cy="3479379"/>
          </a:xfrm>
        </p:spPr>
        <p:txBody>
          <a:bodyPr/>
          <a:lstStyle/>
          <a:p>
            <a:pPr algn="ctr"/>
            <a:br>
              <a:rPr lang="en-US" dirty="0">
                <a:solidFill>
                  <a:srgbClr val="660066"/>
                </a:solidFill>
              </a:rPr>
            </a:br>
            <a:r>
              <a:rPr lang="en-US" sz="9600" dirty="0">
                <a:solidFill>
                  <a:srgbClr val="660066"/>
                </a:solidFill>
              </a:rPr>
              <a:t>Thank You</a:t>
            </a:r>
          </a:p>
        </p:txBody>
      </p:sp>
    </p:spTree>
    <p:extLst>
      <p:ext uri="{BB962C8B-B14F-4D97-AF65-F5344CB8AC3E}">
        <p14:creationId xmlns:p14="http://schemas.microsoft.com/office/powerpoint/2010/main" val="1117410984"/>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31D3D4E-040D-4F59-9215-B1F04B81B9FE}">
  <ds:schemaRefs>
    <ds:schemaRef ds:uri="http://schemas.microsoft.com/sharepoint/v3/contenttype/forms"/>
  </ds:schemaRefs>
</ds:datastoreItem>
</file>

<file path=customXml/itemProps2.xml><?xml version="1.0" encoding="utf-8"?>
<ds:datastoreItem xmlns:ds="http://schemas.openxmlformats.org/officeDocument/2006/customXml" ds:itemID="{5A7188B1-CB43-4216-A332-EE7733BC22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E52C7A-8834-4F18-859F-7167A187E13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9658</TotalTime>
  <Words>3866</Words>
  <Application>Microsoft Office PowerPoint</Application>
  <PresentationFormat>Widescreen</PresentationFormat>
  <Paragraphs>306</Paragraphs>
  <Slides>52</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52</vt:i4>
      </vt:variant>
    </vt:vector>
  </HeadingPairs>
  <TitlesOfParts>
    <vt:vector size="61" baseType="lpstr">
      <vt:lpstr>Arial</vt:lpstr>
      <vt:lpstr>Calibri</vt:lpstr>
      <vt:lpstr>Tenorite</vt:lpstr>
      <vt:lpstr>Times New Roman</vt:lpstr>
      <vt:lpstr>Trebuchet MS</vt:lpstr>
      <vt:lpstr>Wingdings</vt:lpstr>
      <vt:lpstr>Wingdings 3</vt:lpstr>
      <vt:lpstr>Custom</vt:lpstr>
      <vt:lpstr>Facet</vt:lpstr>
      <vt:lpstr>    Seminar Class on Fundamentals of Research Paper Writing: An Introduction to Essential Skills and Techniques   Prof. Jib Lal Sapkota PhD  Central Department of English,  Tribhuvan University,  Kirtipur        </vt:lpstr>
      <vt:lpstr>Before You Start Writing</vt:lpstr>
      <vt:lpstr>Scientific Writing</vt:lpstr>
      <vt:lpstr>Why Write it Up</vt:lpstr>
      <vt:lpstr>Connecting with Your Readers</vt:lpstr>
      <vt:lpstr>PowerPoint Presentation</vt:lpstr>
      <vt:lpstr>Documenting Sources</vt:lpstr>
      <vt:lpstr>Annotation</vt:lpstr>
      <vt:lpstr>Annotated Bibliography</vt:lpstr>
      <vt:lpstr>PowerPoint Presentation</vt:lpstr>
      <vt:lpstr>PowerPoint Presentation</vt:lpstr>
      <vt:lpstr>PowerPoint Presentation</vt:lpstr>
      <vt:lpstr>Realize</vt:lpstr>
      <vt:lpstr>Title</vt:lpstr>
      <vt:lpstr>Title Selection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Writing Paragraph</vt:lpstr>
      <vt:lpstr>Topic Sentence</vt:lpstr>
      <vt:lpstr>PowerPoint Presentation</vt:lpstr>
      <vt:lpstr>PowerPoint Presentation</vt:lpstr>
      <vt:lpstr>References</vt:lpstr>
      <vt:lpstr>Home Assignment</vt:lpstr>
      <vt:lpstr>Research Paper</vt:lpstr>
      <vt:lpstr>Abstract</vt:lpstr>
      <vt:lpstr>PowerPoint Presentation</vt:lpstr>
      <vt:lpstr>Introduction</vt:lpstr>
      <vt:lpstr>Literature Review</vt:lpstr>
      <vt:lpstr>Research Methodology/Methods and Materials</vt:lpstr>
      <vt:lpstr>Research Design</vt:lpstr>
      <vt:lpstr>Method under Qualitative Research Design</vt:lpstr>
      <vt:lpstr>Triangulation</vt:lpstr>
      <vt:lpstr>Interpretative Validity</vt:lpstr>
      <vt:lpstr>Methods of Collecting Data</vt:lpstr>
      <vt:lpstr>Theoretical Framework</vt:lpstr>
      <vt:lpstr>Developing Theoretical Framework</vt:lpstr>
      <vt:lpstr>Textual Analysis/Results and Discussion</vt:lpstr>
      <vt:lpstr>PowerPoint Presentation</vt:lpstr>
      <vt:lpstr>Analysis of The Drought</vt:lpstr>
      <vt:lpstr>Analysis of Surfacing </vt:lpstr>
      <vt:lpstr>PowerPoint Presentation</vt:lpstr>
      <vt:lpstr>Conclusion</vt:lpstr>
      <vt:lpstr>   Language of Scientific Writing</vt:lpstr>
      <vt:lpstr>Sources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
  <cp:lastModifiedBy>LENOVO</cp:lastModifiedBy>
  <cp:revision>622</cp:revision>
  <dcterms:created xsi:type="dcterms:W3CDTF">2024-08-29T20:08:27Z</dcterms:created>
  <dcterms:modified xsi:type="dcterms:W3CDTF">2026-05-27T04:16:22Z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