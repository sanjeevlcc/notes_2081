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Apricots" charset="1" panose="00000000000000000000"/>
      <p:regular r:id="rId32"/>
    </p:embeddedFont>
    <p:embeddedFont>
      <p:font typeface="Playpen Sans" charset="1" panose="00000000000000000000"/>
      <p:regular r:id="rId33"/>
    </p:embeddedFont>
    <p:embeddedFont>
      <p:font typeface="Playpen Sans Bold" charset="1" panose="000000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32.png" Type="http://schemas.openxmlformats.org/officeDocument/2006/relationships/image"/><Relationship Id="rId12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33.png" Type="http://schemas.openxmlformats.org/officeDocument/2006/relationships/image"/><Relationship Id="rId12" Target="../embeddings/oleObject2.bin" Type="http://schemas.openxmlformats.org/officeDocument/2006/relationships/oleObjec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34.png" Type="http://schemas.openxmlformats.org/officeDocument/2006/relationships/image"/><Relationship Id="rId12" Target="../embeddings/oleObject3.bin" Type="http://schemas.openxmlformats.org/officeDocument/2006/relationships/oleObjec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35.png" Type="http://schemas.openxmlformats.org/officeDocument/2006/relationships/image"/><Relationship Id="rId12" Target="../embeddings/oleObject4.bin" Type="http://schemas.openxmlformats.org/officeDocument/2006/relationships/oleObjec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36.png" Type="http://schemas.openxmlformats.org/officeDocument/2006/relationships/image"/><Relationship Id="rId12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42.pn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46715" y="-5006479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99247" y="-408768"/>
            <a:ext cx="3760170" cy="2359507"/>
          </a:xfrm>
          <a:custGeom>
            <a:avLst/>
            <a:gdLst/>
            <a:ahLst/>
            <a:cxnLst/>
            <a:rect r="r" b="b" t="t" l="l"/>
            <a:pathLst>
              <a:path h="2359507" w="3760170">
                <a:moveTo>
                  <a:pt x="0" y="0"/>
                </a:moveTo>
                <a:lnTo>
                  <a:pt x="3760170" y="0"/>
                </a:lnTo>
                <a:lnTo>
                  <a:pt x="3760170" y="2359507"/>
                </a:lnTo>
                <a:lnTo>
                  <a:pt x="0" y="23595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32092" y="2722264"/>
            <a:ext cx="13223815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Examination &amp; Evaluation System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003553">
            <a:off x="-207082" y="5520779"/>
            <a:ext cx="3355341" cy="4989355"/>
          </a:xfrm>
          <a:custGeom>
            <a:avLst/>
            <a:gdLst/>
            <a:ahLst/>
            <a:cxnLst/>
            <a:rect r="r" b="b" t="t" l="l"/>
            <a:pathLst>
              <a:path h="4989355" w="3355341">
                <a:moveTo>
                  <a:pt x="0" y="0"/>
                </a:moveTo>
                <a:lnTo>
                  <a:pt x="3355341" y="0"/>
                </a:lnTo>
                <a:lnTo>
                  <a:pt x="3355341" y="4989355"/>
                </a:lnTo>
                <a:lnTo>
                  <a:pt x="0" y="49893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4341">
            <a:off x="-2386419" y="1108512"/>
            <a:ext cx="5316656" cy="3734951"/>
          </a:xfrm>
          <a:custGeom>
            <a:avLst/>
            <a:gdLst/>
            <a:ahLst/>
            <a:cxnLst/>
            <a:rect r="r" b="b" t="t" l="l"/>
            <a:pathLst>
              <a:path h="3734951" w="5316656">
                <a:moveTo>
                  <a:pt x="0" y="0"/>
                </a:moveTo>
                <a:lnTo>
                  <a:pt x="5316656" y="0"/>
                </a:lnTo>
                <a:lnTo>
                  <a:pt x="5316656" y="3734951"/>
                </a:lnTo>
                <a:lnTo>
                  <a:pt x="0" y="37349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59417" y="6281194"/>
            <a:ext cx="3614741" cy="3461115"/>
          </a:xfrm>
          <a:custGeom>
            <a:avLst/>
            <a:gdLst/>
            <a:ahLst/>
            <a:cxnLst/>
            <a:rect r="r" b="b" t="t" l="l"/>
            <a:pathLst>
              <a:path h="3461115" w="3614741">
                <a:moveTo>
                  <a:pt x="0" y="0"/>
                </a:moveTo>
                <a:lnTo>
                  <a:pt x="3614741" y="0"/>
                </a:lnTo>
                <a:lnTo>
                  <a:pt x="3614741" y="3461115"/>
                </a:lnTo>
                <a:lnTo>
                  <a:pt x="0" y="34611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7022">
            <a:off x="6659792" y="9161557"/>
            <a:ext cx="4968416" cy="3005891"/>
          </a:xfrm>
          <a:custGeom>
            <a:avLst/>
            <a:gdLst/>
            <a:ahLst/>
            <a:cxnLst/>
            <a:rect r="r" b="b" t="t" l="l"/>
            <a:pathLst>
              <a:path h="3005891" w="4968416">
                <a:moveTo>
                  <a:pt x="0" y="0"/>
                </a:moveTo>
                <a:lnTo>
                  <a:pt x="4968416" y="0"/>
                </a:lnTo>
                <a:lnTo>
                  <a:pt x="4968416" y="3005891"/>
                </a:lnTo>
                <a:lnTo>
                  <a:pt x="0" y="30058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95233" y="-688803"/>
            <a:ext cx="4415240" cy="2919578"/>
          </a:xfrm>
          <a:custGeom>
            <a:avLst/>
            <a:gdLst/>
            <a:ahLst/>
            <a:cxnLst/>
            <a:rect r="r" b="b" t="t" l="l"/>
            <a:pathLst>
              <a:path h="2919578" w="4415240">
                <a:moveTo>
                  <a:pt x="0" y="0"/>
                </a:moveTo>
                <a:lnTo>
                  <a:pt x="4415240" y="0"/>
                </a:lnTo>
                <a:lnTo>
                  <a:pt x="4415240" y="2919577"/>
                </a:lnTo>
                <a:lnTo>
                  <a:pt x="0" y="29195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524722">
            <a:off x="15094373" y="1633666"/>
            <a:ext cx="3720773" cy="3627753"/>
          </a:xfrm>
          <a:custGeom>
            <a:avLst/>
            <a:gdLst/>
            <a:ahLst/>
            <a:cxnLst/>
            <a:rect r="r" b="b" t="t" l="l"/>
            <a:pathLst>
              <a:path h="3627753" w="3720773">
                <a:moveTo>
                  <a:pt x="0" y="0"/>
                </a:moveTo>
                <a:lnTo>
                  <a:pt x="3720773" y="0"/>
                </a:lnTo>
                <a:lnTo>
                  <a:pt x="3720773" y="3627753"/>
                </a:lnTo>
                <a:lnTo>
                  <a:pt x="0" y="362775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037065" y="6281194"/>
            <a:ext cx="8213870" cy="1513164"/>
            <a:chOff x="0" y="0"/>
            <a:chExt cx="2163324" cy="3985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63324" cy="398529"/>
            </a:xfrm>
            <a:custGeom>
              <a:avLst/>
              <a:gdLst/>
              <a:ahLst/>
              <a:cxnLst/>
              <a:rect r="r" b="b" t="t" l="l"/>
              <a:pathLst>
                <a:path h="398529" w="2163324">
                  <a:moveTo>
                    <a:pt x="94254" y="0"/>
                  </a:moveTo>
                  <a:lnTo>
                    <a:pt x="2069070" y="0"/>
                  </a:lnTo>
                  <a:cubicBezTo>
                    <a:pt x="2094068" y="0"/>
                    <a:pt x="2118041" y="9930"/>
                    <a:pt x="2135718" y="27606"/>
                  </a:cubicBezTo>
                  <a:cubicBezTo>
                    <a:pt x="2153394" y="45283"/>
                    <a:pt x="2163324" y="69256"/>
                    <a:pt x="2163324" y="94254"/>
                  </a:cubicBezTo>
                  <a:lnTo>
                    <a:pt x="2163324" y="304275"/>
                  </a:lnTo>
                  <a:cubicBezTo>
                    <a:pt x="2163324" y="329272"/>
                    <a:pt x="2153394" y="353246"/>
                    <a:pt x="2135718" y="370922"/>
                  </a:cubicBezTo>
                  <a:cubicBezTo>
                    <a:pt x="2118041" y="388599"/>
                    <a:pt x="2094068" y="398529"/>
                    <a:pt x="2069070" y="398529"/>
                  </a:cubicBezTo>
                  <a:lnTo>
                    <a:pt x="94254" y="398529"/>
                  </a:lnTo>
                  <a:cubicBezTo>
                    <a:pt x="69256" y="398529"/>
                    <a:pt x="45283" y="388599"/>
                    <a:pt x="27606" y="370922"/>
                  </a:cubicBezTo>
                  <a:cubicBezTo>
                    <a:pt x="9930" y="353246"/>
                    <a:pt x="0" y="329272"/>
                    <a:pt x="0" y="304275"/>
                  </a:cubicBezTo>
                  <a:lnTo>
                    <a:pt x="0" y="94254"/>
                  </a:lnTo>
                  <a:cubicBezTo>
                    <a:pt x="0" y="69256"/>
                    <a:pt x="9930" y="45283"/>
                    <a:pt x="27606" y="27606"/>
                  </a:cubicBezTo>
                  <a:cubicBezTo>
                    <a:pt x="45283" y="9930"/>
                    <a:pt x="69256" y="0"/>
                    <a:pt x="94254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63324" cy="436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592671" y="6675513"/>
            <a:ext cx="7102658" cy="37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5"/>
              </a:lnSpc>
            </a:pPr>
            <a:r>
              <a:rPr lang="en-US" sz="2513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</a:t>
            </a:r>
            <a:r>
              <a:rPr lang="en-US" sz="2513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okhara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658304" cy="854606"/>
            <a:chOff x="0" y="0"/>
            <a:chExt cx="388413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84136" cy="199264"/>
            </a:xfrm>
            <a:custGeom>
              <a:avLst/>
              <a:gdLst/>
              <a:ahLst/>
              <a:cxnLst/>
              <a:rect r="r" b="b" t="t" l="l"/>
              <a:pathLst>
                <a:path h="199264" w="3884136">
                  <a:moveTo>
                    <a:pt x="46475" y="0"/>
                  </a:moveTo>
                  <a:lnTo>
                    <a:pt x="3837661" y="0"/>
                  </a:lnTo>
                  <a:cubicBezTo>
                    <a:pt x="3849987" y="0"/>
                    <a:pt x="3861808" y="4896"/>
                    <a:pt x="3870524" y="13612"/>
                  </a:cubicBezTo>
                  <a:cubicBezTo>
                    <a:pt x="3879240" y="22328"/>
                    <a:pt x="3884136" y="34149"/>
                    <a:pt x="3884136" y="46475"/>
                  </a:cubicBezTo>
                  <a:lnTo>
                    <a:pt x="3884136" y="152790"/>
                  </a:lnTo>
                  <a:cubicBezTo>
                    <a:pt x="3884136" y="178457"/>
                    <a:pt x="3863329" y="199264"/>
                    <a:pt x="3837661" y="199264"/>
                  </a:cubicBezTo>
                  <a:lnTo>
                    <a:pt x="46475" y="199264"/>
                  </a:lnTo>
                  <a:cubicBezTo>
                    <a:pt x="20807" y="199264"/>
                    <a:pt x="0" y="178457"/>
                    <a:pt x="0" y="152790"/>
                  </a:cubicBezTo>
                  <a:lnTo>
                    <a:pt x="0" y="46475"/>
                  </a:lnTo>
                  <a:cubicBezTo>
                    <a:pt x="0" y="20807"/>
                    <a:pt x="20807" y="0"/>
                    <a:pt x="46475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8413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2426" y="2947959"/>
            <a:ext cx="15215923" cy="651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Ac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ademic Year Structure</a:t>
            </a:r>
          </a:p>
          <a:p>
            <a:pPr algn="l">
              <a:lnSpc>
                <a:spcPts val="5724"/>
              </a:lnSpc>
            </a:pP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Pokhara University follows a </a:t>
            </a:r>
            <a:r>
              <a:rPr lang="en-US" b="true" sz="477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Semester 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System</a:t>
            </a: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Each academic year consists of two semesters</a:t>
            </a:r>
          </a:p>
          <a:p>
            <a:pPr algn="l" marL="2059961" indent="-686654" lvl="2">
              <a:lnSpc>
                <a:spcPts val="5724"/>
              </a:lnSpc>
              <a:buFont typeface="Arial"/>
              <a:buChar char="⚬"/>
            </a:pPr>
            <a:r>
              <a:rPr lang="en-US" sz="4770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Fall 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Semester: Starts in September</a:t>
            </a:r>
          </a:p>
          <a:p>
            <a:pPr algn="l" marL="2059961" indent="-686654" lvl="2">
              <a:lnSpc>
                <a:spcPts val="5724"/>
              </a:lnSpc>
              <a:buFont typeface="Arial"/>
              <a:buChar char="⚬"/>
            </a:pPr>
            <a:r>
              <a:rPr lang="en-US" sz="4770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Spring 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Semester: Starts in March</a:t>
            </a: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Duration of each semester: </a:t>
            </a:r>
            <a:r>
              <a:rPr lang="en-US" b="true" sz="477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16 weeks= 4 months</a:t>
            </a:r>
          </a:p>
          <a:p>
            <a:pPr algn="ctr">
              <a:lnSpc>
                <a:spcPts val="572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20789" y="6468303"/>
            <a:ext cx="3066215" cy="1924050"/>
          </a:xfrm>
          <a:custGeom>
            <a:avLst/>
            <a:gdLst/>
            <a:ahLst/>
            <a:cxnLst/>
            <a:rect r="r" b="b" t="t" l="l"/>
            <a:pathLst>
              <a:path h="1924050" w="3066215">
                <a:moveTo>
                  <a:pt x="0" y="0"/>
                </a:moveTo>
                <a:lnTo>
                  <a:pt x="3066215" y="0"/>
                </a:lnTo>
                <a:lnTo>
                  <a:pt x="3066215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29161" y="3743325"/>
            <a:ext cx="2637591" cy="2574948"/>
          </a:xfrm>
          <a:custGeom>
            <a:avLst/>
            <a:gdLst/>
            <a:ahLst/>
            <a:cxnLst/>
            <a:rect r="r" b="b" t="t" l="l"/>
            <a:pathLst>
              <a:path h="2574948" w="2637591">
                <a:moveTo>
                  <a:pt x="0" y="0"/>
                </a:moveTo>
                <a:lnTo>
                  <a:pt x="2637591" y="0"/>
                </a:lnTo>
                <a:lnTo>
                  <a:pt x="2637591" y="2574948"/>
                </a:lnTo>
                <a:lnTo>
                  <a:pt x="0" y="257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83035">
            <a:off x="14766389" y="3316183"/>
            <a:ext cx="2781879" cy="1683037"/>
          </a:xfrm>
          <a:custGeom>
            <a:avLst/>
            <a:gdLst/>
            <a:ahLst/>
            <a:cxnLst/>
            <a:rect r="r" b="b" t="t" l="l"/>
            <a:pathLst>
              <a:path h="1683037" w="2781879">
                <a:moveTo>
                  <a:pt x="0" y="0"/>
                </a:moveTo>
                <a:lnTo>
                  <a:pt x="2781879" y="0"/>
                </a:lnTo>
                <a:lnTo>
                  <a:pt x="2781879" y="1683037"/>
                </a:lnTo>
                <a:lnTo>
                  <a:pt x="0" y="1683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500" y="468239"/>
            <a:ext cx="17230800" cy="196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Academic Calen</a:t>
            </a: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dar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74094"/>
            <a:ext cx="16658304" cy="854606"/>
            <a:chOff x="0" y="0"/>
            <a:chExt cx="388413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84136" cy="199264"/>
            </a:xfrm>
            <a:custGeom>
              <a:avLst/>
              <a:gdLst/>
              <a:ahLst/>
              <a:cxnLst/>
              <a:rect r="r" b="b" t="t" l="l"/>
              <a:pathLst>
                <a:path h="199264" w="3884136">
                  <a:moveTo>
                    <a:pt x="46475" y="0"/>
                  </a:moveTo>
                  <a:lnTo>
                    <a:pt x="3837661" y="0"/>
                  </a:lnTo>
                  <a:cubicBezTo>
                    <a:pt x="3849987" y="0"/>
                    <a:pt x="3861808" y="4896"/>
                    <a:pt x="3870524" y="13612"/>
                  </a:cubicBezTo>
                  <a:cubicBezTo>
                    <a:pt x="3879240" y="22328"/>
                    <a:pt x="3884136" y="34149"/>
                    <a:pt x="3884136" y="46475"/>
                  </a:cubicBezTo>
                  <a:lnTo>
                    <a:pt x="3884136" y="152790"/>
                  </a:lnTo>
                  <a:cubicBezTo>
                    <a:pt x="3884136" y="178457"/>
                    <a:pt x="3863329" y="199264"/>
                    <a:pt x="3837661" y="199264"/>
                  </a:cubicBezTo>
                  <a:lnTo>
                    <a:pt x="46475" y="199264"/>
                  </a:lnTo>
                  <a:cubicBezTo>
                    <a:pt x="20807" y="199264"/>
                    <a:pt x="0" y="178457"/>
                    <a:pt x="0" y="152790"/>
                  </a:cubicBezTo>
                  <a:lnTo>
                    <a:pt x="0" y="46475"/>
                  </a:lnTo>
                  <a:cubicBezTo>
                    <a:pt x="0" y="20807"/>
                    <a:pt x="20807" y="0"/>
                    <a:pt x="46475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8413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39129" y="1245656"/>
            <a:ext cx="15248871" cy="9381154"/>
          </a:xfrm>
          <a:custGeom>
            <a:avLst/>
            <a:gdLst/>
            <a:ahLst/>
            <a:cxnLst/>
            <a:rect r="r" b="b" t="t" l="l"/>
            <a:pathLst>
              <a:path h="9381154" w="15248871">
                <a:moveTo>
                  <a:pt x="0" y="0"/>
                </a:moveTo>
                <a:lnTo>
                  <a:pt x="15248871" y="0"/>
                </a:lnTo>
                <a:lnTo>
                  <a:pt x="15248871" y="9381155"/>
                </a:lnTo>
                <a:lnTo>
                  <a:pt x="0" y="93811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44" t="-4319" r="0" b="-431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-9525"/>
            <a:ext cx="17230800" cy="196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What????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658304" cy="854606"/>
            <a:chOff x="0" y="0"/>
            <a:chExt cx="388413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84136" cy="199264"/>
            </a:xfrm>
            <a:custGeom>
              <a:avLst/>
              <a:gdLst/>
              <a:ahLst/>
              <a:cxnLst/>
              <a:rect r="r" b="b" t="t" l="l"/>
              <a:pathLst>
                <a:path h="199264" w="3884136">
                  <a:moveTo>
                    <a:pt x="46475" y="0"/>
                  </a:moveTo>
                  <a:lnTo>
                    <a:pt x="3837661" y="0"/>
                  </a:lnTo>
                  <a:cubicBezTo>
                    <a:pt x="3849987" y="0"/>
                    <a:pt x="3861808" y="4896"/>
                    <a:pt x="3870524" y="13612"/>
                  </a:cubicBezTo>
                  <a:cubicBezTo>
                    <a:pt x="3879240" y="22328"/>
                    <a:pt x="3884136" y="34149"/>
                    <a:pt x="3884136" y="46475"/>
                  </a:cubicBezTo>
                  <a:lnTo>
                    <a:pt x="3884136" y="152790"/>
                  </a:lnTo>
                  <a:cubicBezTo>
                    <a:pt x="3884136" y="178457"/>
                    <a:pt x="3863329" y="199264"/>
                    <a:pt x="3837661" y="199264"/>
                  </a:cubicBezTo>
                  <a:lnTo>
                    <a:pt x="46475" y="199264"/>
                  </a:lnTo>
                  <a:cubicBezTo>
                    <a:pt x="20807" y="199264"/>
                    <a:pt x="0" y="178457"/>
                    <a:pt x="0" y="152790"/>
                  </a:cubicBezTo>
                  <a:lnTo>
                    <a:pt x="0" y="46475"/>
                  </a:lnTo>
                  <a:cubicBezTo>
                    <a:pt x="0" y="20807"/>
                    <a:pt x="20807" y="0"/>
                    <a:pt x="46475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8413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2426" y="1883306"/>
            <a:ext cx="13827473" cy="868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Each course is assigned a fixed number of credit hours</a:t>
            </a: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1 Credit Hour = 1 lecture hour per week per semester</a:t>
            </a: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Minimum </a:t>
            </a:r>
            <a:r>
              <a:rPr lang="en-US" b="true" sz="477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16 class hours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 are required for 1 credit</a:t>
            </a: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16 x 3 = 48 class hour</a:t>
            </a: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Credit hours include:</a:t>
            </a:r>
          </a:p>
          <a:p>
            <a:pPr algn="l" marL="2059961" indent="-686654" lvl="2">
              <a:lnSpc>
                <a:spcPts val="5724"/>
              </a:lnSpc>
              <a:buFont typeface="Arial"/>
              <a:buChar char="⚬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Lectures</a:t>
            </a:r>
          </a:p>
          <a:p>
            <a:pPr algn="l" marL="2059961" indent="-686654" lvl="2">
              <a:lnSpc>
                <a:spcPts val="5724"/>
              </a:lnSpc>
              <a:buFont typeface="Arial"/>
              <a:buChar char="⚬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Tutorials  &amp; Practical/Lab work</a:t>
            </a:r>
          </a:p>
          <a:p>
            <a:pPr algn="ctr">
              <a:lnSpc>
                <a:spcPts val="572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20789" y="6468303"/>
            <a:ext cx="3066215" cy="1924050"/>
          </a:xfrm>
          <a:custGeom>
            <a:avLst/>
            <a:gdLst/>
            <a:ahLst/>
            <a:cxnLst/>
            <a:rect r="r" b="b" t="t" l="l"/>
            <a:pathLst>
              <a:path h="1924050" w="3066215">
                <a:moveTo>
                  <a:pt x="0" y="0"/>
                </a:moveTo>
                <a:lnTo>
                  <a:pt x="3066215" y="0"/>
                </a:lnTo>
                <a:lnTo>
                  <a:pt x="3066215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29161" y="3743325"/>
            <a:ext cx="2637591" cy="2574948"/>
          </a:xfrm>
          <a:custGeom>
            <a:avLst/>
            <a:gdLst/>
            <a:ahLst/>
            <a:cxnLst/>
            <a:rect r="r" b="b" t="t" l="l"/>
            <a:pathLst>
              <a:path h="2574948" w="2637591">
                <a:moveTo>
                  <a:pt x="0" y="0"/>
                </a:moveTo>
                <a:lnTo>
                  <a:pt x="2637591" y="0"/>
                </a:lnTo>
                <a:lnTo>
                  <a:pt x="2637591" y="2574948"/>
                </a:lnTo>
                <a:lnTo>
                  <a:pt x="0" y="257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83035">
            <a:off x="14766389" y="3316183"/>
            <a:ext cx="2781879" cy="1683037"/>
          </a:xfrm>
          <a:custGeom>
            <a:avLst/>
            <a:gdLst/>
            <a:ahLst/>
            <a:cxnLst/>
            <a:rect r="r" b="b" t="t" l="l"/>
            <a:pathLst>
              <a:path h="1683037" w="2781879">
                <a:moveTo>
                  <a:pt x="0" y="0"/>
                </a:moveTo>
                <a:lnTo>
                  <a:pt x="2781879" y="0"/>
                </a:lnTo>
                <a:lnTo>
                  <a:pt x="2781879" y="1683037"/>
                </a:lnTo>
                <a:lnTo>
                  <a:pt x="0" y="1683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500" y="468239"/>
            <a:ext cx="17230800" cy="196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Credit System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658304" cy="854606"/>
            <a:chOff x="0" y="0"/>
            <a:chExt cx="388413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84136" cy="199264"/>
            </a:xfrm>
            <a:custGeom>
              <a:avLst/>
              <a:gdLst/>
              <a:ahLst/>
              <a:cxnLst/>
              <a:rect r="r" b="b" t="t" l="l"/>
              <a:pathLst>
                <a:path h="199264" w="3884136">
                  <a:moveTo>
                    <a:pt x="46475" y="0"/>
                  </a:moveTo>
                  <a:lnTo>
                    <a:pt x="3837661" y="0"/>
                  </a:lnTo>
                  <a:cubicBezTo>
                    <a:pt x="3849987" y="0"/>
                    <a:pt x="3861808" y="4896"/>
                    <a:pt x="3870524" y="13612"/>
                  </a:cubicBezTo>
                  <a:cubicBezTo>
                    <a:pt x="3879240" y="22328"/>
                    <a:pt x="3884136" y="34149"/>
                    <a:pt x="3884136" y="46475"/>
                  </a:cubicBezTo>
                  <a:lnTo>
                    <a:pt x="3884136" y="152790"/>
                  </a:lnTo>
                  <a:cubicBezTo>
                    <a:pt x="3884136" y="178457"/>
                    <a:pt x="3863329" y="199264"/>
                    <a:pt x="3837661" y="199264"/>
                  </a:cubicBezTo>
                  <a:lnTo>
                    <a:pt x="46475" y="199264"/>
                  </a:lnTo>
                  <a:cubicBezTo>
                    <a:pt x="20807" y="199264"/>
                    <a:pt x="0" y="178457"/>
                    <a:pt x="0" y="152790"/>
                  </a:cubicBezTo>
                  <a:lnTo>
                    <a:pt x="0" y="46475"/>
                  </a:lnTo>
                  <a:cubicBezTo>
                    <a:pt x="0" y="20807"/>
                    <a:pt x="20807" y="0"/>
                    <a:pt x="46475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8413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49890" y="4157701"/>
            <a:ext cx="17319613" cy="579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Stude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nt perfo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r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ance is evaluated in two phases:</a:t>
            </a:r>
          </a:p>
          <a:p>
            <a:pPr algn="l">
              <a:lnSpc>
                <a:spcPts val="5724"/>
              </a:lnSpc>
            </a:pPr>
          </a:p>
          <a:p>
            <a:pPr algn="l" marL="2059961" indent="-686654" lvl="2">
              <a:lnSpc>
                <a:spcPts val="5724"/>
              </a:lnSpc>
              <a:buAutoNum type="alphaLcPeriod" startAt="1"/>
            </a:pPr>
            <a:r>
              <a:rPr lang="en-US" sz="4770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Internal Evaluation (50%)</a:t>
            </a:r>
          </a:p>
          <a:p>
            <a:pPr algn="l" marL="2059961" indent="-686654" lvl="2">
              <a:lnSpc>
                <a:spcPts val="5724"/>
              </a:lnSpc>
              <a:buAutoNum type="alphaLcPeriod" startAt="1"/>
            </a:pPr>
            <a:r>
              <a:rPr lang="en-US" sz="4770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External Evaluation (50%)</a:t>
            </a:r>
          </a:p>
          <a:p>
            <a:pPr algn="l">
              <a:lnSpc>
                <a:spcPts val="5724"/>
              </a:lnSpc>
            </a:pP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Students must pass both evaluations independently</a:t>
            </a:r>
          </a:p>
          <a:p>
            <a:pPr algn="ctr">
              <a:lnSpc>
                <a:spcPts val="572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20789" y="6468303"/>
            <a:ext cx="3066215" cy="1924050"/>
          </a:xfrm>
          <a:custGeom>
            <a:avLst/>
            <a:gdLst/>
            <a:ahLst/>
            <a:cxnLst/>
            <a:rect r="r" b="b" t="t" l="l"/>
            <a:pathLst>
              <a:path h="1924050" w="3066215">
                <a:moveTo>
                  <a:pt x="0" y="0"/>
                </a:moveTo>
                <a:lnTo>
                  <a:pt x="3066215" y="0"/>
                </a:lnTo>
                <a:lnTo>
                  <a:pt x="3066215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29161" y="3743325"/>
            <a:ext cx="2637591" cy="2574948"/>
          </a:xfrm>
          <a:custGeom>
            <a:avLst/>
            <a:gdLst/>
            <a:ahLst/>
            <a:cxnLst/>
            <a:rect r="r" b="b" t="t" l="l"/>
            <a:pathLst>
              <a:path h="2574948" w="2637591">
                <a:moveTo>
                  <a:pt x="0" y="0"/>
                </a:moveTo>
                <a:lnTo>
                  <a:pt x="2637591" y="0"/>
                </a:lnTo>
                <a:lnTo>
                  <a:pt x="2637591" y="2574948"/>
                </a:lnTo>
                <a:lnTo>
                  <a:pt x="0" y="257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83035">
            <a:off x="14766389" y="3316183"/>
            <a:ext cx="2781879" cy="1683037"/>
          </a:xfrm>
          <a:custGeom>
            <a:avLst/>
            <a:gdLst/>
            <a:ahLst/>
            <a:cxnLst/>
            <a:rect r="r" b="b" t="t" l="l"/>
            <a:pathLst>
              <a:path h="1683037" w="2781879">
                <a:moveTo>
                  <a:pt x="0" y="0"/>
                </a:moveTo>
                <a:lnTo>
                  <a:pt x="2781879" y="0"/>
                </a:lnTo>
                <a:lnTo>
                  <a:pt x="2781879" y="1683037"/>
                </a:lnTo>
                <a:lnTo>
                  <a:pt x="0" y="1683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500" y="468239"/>
            <a:ext cx="18259500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Evaluation System Ove</a:t>
            </a: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rview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3945" y="1101872"/>
            <a:ext cx="6069286" cy="854606"/>
            <a:chOff x="0" y="0"/>
            <a:chExt cx="141514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5146" cy="199264"/>
            </a:xfrm>
            <a:custGeom>
              <a:avLst/>
              <a:gdLst/>
              <a:ahLst/>
              <a:cxnLst/>
              <a:rect r="r" b="b" t="t" l="l"/>
              <a:pathLst>
                <a:path h="199264" w="1415146">
                  <a:moveTo>
                    <a:pt x="99632" y="0"/>
                  </a:moveTo>
                  <a:lnTo>
                    <a:pt x="1315514" y="0"/>
                  </a:lnTo>
                  <a:cubicBezTo>
                    <a:pt x="1341938" y="0"/>
                    <a:pt x="1367280" y="10497"/>
                    <a:pt x="1385965" y="29182"/>
                  </a:cubicBezTo>
                  <a:cubicBezTo>
                    <a:pt x="1404649" y="47866"/>
                    <a:pt x="1415146" y="73208"/>
                    <a:pt x="1415146" y="99632"/>
                  </a:cubicBezTo>
                  <a:lnTo>
                    <a:pt x="1415146" y="99632"/>
                  </a:lnTo>
                  <a:cubicBezTo>
                    <a:pt x="1415146" y="126056"/>
                    <a:pt x="1404649" y="151398"/>
                    <a:pt x="1385965" y="170083"/>
                  </a:cubicBezTo>
                  <a:cubicBezTo>
                    <a:pt x="1367280" y="188767"/>
                    <a:pt x="1341938" y="199264"/>
                    <a:pt x="1315514" y="199264"/>
                  </a:cubicBezTo>
                  <a:lnTo>
                    <a:pt x="99632" y="199264"/>
                  </a:lnTo>
                  <a:cubicBezTo>
                    <a:pt x="73208" y="199264"/>
                    <a:pt x="47866" y="188767"/>
                    <a:pt x="29182" y="170083"/>
                  </a:cubicBezTo>
                  <a:cubicBezTo>
                    <a:pt x="10497" y="151398"/>
                    <a:pt x="0" y="126056"/>
                    <a:pt x="0" y="99632"/>
                  </a:cubicBezTo>
                  <a:lnTo>
                    <a:pt x="0" y="99632"/>
                  </a:lnTo>
                  <a:cubicBezTo>
                    <a:pt x="0" y="73208"/>
                    <a:pt x="10497" y="47866"/>
                    <a:pt x="29182" y="29182"/>
                  </a:cubicBezTo>
                  <a:cubicBezTo>
                    <a:pt x="47866" y="10497"/>
                    <a:pt x="73208" y="0"/>
                    <a:pt x="9963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1514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51872" y="3058349"/>
            <a:ext cx="7390552" cy="854606"/>
            <a:chOff x="0" y="0"/>
            <a:chExt cx="1723219" cy="199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219" cy="199264"/>
            </a:xfrm>
            <a:custGeom>
              <a:avLst/>
              <a:gdLst/>
              <a:ahLst/>
              <a:cxnLst/>
              <a:rect r="r" b="b" t="t" l="l"/>
              <a:pathLst>
                <a:path h="199264" w="1723219">
                  <a:moveTo>
                    <a:pt x="99632" y="0"/>
                  </a:moveTo>
                  <a:lnTo>
                    <a:pt x="1623587" y="0"/>
                  </a:lnTo>
                  <a:cubicBezTo>
                    <a:pt x="1650011" y="0"/>
                    <a:pt x="1675353" y="10497"/>
                    <a:pt x="1694038" y="29182"/>
                  </a:cubicBezTo>
                  <a:cubicBezTo>
                    <a:pt x="1712722" y="47866"/>
                    <a:pt x="1723219" y="73208"/>
                    <a:pt x="1723219" y="99632"/>
                  </a:cubicBezTo>
                  <a:lnTo>
                    <a:pt x="1723219" y="99632"/>
                  </a:lnTo>
                  <a:cubicBezTo>
                    <a:pt x="1723219" y="126056"/>
                    <a:pt x="1712722" y="151398"/>
                    <a:pt x="1694038" y="170083"/>
                  </a:cubicBezTo>
                  <a:cubicBezTo>
                    <a:pt x="1675353" y="188767"/>
                    <a:pt x="1650011" y="199264"/>
                    <a:pt x="1623587" y="199264"/>
                  </a:cubicBezTo>
                  <a:lnTo>
                    <a:pt x="99632" y="199264"/>
                  </a:lnTo>
                  <a:cubicBezTo>
                    <a:pt x="73208" y="199264"/>
                    <a:pt x="47866" y="188767"/>
                    <a:pt x="29182" y="170083"/>
                  </a:cubicBezTo>
                  <a:cubicBezTo>
                    <a:pt x="10497" y="151398"/>
                    <a:pt x="0" y="126056"/>
                    <a:pt x="0" y="99632"/>
                  </a:cubicBezTo>
                  <a:lnTo>
                    <a:pt x="0" y="99632"/>
                  </a:lnTo>
                  <a:cubicBezTo>
                    <a:pt x="0" y="73208"/>
                    <a:pt x="10497" y="47866"/>
                    <a:pt x="29182" y="29182"/>
                  </a:cubicBezTo>
                  <a:cubicBezTo>
                    <a:pt x="47866" y="10497"/>
                    <a:pt x="73208" y="0"/>
                    <a:pt x="9963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3219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33945" y="7003914"/>
            <a:ext cx="6700176" cy="6566173"/>
          </a:xfrm>
          <a:custGeom>
            <a:avLst/>
            <a:gdLst/>
            <a:ahLst/>
            <a:cxnLst/>
            <a:rect r="r" b="b" t="t" l="l"/>
            <a:pathLst>
              <a:path h="6566173" w="6700176">
                <a:moveTo>
                  <a:pt x="0" y="0"/>
                </a:moveTo>
                <a:lnTo>
                  <a:pt x="6700177" y="0"/>
                </a:lnTo>
                <a:lnTo>
                  <a:pt x="6700177" y="6566172"/>
                </a:lnTo>
                <a:lnTo>
                  <a:pt x="0" y="656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18521">
            <a:off x="13380588" y="221169"/>
            <a:ext cx="2290607" cy="3470617"/>
          </a:xfrm>
          <a:custGeom>
            <a:avLst/>
            <a:gdLst/>
            <a:ahLst/>
            <a:cxnLst/>
            <a:rect r="r" b="b" t="t" l="l"/>
            <a:pathLst>
              <a:path h="3470617" w="2290607">
                <a:moveTo>
                  <a:pt x="0" y="0"/>
                </a:moveTo>
                <a:lnTo>
                  <a:pt x="2290607" y="0"/>
                </a:lnTo>
                <a:lnTo>
                  <a:pt x="2290607" y="3470617"/>
                </a:lnTo>
                <a:lnTo>
                  <a:pt x="0" y="34706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-9525"/>
            <a:ext cx="13734889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Internal</a:t>
            </a: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 Evaluation (</a:t>
            </a:r>
            <a:r>
              <a:rPr lang="en-US" sz="12871">
                <a:solidFill>
                  <a:srgbClr val="EF0F0F"/>
                </a:solidFill>
                <a:latin typeface="Apricots"/>
                <a:ea typeface="Apricots"/>
                <a:cs typeface="Apricots"/>
                <a:sym typeface="Apricots"/>
              </a:rPr>
              <a:t>Theory Subjects</a:t>
            </a: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38906" y="4102290"/>
            <a:ext cx="10929425" cy="65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Internal Assessment Breakdown </a:t>
            </a:r>
          </a:p>
          <a:p>
            <a:pPr algn="ctr">
              <a:lnSpc>
                <a:spcPts val="4680"/>
              </a:lnSpc>
            </a:pPr>
            <a:r>
              <a:rPr lang="en-US" sz="3900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(50 Marks</a:t>
            </a:r>
            <a:r>
              <a:rPr lang="en-US" sz="39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)</a:t>
            </a:r>
          </a:p>
          <a:p>
            <a:pPr algn="l">
              <a:lnSpc>
                <a:spcPts val="4680"/>
              </a:lnSpc>
            </a:pPr>
          </a:p>
          <a:p>
            <a:pPr algn="just" marL="842010" indent="-421005" lvl="1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Attendance – 2.5</a:t>
            </a:r>
          </a:p>
          <a:p>
            <a:pPr algn="l" marL="842010" indent="-421005" lvl="1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Discipline – 2.5</a:t>
            </a:r>
          </a:p>
          <a:p>
            <a:pPr algn="l" marL="842010" indent="-421005" lvl="1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Assignments – 5</a:t>
            </a:r>
          </a:p>
          <a:p>
            <a:pPr algn="l" marL="842010" indent="-421005" lvl="1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Project Work – 10</a:t>
            </a:r>
          </a:p>
          <a:p>
            <a:pPr algn="l" marL="842010" indent="-421005" lvl="1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Mid-Term Examination – 10</a:t>
            </a:r>
          </a:p>
          <a:p>
            <a:pPr algn="l" marL="842010" indent="-421005" lvl="1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Final-Term Examination – 20</a:t>
            </a:r>
          </a:p>
          <a:p>
            <a:pPr algn="l" marL="842010" indent="-421005" lvl="1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Total Internal Marks: 50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3945" y="1101872"/>
            <a:ext cx="6069286" cy="854606"/>
            <a:chOff x="0" y="0"/>
            <a:chExt cx="141514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5146" cy="199264"/>
            </a:xfrm>
            <a:custGeom>
              <a:avLst/>
              <a:gdLst/>
              <a:ahLst/>
              <a:cxnLst/>
              <a:rect r="r" b="b" t="t" l="l"/>
              <a:pathLst>
                <a:path h="199264" w="1415146">
                  <a:moveTo>
                    <a:pt x="99632" y="0"/>
                  </a:moveTo>
                  <a:lnTo>
                    <a:pt x="1315514" y="0"/>
                  </a:lnTo>
                  <a:cubicBezTo>
                    <a:pt x="1341938" y="0"/>
                    <a:pt x="1367280" y="10497"/>
                    <a:pt x="1385965" y="29182"/>
                  </a:cubicBezTo>
                  <a:cubicBezTo>
                    <a:pt x="1404649" y="47866"/>
                    <a:pt x="1415146" y="73208"/>
                    <a:pt x="1415146" y="99632"/>
                  </a:cubicBezTo>
                  <a:lnTo>
                    <a:pt x="1415146" y="99632"/>
                  </a:lnTo>
                  <a:cubicBezTo>
                    <a:pt x="1415146" y="126056"/>
                    <a:pt x="1404649" y="151398"/>
                    <a:pt x="1385965" y="170083"/>
                  </a:cubicBezTo>
                  <a:cubicBezTo>
                    <a:pt x="1367280" y="188767"/>
                    <a:pt x="1341938" y="199264"/>
                    <a:pt x="1315514" y="199264"/>
                  </a:cubicBezTo>
                  <a:lnTo>
                    <a:pt x="99632" y="199264"/>
                  </a:lnTo>
                  <a:cubicBezTo>
                    <a:pt x="73208" y="199264"/>
                    <a:pt x="47866" y="188767"/>
                    <a:pt x="29182" y="170083"/>
                  </a:cubicBezTo>
                  <a:cubicBezTo>
                    <a:pt x="10497" y="151398"/>
                    <a:pt x="0" y="126056"/>
                    <a:pt x="0" y="99632"/>
                  </a:cubicBezTo>
                  <a:lnTo>
                    <a:pt x="0" y="99632"/>
                  </a:lnTo>
                  <a:cubicBezTo>
                    <a:pt x="0" y="73208"/>
                    <a:pt x="10497" y="47866"/>
                    <a:pt x="29182" y="29182"/>
                  </a:cubicBezTo>
                  <a:cubicBezTo>
                    <a:pt x="47866" y="10497"/>
                    <a:pt x="73208" y="0"/>
                    <a:pt x="9963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1514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51872" y="3058349"/>
            <a:ext cx="7390552" cy="854606"/>
            <a:chOff x="0" y="0"/>
            <a:chExt cx="1723219" cy="199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219" cy="199264"/>
            </a:xfrm>
            <a:custGeom>
              <a:avLst/>
              <a:gdLst/>
              <a:ahLst/>
              <a:cxnLst/>
              <a:rect r="r" b="b" t="t" l="l"/>
              <a:pathLst>
                <a:path h="199264" w="1723219">
                  <a:moveTo>
                    <a:pt x="99632" y="0"/>
                  </a:moveTo>
                  <a:lnTo>
                    <a:pt x="1623587" y="0"/>
                  </a:lnTo>
                  <a:cubicBezTo>
                    <a:pt x="1650011" y="0"/>
                    <a:pt x="1675353" y="10497"/>
                    <a:pt x="1694038" y="29182"/>
                  </a:cubicBezTo>
                  <a:cubicBezTo>
                    <a:pt x="1712722" y="47866"/>
                    <a:pt x="1723219" y="73208"/>
                    <a:pt x="1723219" y="99632"/>
                  </a:cubicBezTo>
                  <a:lnTo>
                    <a:pt x="1723219" y="99632"/>
                  </a:lnTo>
                  <a:cubicBezTo>
                    <a:pt x="1723219" y="126056"/>
                    <a:pt x="1712722" y="151398"/>
                    <a:pt x="1694038" y="170083"/>
                  </a:cubicBezTo>
                  <a:cubicBezTo>
                    <a:pt x="1675353" y="188767"/>
                    <a:pt x="1650011" y="199264"/>
                    <a:pt x="1623587" y="199264"/>
                  </a:cubicBezTo>
                  <a:lnTo>
                    <a:pt x="99632" y="199264"/>
                  </a:lnTo>
                  <a:cubicBezTo>
                    <a:pt x="73208" y="199264"/>
                    <a:pt x="47866" y="188767"/>
                    <a:pt x="29182" y="170083"/>
                  </a:cubicBezTo>
                  <a:cubicBezTo>
                    <a:pt x="10497" y="151398"/>
                    <a:pt x="0" y="126056"/>
                    <a:pt x="0" y="99632"/>
                  </a:cubicBezTo>
                  <a:lnTo>
                    <a:pt x="0" y="99632"/>
                  </a:lnTo>
                  <a:cubicBezTo>
                    <a:pt x="0" y="73208"/>
                    <a:pt x="10497" y="47866"/>
                    <a:pt x="29182" y="29182"/>
                  </a:cubicBezTo>
                  <a:cubicBezTo>
                    <a:pt x="47866" y="10497"/>
                    <a:pt x="73208" y="0"/>
                    <a:pt x="9963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3219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596726" y="5975214"/>
            <a:ext cx="6700176" cy="6566173"/>
          </a:xfrm>
          <a:custGeom>
            <a:avLst/>
            <a:gdLst/>
            <a:ahLst/>
            <a:cxnLst/>
            <a:rect r="r" b="b" t="t" l="l"/>
            <a:pathLst>
              <a:path h="6566173" w="6700176">
                <a:moveTo>
                  <a:pt x="0" y="0"/>
                </a:moveTo>
                <a:lnTo>
                  <a:pt x="6700176" y="0"/>
                </a:lnTo>
                <a:lnTo>
                  <a:pt x="6700176" y="6566172"/>
                </a:lnTo>
                <a:lnTo>
                  <a:pt x="0" y="656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18521">
            <a:off x="15620423" y="221169"/>
            <a:ext cx="2290607" cy="3470617"/>
          </a:xfrm>
          <a:custGeom>
            <a:avLst/>
            <a:gdLst/>
            <a:ahLst/>
            <a:cxnLst/>
            <a:rect r="r" b="b" t="t" l="l"/>
            <a:pathLst>
              <a:path h="3470617" w="2290607">
                <a:moveTo>
                  <a:pt x="0" y="0"/>
                </a:moveTo>
                <a:lnTo>
                  <a:pt x="2290607" y="0"/>
                </a:lnTo>
                <a:lnTo>
                  <a:pt x="2290607" y="3470617"/>
                </a:lnTo>
                <a:lnTo>
                  <a:pt x="0" y="34706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-9525"/>
            <a:ext cx="13734889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Internal</a:t>
            </a: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 Evaluation (</a:t>
            </a:r>
            <a:r>
              <a:rPr lang="en-US" sz="12871">
                <a:solidFill>
                  <a:srgbClr val="EF0F0F"/>
                </a:solidFill>
                <a:latin typeface="Apricots"/>
                <a:ea typeface="Apricots"/>
                <a:cs typeface="Apricots"/>
                <a:sym typeface="Apricots"/>
              </a:rPr>
              <a:t>Practical Subjects</a:t>
            </a: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2901" y="3912956"/>
            <a:ext cx="12317875" cy="681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Practical Subject Assessment</a:t>
            </a:r>
          </a:p>
          <a:p>
            <a:pPr algn="l" marL="881515" indent="-440757" lvl="1">
              <a:lnSpc>
                <a:spcPts val="4899"/>
              </a:lnSpc>
              <a:buFont typeface="Arial"/>
              <a:buChar char="•"/>
            </a:pP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Theory Component: 25 marks</a:t>
            </a:r>
          </a:p>
          <a:p>
            <a:pPr algn="l" marL="881515" indent="-440757" lvl="1">
              <a:lnSpc>
                <a:spcPts val="4899"/>
              </a:lnSpc>
              <a:buFont typeface="Arial"/>
              <a:buChar char="•"/>
            </a:pP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Practical Component: 25 marks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Practical Marks Distribution</a:t>
            </a:r>
          </a:p>
          <a:p>
            <a:pPr algn="l" marL="881515" indent="-440757" lvl="1">
              <a:lnSpc>
                <a:spcPts val="4899"/>
              </a:lnSpc>
              <a:buFont typeface="Arial"/>
              <a:buChar char="•"/>
            </a:pP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Attendance – 5</a:t>
            </a:r>
          </a:p>
          <a:p>
            <a:pPr algn="l" marL="881515" indent="-440757" lvl="1">
              <a:lnSpc>
                <a:spcPts val="4899"/>
              </a:lnSpc>
              <a:buFont typeface="Arial"/>
              <a:buChar char="•"/>
            </a:pP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Lab Report – 5</a:t>
            </a:r>
          </a:p>
          <a:p>
            <a:pPr algn="l" marL="881515" indent="-440757" lvl="1">
              <a:lnSpc>
                <a:spcPts val="4899"/>
              </a:lnSpc>
              <a:buFont typeface="Arial"/>
              <a:buChar char="•"/>
            </a:pP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Practical Examination – 30</a:t>
            </a:r>
          </a:p>
          <a:p>
            <a:pPr algn="l" marL="881515" indent="-440757" lvl="1">
              <a:lnSpc>
                <a:spcPts val="4899"/>
              </a:lnSpc>
              <a:buFont typeface="Arial"/>
              <a:buChar char="•"/>
            </a:pP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Viva Voce – 10</a:t>
            </a:r>
          </a:p>
          <a:p>
            <a:pPr algn="l" marL="881515" indent="-440757" lvl="1">
              <a:lnSpc>
                <a:spcPts val="4899"/>
              </a:lnSpc>
              <a:buFont typeface="Arial"/>
              <a:buChar char="•"/>
            </a:pPr>
            <a:r>
              <a:rPr lang="en-US" sz="4082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Total Practical Marks: 50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3945" y="1101872"/>
            <a:ext cx="6069286" cy="854606"/>
            <a:chOff x="0" y="0"/>
            <a:chExt cx="141514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5146" cy="199264"/>
            </a:xfrm>
            <a:custGeom>
              <a:avLst/>
              <a:gdLst/>
              <a:ahLst/>
              <a:cxnLst/>
              <a:rect r="r" b="b" t="t" l="l"/>
              <a:pathLst>
                <a:path h="199264" w="1415146">
                  <a:moveTo>
                    <a:pt x="99632" y="0"/>
                  </a:moveTo>
                  <a:lnTo>
                    <a:pt x="1315514" y="0"/>
                  </a:lnTo>
                  <a:cubicBezTo>
                    <a:pt x="1341938" y="0"/>
                    <a:pt x="1367280" y="10497"/>
                    <a:pt x="1385965" y="29182"/>
                  </a:cubicBezTo>
                  <a:cubicBezTo>
                    <a:pt x="1404649" y="47866"/>
                    <a:pt x="1415146" y="73208"/>
                    <a:pt x="1415146" y="99632"/>
                  </a:cubicBezTo>
                  <a:lnTo>
                    <a:pt x="1415146" y="99632"/>
                  </a:lnTo>
                  <a:cubicBezTo>
                    <a:pt x="1415146" y="126056"/>
                    <a:pt x="1404649" y="151398"/>
                    <a:pt x="1385965" y="170083"/>
                  </a:cubicBezTo>
                  <a:cubicBezTo>
                    <a:pt x="1367280" y="188767"/>
                    <a:pt x="1341938" y="199264"/>
                    <a:pt x="1315514" y="199264"/>
                  </a:cubicBezTo>
                  <a:lnTo>
                    <a:pt x="99632" y="199264"/>
                  </a:lnTo>
                  <a:cubicBezTo>
                    <a:pt x="73208" y="199264"/>
                    <a:pt x="47866" y="188767"/>
                    <a:pt x="29182" y="170083"/>
                  </a:cubicBezTo>
                  <a:cubicBezTo>
                    <a:pt x="10497" y="151398"/>
                    <a:pt x="0" y="126056"/>
                    <a:pt x="0" y="99632"/>
                  </a:cubicBezTo>
                  <a:lnTo>
                    <a:pt x="0" y="99632"/>
                  </a:lnTo>
                  <a:cubicBezTo>
                    <a:pt x="0" y="73208"/>
                    <a:pt x="10497" y="47866"/>
                    <a:pt x="29182" y="29182"/>
                  </a:cubicBezTo>
                  <a:cubicBezTo>
                    <a:pt x="47866" y="10497"/>
                    <a:pt x="73208" y="0"/>
                    <a:pt x="9963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1514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51872" y="3058349"/>
            <a:ext cx="7390552" cy="854606"/>
            <a:chOff x="0" y="0"/>
            <a:chExt cx="1723219" cy="199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219" cy="199264"/>
            </a:xfrm>
            <a:custGeom>
              <a:avLst/>
              <a:gdLst/>
              <a:ahLst/>
              <a:cxnLst/>
              <a:rect r="r" b="b" t="t" l="l"/>
              <a:pathLst>
                <a:path h="199264" w="1723219">
                  <a:moveTo>
                    <a:pt x="99632" y="0"/>
                  </a:moveTo>
                  <a:lnTo>
                    <a:pt x="1623587" y="0"/>
                  </a:lnTo>
                  <a:cubicBezTo>
                    <a:pt x="1650011" y="0"/>
                    <a:pt x="1675353" y="10497"/>
                    <a:pt x="1694038" y="29182"/>
                  </a:cubicBezTo>
                  <a:cubicBezTo>
                    <a:pt x="1712722" y="47866"/>
                    <a:pt x="1723219" y="73208"/>
                    <a:pt x="1723219" y="99632"/>
                  </a:cubicBezTo>
                  <a:lnTo>
                    <a:pt x="1723219" y="99632"/>
                  </a:lnTo>
                  <a:cubicBezTo>
                    <a:pt x="1723219" y="126056"/>
                    <a:pt x="1712722" y="151398"/>
                    <a:pt x="1694038" y="170083"/>
                  </a:cubicBezTo>
                  <a:cubicBezTo>
                    <a:pt x="1675353" y="188767"/>
                    <a:pt x="1650011" y="199264"/>
                    <a:pt x="1623587" y="199264"/>
                  </a:cubicBezTo>
                  <a:lnTo>
                    <a:pt x="99632" y="199264"/>
                  </a:lnTo>
                  <a:cubicBezTo>
                    <a:pt x="73208" y="199264"/>
                    <a:pt x="47866" y="188767"/>
                    <a:pt x="29182" y="170083"/>
                  </a:cubicBezTo>
                  <a:cubicBezTo>
                    <a:pt x="10497" y="151398"/>
                    <a:pt x="0" y="126056"/>
                    <a:pt x="0" y="99632"/>
                  </a:cubicBezTo>
                  <a:lnTo>
                    <a:pt x="0" y="99632"/>
                  </a:lnTo>
                  <a:cubicBezTo>
                    <a:pt x="0" y="73208"/>
                    <a:pt x="10497" y="47866"/>
                    <a:pt x="29182" y="29182"/>
                  </a:cubicBezTo>
                  <a:cubicBezTo>
                    <a:pt x="47866" y="10497"/>
                    <a:pt x="73208" y="0"/>
                    <a:pt x="9963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3219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33945" y="7003914"/>
            <a:ext cx="6700176" cy="6566173"/>
          </a:xfrm>
          <a:custGeom>
            <a:avLst/>
            <a:gdLst/>
            <a:ahLst/>
            <a:cxnLst/>
            <a:rect r="r" b="b" t="t" l="l"/>
            <a:pathLst>
              <a:path h="6566173" w="6700176">
                <a:moveTo>
                  <a:pt x="0" y="0"/>
                </a:moveTo>
                <a:lnTo>
                  <a:pt x="6700177" y="0"/>
                </a:lnTo>
                <a:lnTo>
                  <a:pt x="6700177" y="6566172"/>
                </a:lnTo>
                <a:lnTo>
                  <a:pt x="0" y="656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18521">
            <a:off x="13380588" y="221169"/>
            <a:ext cx="2290607" cy="3470617"/>
          </a:xfrm>
          <a:custGeom>
            <a:avLst/>
            <a:gdLst/>
            <a:ahLst/>
            <a:cxnLst/>
            <a:rect r="r" b="b" t="t" l="l"/>
            <a:pathLst>
              <a:path h="3470617" w="2290607">
                <a:moveTo>
                  <a:pt x="0" y="0"/>
                </a:moveTo>
                <a:lnTo>
                  <a:pt x="2290607" y="0"/>
                </a:lnTo>
                <a:lnTo>
                  <a:pt x="2290607" y="3470617"/>
                </a:lnTo>
                <a:lnTo>
                  <a:pt x="0" y="34706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-9525"/>
            <a:ext cx="13734889" cy="392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External</a:t>
            </a: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 Examination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2901" y="3912956"/>
            <a:ext cx="12317875" cy="681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1515" indent="-440757" lvl="1">
              <a:lnSpc>
                <a:spcPts val="4899"/>
              </a:lnSpc>
              <a:buFont typeface="Arial"/>
              <a:buChar char="•"/>
            </a:pP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Conducted by:</a:t>
            </a:r>
          </a:p>
          <a:p>
            <a:pPr algn="l" marL="1763030" indent="-587677" lvl="2">
              <a:lnSpc>
                <a:spcPts val="4899"/>
              </a:lnSpc>
              <a:buFont typeface="Arial"/>
              <a:buChar char="⚬"/>
            </a:pP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Office of t</a:t>
            </a: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he Controller of Examination, </a:t>
            </a:r>
            <a:r>
              <a:rPr lang="en-US" sz="4082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PU</a:t>
            </a:r>
          </a:p>
          <a:p>
            <a:pPr algn="l" marL="881515" indent="-440757" lvl="1">
              <a:lnSpc>
                <a:spcPts val="4899"/>
              </a:lnSpc>
              <a:buFont typeface="Arial"/>
              <a:buChar char="•"/>
            </a:pP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Ex</a:t>
            </a: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amination is conducted </a:t>
            </a:r>
            <a:r>
              <a:rPr lang="en-US" sz="4082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externally</a:t>
            </a:r>
          </a:p>
          <a:p>
            <a:pPr algn="l" marL="881515" indent="-440757" lvl="1">
              <a:lnSpc>
                <a:spcPts val="4899"/>
              </a:lnSpc>
              <a:buFont typeface="Arial"/>
              <a:buChar char="•"/>
            </a:pP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Min</a:t>
            </a: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imum pass marks:</a:t>
            </a:r>
            <a:r>
              <a:rPr lang="en-US" sz="4082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 45%</a:t>
            </a:r>
          </a:p>
          <a:p>
            <a:pPr algn="l" marL="881515" indent="-440757" lvl="1">
              <a:lnSpc>
                <a:spcPts val="4899"/>
              </a:lnSpc>
              <a:buFont typeface="Arial"/>
              <a:buChar char="•"/>
            </a:pP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Student must appear in both </a:t>
            </a:r>
            <a:r>
              <a:rPr lang="en-US" sz="4082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Terminal and Final exams</a:t>
            </a:r>
          </a:p>
          <a:p>
            <a:pPr algn="l" marL="881515" indent="-440757" lvl="1">
              <a:lnSpc>
                <a:spcPts val="4899"/>
              </a:lnSpc>
              <a:buFont typeface="Arial"/>
              <a:buChar char="•"/>
            </a:pPr>
            <a:r>
              <a:rPr lang="en-US" sz="408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Failure to appear results in </a:t>
            </a:r>
            <a:r>
              <a:rPr lang="en-US" sz="4082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NQ (Not Qualified)</a:t>
            </a:r>
          </a:p>
          <a:p>
            <a:pPr algn="l" marL="881515" indent="-440757" lvl="1">
              <a:lnSpc>
                <a:spcPts val="4899"/>
              </a:lnSpc>
              <a:buFont typeface="Arial"/>
              <a:buChar char="•"/>
            </a:pP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8511" y="176581"/>
            <a:ext cx="16579077" cy="9933838"/>
          </a:xfrm>
          <a:custGeom>
            <a:avLst/>
            <a:gdLst/>
            <a:ahLst/>
            <a:cxnLst/>
            <a:rect r="r" b="b" t="t" l="l"/>
            <a:pathLst>
              <a:path h="9933838" w="16579077">
                <a:moveTo>
                  <a:pt x="0" y="0"/>
                </a:moveTo>
                <a:lnTo>
                  <a:pt x="16579076" y="0"/>
                </a:lnTo>
                <a:lnTo>
                  <a:pt x="16579076" y="9933838"/>
                </a:lnTo>
                <a:lnTo>
                  <a:pt x="0" y="9933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4949" y="0"/>
            <a:ext cx="16978102" cy="10287000"/>
          </a:xfrm>
          <a:custGeom>
            <a:avLst/>
            <a:gdLst/>
            <a:ahLst/>
            <a:cxnLst/>
            <a:rect r="r" b="b" t="t" l="l"/>
            <a:pathLst>
              <a:path h="10287000" w="16978102">
                <a:moveTo>
                  <a:pt x="0" y="0"/>
                </a:moveTo>
                <a:lnTo>
                  <a:pt x="16978102" y="0"/>
                </a:lnTo>
                <a:lnTo>
                  <a:pt x="169781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09926" y="0"/>
            <a:ext cx="15349374" cy="10270331"/>
          </a:xfrm>
          <a:custGeom>
            <a:avLst/>
            <a:gdLst/>
            <a:ahLst/>
            <a:cxnLst/>
            <a:rect r="r" b="b" t="t" l="l"/>
            <a:pathLst>
              <a:path h="10270331" w="15349374">
                <a:moveTo>
                  <a:pt x="0" y="0"/>
                </a:moveTo>
                <a:lnTo>
                  <a:pt x="15349374" y="0"/>
                </a:lnTo>
                <a:lnTo>
                  <a:pt x="15349374" y="10270331"/>
                </a:lnTo>
                <a:lnTo>
                  <a:pt x="0" y="10270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97419"/>
            <a:ext cx="7390552" cy="854606"/>
            <a:chOff x="0" y="0"/>
            <a:chExt cx="1723219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3219" cy="199264"/>
            </a:xfrm>
            <a:custGeom>
              <a:avLst/>
              <a:gdLst/>
              <a:ahLst/>
              <a:cxnLst/>
              <a:rect r="r" b="b" t="t" l="l"/>
              <a:pathLst>
                <a:path h="199264" w="1723219">
                  <a:moveTo>
                    <a:pt x="99632" y="0"/>
                  </a:moveTo>
                  <a:lnTo>
                    <a:pt x="1623587" y="0"/>
                  </a:lnTo>
                  <a:cubicBezTo>
                    <a:pt x="1650011" y="0"/>
                    <a:pt x="1675353" y="10497"/>
                    <a:pt x="1694038" y="29182"/>
                  </a:cubicBezTo>
                  <a:cubicBezTo>
                    <a:pt x="1712722" y="47866"/>
                    <a:pt x="1723219" y="73208"/>
                    <a:pt x="1723219" y="99632"/>
                  </a:cubicBezTo>
                  <a:lnTo>
                    <a:pt x="1723219" y="99632"/>
                  </a:lnTo>
                  <a:cubicBezTo>
                    <a:pt x="1723219" y="126056"/>
                    <a:pt x="1712722" y="151398"/>
                    <a:pt x="1694038" y="170083"/>
                  </a:cubicBezTo>
                  <a:cubicBezTo>
                    <a:pt x="1675353" y="188767"/>
                    <a:pt x="1650011" y="199264"/>
                    <a:pt x="1623587" y="199264"/>
                  </a:cubicBezTo>
                  <a:lnTo>
                    <a:pt x="99632" y="199264"/>
                  </a:lnTo>
                  <a:cubicBezTo>
                    <a:pt x="73208" y="199264"/>
                    <a:pt x="47866" y="188767"/>
                    <a:pt x="29182" y="170083"/>
                  </a:cubicBezTo>
                  <a:cubicBezTo>
                    <a:pt x="10497" y="151398"/>
                    <a:pt x="0" y="126056"/>
                    <a:pt x="0" y="99632"/>
                  </a:cubicBezTo>
                  <a:lnTo>
                    <a:pt x="0" y="99632"/>
                  </a:lnTo>
                  <a:cubicBezTo>
                    <a:pt x="0" y="73208"/>
                    <a:pt x="10497" y="47866"/>
                    <a:pt x="29182" y="29182"/>
                  </a:cubicBezTo>
                  <a:cubicBezTo>
                    <a:pt x="47866" y="10497"/>
                    <a:pt x="73208" y="0"/>
                    <a:pt x="9963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23219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76422" y="3004047"/>
            <a:ext cx="2492336" cy="2386412"/>
          </a:xfrm>
          <a:custGeom>
            <a:avLst/>
            <a:gdLst/>
            <a:ahLst/>
            <a:cxnLst/>
            <a:rect r="r" b="b" t="t" l="l"/>
            <a:pathLst>
              <a:path h="2386412" w="2492336">
                <a:moveTo>
                  <a:pt x="0" y="0"/>
                </a:moveTo>
                <a:lnTo>
                  <a:pt x="2492336" y="0"/>
                </a:lnTo>
                <a:lnTo>
                  <a:pt x="2492336" y="2386412"/>
                </a:lnTo>
                <a:lnTo>
                  <a:pt x="0" y="23864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32592">
            <a:off x="15908021" y="3798356"/>
            <a:ext cx="4429875" cy="2242624"/>
          </a:xfrm>
          <a:custGeom>
            <a:avLst/>
            <a:gdLst/>
            <a:ahLst/>
            <a:cxnLst/>
            <a:rect r="r" b="b" t="t" l="l"/>
            <a:pathLst>
              <a:path h="2242624" w="4429875">
                <a:moveTo>
                  <a:pt x="0" y="0"/>
                </a:moveTo>
                <a:lnTo>
                  <a:pt x="4429875" y="0"/>
                </a:lnTo>
                <a:lnTo>
                  <a:pt x="4429875" y="2242625"/>
                </a:lnTo>
                <a:lnTo>
                  <a:pt x="0" y="22426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112248">
            <a:off x="15841045" y="264082"/>
            <a:ext cx="2124296" cy="2837123"/>
          </a:xfrm>
          <a:custGeom>
            <a:avLst/>
            <a:gdLst/>
            <a:ahLst/>
            <a:cxnLst/>
            <a:rect r="r" b="b" t="t" l="l"/>
            <a:pathLst>
              <a:path h="2837123" w="2124296">
                <a:moveTo>
                  <a:pt x="0" y="0"/>
                </a:moveTo>
                <a:lnTo>
                  <a:pt x="2124296" y="0"/>
                </a:lnTo>
                <a:lnTo>
                  <a:pt x="2124296" y="2837123"/>
                </a:lnTo>
                <a:lnTo>
                  <a:pt x="0" y="28371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89649" y="40936"/>
            <a:ext cx="14755509" cy="196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Congruency of Marks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921475"/>
            <a:ext cx="12287796" cy="743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Internal vs External Marks Consistency</a:t>
            </a:r>
          </a:p>
          <a:p>
            <a:pPr algn="l">
              <a:lnSpc>
                <a:spcPts val="4920"/>
              </a:lnSpc>
            </a:pPr>
          </a:p>
          <a:p>
            <a:pPr algn="l" marL="885191" indent="-442595" lvl="1">
              <a:lnSpc>
                <a:spcPts val="492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Internal and external marks should not differ unreasonably</a:t>
            </a:r>
          </a:p>
          <a:p>
            <a:pPr algn="l" marL="885191" indent="-442595" lvl="1">
              <a:lnSpc>
                <a:spcPts val="492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</a:t>
            </a:r>
            <a:r>
              <a:rPr lang="en-US" b="true" sz="410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aximum allowed variation: 25%</a:t>
            </a:r>
          </a:p>
          <a:p>
            <a:pPr algn="l" marL="885191" indent="-442595" lvl="1">
              <a:lnSpc>
                <a:spcPts val="492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If variation exceeds limit:</a:t>
            </a:r>
          </a:p>
          <a:p>
            <a:pPr algn="l" marL="1770381" indent="-590127" lvl="2">
              <a:lnSpc>
                <a:spcPts val="4920"/>
              </a:lnSpc>
              <a:buFont typeface="Arial"/>
              <a:buChar char="⚬"/>
            </a:pPr>
            <a:r>
              <a:rPr lang="en-US" sz="41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Internal marks weight reduced by 50%</a:t>
            </a:r>
          </a:p>
          <a:p>
            <a:pPr algn="l" marL="1770381" indent="-590127" lvl="2">
              <a:lnSpc>
                <a:spcPts val="4920"/>
              </a:lnSpc>
              <a:buFont typeface="Arial"/>
              <a:buChar char="⚬"/>
            </a:pPr>
            <a:r>
              <a:rPr lang="en-US" sz="41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External marks weight increased by 50%</a:t>
            </a:r>
          </a:p>
          <a:p>
            <a:pPr algn="l" marL="885191" indent="-442595" lvl="1">
              <a:lnSpc>
                <a:spcPts val="492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In case of persistent deviation:</a:t>
            </a:r>
          </a:p>
          <a:p>
            <a:pPr algn="l" marL="1770381" indent="-590127" lvl="2">
              <a:lnSpc>
                <a:spcPts val="4920"/>
              </a:lnSpc>
              <a:buFont typeface="Arial"/>
              <a:buChar char="⚬"/>
            </a:pPr>
            <a:r>
              <a:rPr lang="en-US" sz="41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Entire </a:t>
            </a:r>
            <a:r>
              <a:rPr lang="en-US" b="true" sz="410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batch </a:t>
            </a:r>
            <a:r>
              <a:rPr lang="en-US" sz="41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results may be revised</a:t>
            </a:r>
          </a:p>
          <a:p>
            <a:pPr algn="l">
              <a:lnSpc>
                <a:spcPts val="492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46715" y="-5006479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99247" y="-408768"/>
            <a:ext cx="3760170" cy="2359507"/>
          </a:xfrm>
          <a:custGeom>
            <a:avLst/>
            <a:gdLst/>
            <a:ahLst/>
            <a:cxnLst/>
            <a:rect r="r" b="b" t="t" l="l"/>
            <a:pathLst>
              <a:path h="2359507" w="3760170">
                <a:moveTo>
                  <a:pt x="0" y="0"/>
                </a:moveTo>
                <a:lnTo>
                  <a:pt x="3760170" y="0"/>
                </a:lnTo>
                <a:lnTo>
                  <a:pt x="3760170" y="2359507"/>
                </a:lnTo>
                <a:lnTo>
                  <a:pt x="0" y="23595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32092" y="2722264"/>
            <a:ext cx="13223815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0"/>
              </a:lnSpc>
              <a:spcBef>
                <a:spcPct val="0"/>
              </a:spcBef>
            </a:pPr>
            <a:r>
              <a:rPr lang="en-US" sz="15000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Gra</a:t>
            </a:r>
            <a:r>
              <a:rPr lang="en-US" sz="15000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ding System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003553">
            <a:off x="-207082" y="5520779"/>
            <a:ext cx="3355341" cy="4989355"/>
          </a:xfrm>
          <a:custGeom>
            <a:avLst/>
            <a:gdLst/>
            <a:ahLst/>
            <a:cxnLst/>
            <a:rect r="r" b="b" t="t" l="l"/>
            <a:pathLst>
              <a:path h="4989355" w="3355341">
                <a:moveTo>
                  <a:pt x="0" y="0"/>
                </a:moveTo>
                <a:lnTo>
                  <a:pt x="3355341" y="0"/>
                </a:lnTo>
                <a:lnTo>
                  <a:pt x="3355341" y="4989355"/>
                </a:lnTo>
                <a:lnTo>
                  <a:pt x="0" y="49893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4341">
            <a:off x="-2386419" y="1108512"/>
            <a:ext cx="5316656" cy="3734951"/>
          </a:xfrm>
          <a:custGeom>
            <a:avLst/>
            <a:gdLst/>
            <a:ahLst/>
            <a:cxnLst/>
            <a:rect r="r" b="b" t="t" l="l"/>
            <a:pathLst>
              <a:path h="3734951" w="5316656">
                <a:moveTo>
                  <a:pt x="0" y="0"/>
                </a:moveTo>
                <a:lnTo>
                  <a:pt x="5316656" y="0"/>
                </a:lnTo>
                <a:lnTo>
                  <a:pt x="5316656" y="3734951"/>
                </a:lnTo>
                <a:lnTo>
                  <a:pt x="0" y="37349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59417" y="6281194"/>
            <a:ext cx="3614741" cy="3461115"/>
          </a:xfrm>
          <a:custGeom>
            <a:avLst/>
            <a:gdLst/>
            <a:ahLst/>
            <a:cxnLst/>
            <a:rect r="r" b="b" t="t" l="l"/>
            <a:pathLst>
              <a:path h="3461115" w="3614741">
                <a:moveTo>
                  <a:pt x="0" y="0"/>
                </a:moveTo>
                <a:lnTo>
                  <a:pt x="3614741" y="0"/>
                </a:lnTo>
                <a:lnTo>
                  <a:pt x="3614741" y="3461115"/>
                </a:lnTo>
                <a:lnTo>
                  <a:pt x="0" y="34611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7022">
            <a:off x="6659792" y="9161557"/>
            <a:ext cx="4968416" cy="3005891"/>
          </a:xfrm>
          <a:custGeom>
            <a:avLst/>
            <a:gdLst/>
            <a:ahLst/>
            <a:cxnLst/>
            <a:rect r="r" b="b" t="t" l="l"/>
            <a:pathLst>
              <a:path h="3005891" w="4968416">
                <a:moveTo>
                  <a:pt x="0" y="0"/>
                </a:moveTo>
                <a:lnTo>
                  <a:pt x="4968416" y="0"/>
                </a:lnTo>
                <a:lnTo>
                  <a:pt x="4968416" y="3005891"/>
                </a:lnTo>
                <a:lnTo>
                  <a:pt x="0" y="30058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95233" y="-688803"/>
            <a:ext cx="4415240" cy="2919578"/>
          </a:xfrm>
          <a:custGeom>
            <a:avLst/>
            <a:gdLst/>
            <a:ahLst/>
            <a:cxnLst/>
            <a:rect r="r" b="b" t="t" l="l"/>
            <a:pathLst>
              <a:path h="2919578" w="4415240">
                <a:moveTo>
                  <a:pt x="0" y="0"/>
                </a:moveTo>
                <a:lnTo>
                  <a:pt x="4415240" y="0"/>
                </a:lnTo>
                <a:lnTo>
                  <a:pt x="4415240" y="2919577"/>
                </a:lnTo>
                <a:lnTo>
                  <a:pt x="0" y="29195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524722">
            <a:off x="15094373" y="1633666"/>
            <a:ext cx="3720773" cy="3627753"/>
          </a:xfrm>
          <a:custGeom>
            <a:avLst/>
            <a:gdLst/>
            <a:ahLst/>
            <a:cxnLst/>
            <a:rect r="r" b="b" t="t" l="l"/>
            <a:pathLst>
              <a:path h="3627753" w="3720773">
                <a:moveTo>
                  <a:pt x="0" y="0"/>
                </a:moveTo>
                <a:lnTo>
                  <a:pt x="3720773" y="0"/>
                </a:lnTo>
                <a:lnTo>
                  <a:pt x="3720773" y="3627753"/>
                </a:lnTo>
                <a:lnTo>
                  <a:pt x="0" y="362775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037065" y="6281194"/>
            <a:ext cx="8213870" cy="1513164"/>
            <a:chOff x="0" y="0"/>
            <a:chExt cx="2163324" cy="3985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63324" cy="398529"/>
            </a:xfrm>
            <a:custGeom>
              <a:avLst/>
              <a:gdLst/>
              <a:ahLst/>
              <a:cxnLst/>
              <a:rect r="r" b="b" t="t" l="l"/>
              <a:pathLst>
                <a:path h="398529" w="2163324">
                  <a:moveTo>
                    <a:pt x="94254" y="0"/>
                  </a:moveTo>
                  <a:lnTo>
                    <a:pt x="2069070" y="0"/>
                  </a:lnTo>
                  <a:cubicBezTo>
                    <a:pt x="2094068" y="0"/>
                    <a:pt x="2118041" y="9930"/>
                    <a:pt x="2135718" y="27606"/>
                  </a:cubicBezTo>
                  <a:cubicBezTo>
                    <a:pt x="2153394" y="45283"/>
                    <a:pt x="2163324" y="69256"/>
                    <a:pt x="2163324" y="94254"/>
                  </a:cubicBezTo>
                  <a:lnTo>
                    <a:pt x="2163324" y="304275"/>
                  </a:lnTo>
                  <a:cubicBezTo>
                    <a:pt x="2163324" y="329272"/>
                    <a:pt x="2153394" y="353246"/>
                    <a:pt x="2135718" y="370922"/>
                  </a:cubicBezTo>
                  <a:cubicBezTo>
                    <a:pt x="2118041" y="388599"/>
                    <a:pt x="2094068" y="398529"/>
                    <a:pt x="2069070" y="398529"/>
                  </a:cubicBezTo>
                  <a:lnTo>
                    <a:pt x="94254" y="398529"/>
                  </a:lnTo>
                  <a:cubicBezTo>
                    <a:pt x="69256" y="398529"/>
                    <a:pt x="45283" y="388599"/>
                    <a:pt x="27606" y="370922"/>
                  </a:cubicBezTo>
                  <a:cubicBezTo>
                    <a:pt x="9930" y="353246"/>
                    <a:pt x="0" y="329272"/>
                    <a:pt x="0" y="304275"/>
                  </a:cubicBezTo>
                  <a:lnTo>
                    <a:pt x="0" y="94254"/>
                  </a:lnTo>
                  <a:cubicBezTo>
                    <a:pt x="0" y="69256"/>
                    <a:pt x="9930" y="45283"/>
                    <a:pt x="27606" y="27606"/>
                  </a:cubicBezTo>
                  <a:cubicBezTo>
                    <a:pt x="45283" y="9930"/>
                    <a:pt x="69256" y="0"/>
                    <a:pt x="94254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63324" cy="436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141109" y="6389081"/>
            <a:ext cx="1057411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SGP</a:t>
            </a:r>
            <a:r>
              <a:rPr lang="en-US" sz="9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 / CGPA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658304" cy="854606"/>
            <a:chOff x="0" y="0"/>
            <a:chExt cx="388413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84136" cy="199264"/>
            </a:xfrm>
            <a:custGeom>
              <a:avLst/>
              <a:gdLst/>
              <a:ahLst/>
              <a:cxnLst/>
              <a:rect r="r" b="b" t="t" l="l"/>
              <a:pathLst>
                <a:path h="199264" w="3884136">
                  <a:moveTo>
                    <a:pt x="46475" y="0"/>
                  </a:moveTo>
                  <a:lnTo>
                    <a:pt x="3837661" y="0"/>
                  </a:lnTo>
                  <a:cubicBezTo>
                    <a:pt x="3849987" y="0"/>
                    <a:pt x="3861808" y="4896"/>
                    <a:pt x="3870524" y="13612"/>
                  </a:cubicBezTo>
                  <a:cubicBezTo>
                    <a:pt x="3879240" y="22328"/>
                    <a:pt x="3884136" y="34149"/>
                    <a:pt x="3884136" y="46475"/>
                  </a:cubicBezTo>
                  <a:lnTo>
                    <a:pt x="3884136" y="152790"/>
                  </a:lnTo>
                  <a:cubicBezTo>
                    <a:pt x="3884136" y="178457"/>
                    <a:pt x="3863329" y="199264"/>
                    <a:pt x="3837661" y="199264"/>
                  </a:cubicBezTo>
                  <a:lnTo>
                    <a:pt x="46475" y="199264"/>
                  </a:lnTo>
                  <a:cubicBezTo>
                    <a:pt x="20807" y="199264"/>
                    <a:pt x="0" y="178457"/>
                    <a:pt x="0" y="152790"/>
                  </a:cubicBezTo>
                  <a:lnTo>
                    <a:pt x="0" y="46475"/>
                  </a:lnTo>
                  <a:cubicBezTo>
                    <a:pt x="0" y="20807"/>
                    <a:pt x="20807" y="0"/>
                    <a:pt x="46475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8413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2426" y="2947959"/>
            <a:ext cx="13827473" cy="723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St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udents are evaluated using </a:t>
            </a:r>
            <a:r>
              <a:rPr lang="en-US" sz="4770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Grades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, not percentages</a:t>
            </a: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Pe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rformance is measured through:</a:t>
            </a:r>
          </a:p>
          <a:p>
            <a:pPr algn="l" marL="2059961" indent="-686654" lvl="2">
              <a:lnSpc>
                <a:spcPts val="5724"/>
              </a:lnSpc>
              <a:buFont typeface="Arial"/>
              <a:buChar char="⚬"/>
            </a:pPr>
            <a:r>
              <a:rPr lang="en-US" b="true" sz="477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SGPA 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– Semester Grade Point Average</a:t>
            </a:r>
          </a:p>
          <a:p>
            <a:pPr algn="l" marL="2059961" indent="-686654" lvl="2">
              <a:lnSpc>
                <a:spcPts val="5724"/>
              </a:lnSpc>
              <a:buFont typeface="Arial"/>
              <a:buChar char="⚬"/>
            </a:pPr>
            <a:r>
              <a:rPr lang="en-US" b="true" sz="477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CGPA 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– Cumulative Grade Point Average</a:t>
            </a: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Minimum CGPA required to continue program: 2.0</a:t>
            </a:r>
          </a:p>
          <a:p>
            <a:pPr algn="ctr">
              <a:lnSpc>
                <a:spcPts val="572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20789" y="6468303"/>
            <a:ext cx="3066215" cy="1924050"/>
          </a:xfrm>
          <a:custGeom>
            <a:avLst/>
            <a:gdLst/>
            <a:ahLst/>
            <a:cxnLst/>
            <a:rect r="r" b="b" t="t" l="l"/>
            <a:pathLst>
              <a:path h="1924050" w="3066215">
                <a:moveTo>
                  <a:pt x="0" y="0"/>
                </a:moveTo>
                <a:lnTo>
                  <a:pt x="3066215" y="0"/>
                </a:lnTo>
                <a:lnTo>
                  <a:pt x="3066215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29161" y="3743325"/>
            <a:ext cx="2637591" cy="2574948"/>
          </a:xfrm>
          <a:custGeom>
            <a:avLst/>
            <a:gdLst/>
            <a:ahLst/>
            <a:cxnLst/>
            <a:rect r="r" b="b" t="t" l="l"/>
            <a:pathLst>
              <a:path h="2574948" w="2637591">
                <a:moveTo>
                  <a:pt x="0" y="0"/>
                </a:moveTo>
                <a:lnTo>
                  <a:pt x="2637591" y="0"/>
                </a:lnTo>
                <a:lnTo>
                  <a:pt x="2637591" y="2574948"/>
                </a:lnTo>
                <a:lnTo>
                  <a:pt x="0" y="257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83035">
            <a:off x="14766389" y="3316183"/>
            <a:ext cx="2781879" cy="1683037"/>
          </a:xfrm>
          <a:custGeom>
            <a:avLst/>
            <a:gdLst/>
            <a:ahLst/>
            <a:cxnLst/>
            <a:rect r="r" b="b" t="t" l="l"/>
            <a:pathLst>
              <a:path h="1683037" w="2781879">
                <a:moveTo>
                  <a:pt x="0" y="0"/>
                </a:moveTo>
                <a:lnTo>
                  <a:pt x="2781879" y="0"/>
                </a:lnTo>
                <a:lnTo>
                  <a:pt x="2781879" y="1683037"/>
                </a:lnTo>
                <a:lnTo>
                  <a:pt x="0" y="1683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500" y="468239"/>
            <a:ext cx="17230800" cy="196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Grade-Based Evaluation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658304" cy="854606"/>
            <a:chOff x="0" y="0"/>
            <a:chExt cx="388413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84136" cy="199264"/>
            </a:xfrm>
            <a:custGeom>
              <a:avLst/>
              <a:gdLst/>
              <a:ahLst/>
              <a:cxnLst/>
              <a:rect r="r" b="b" t="t" l="l"/>
              <a:pathLst>
                <a:path h="199264" w="3884136">
                  <a:moveTo>
                    <a:pt x="46475" y="0"/>
                  </a:moveTo>
                  <a:lnTo>
                    <a:pt x="3837661" y="0"/>
                  </a:lnTo>
                  <a:cubicBezTo>
                    <a:pt x="3849987" y="0"/>
                    <a:pt x="3861808" y="4896"/>
                    <a:pt x="3870524" y="13612"/>
                  </a:cubicBezTo>
                  <a:cubicBezTo>
                    <a:pt x="3879240" y="22328"/>
                    <a:pt x="3884136" y="34149"/>
                    <a:pt x="3884136" y="46475"/>
                  </a:cubicBezTo>
                  <a:lnTo>
                    <a:pt x="3884136" y="152790"/>
                  </a:lnTo>
                  <a:cubicBezTo>
                    <a:pt x="3884136" y="178457"/>
                    <a:pt x="3863329" y="199264"/>
                    <a:pt x="3837661" y="199264"/>
                  </a:cubicBezTo>
                  <a:lnTo>
                    <a:pt x="46475" y="199264"/>
                  </a:lnTo>
                  <a:cubicBezTo>
                    <a:pt x="20807" y="199264"/>
                    <a:pt x="0" y="178457"/>
                    <a:pt x="0" y="152790"/>
                  </a:cubicBezTo>
                  <a:lnTo>
                    <a:pt x="0" y="46475"/>
                  </a:lnTo>
                  <a:cubicBezTo>
                    <a:pt x="0" y="20807"/>
                    <a:pt x="20807" y="0"/>
                    <a:pt x="46475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8413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20789" y="6468303"/>
            <a:ext cx="3066215" cy="1924050"/>
          </a:xfrm>
          <a:custGeom>
            <a:avLst/>
            <a:gdLst/>
            <a:ahLst/>
            <a:cxnLst/>
            <a:rect r="r" b="b" t="t" l="l"/>
            <a:pathLst>
              <a:path h="1924050" w="3066215">
                <a:moveTo>
                  <a:pt x="0" y="0"/>
                </a:moveTo>
                <a:lnTo>
                  <a:pt x="3066215" y="0"/>
                </a:lnTo>
                <a:lnTo>
                  <a:pt x="3066215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9161" y="3743325"/>
            <a:ext cx="2637591" cy="2574948"/>
          </a:xfrm>
          <a:custGeom>
            <a:avLst/>
            <a:gdLst/>
            <a:ahLst/>
            <a:cxnLst/>
            <a:rect r="r" b="b" t="t" l="l"/>
            <a:pathLst>
              <a:path h="2574948" w="2637591">
                <a:moveTo>
                  <a:pt x="0" y="0"/>
                </a:moveTo>
                <a:lnTo>
                  <a:pt x="2637591" y="0"/>
                </a:lnTo>
                <a:lnTo>
                  <a:pt x="2637591" y="2574948"/>
                </a:lnTo>
                <a:lnTo>
                  <a:pt x="0" y="257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83035">
            <a:off x="14766389" y="3316183"/>
            <a:ext cx="2781879" cy="1683037"/>
          </a:xfrm>
          <a:custGeom>
            <a:avLst/>
            <a:gdLst/>
            <a:ahLst/>
            <a:cxnLst/>
            <a:rect r="r" b="b" t="t" l="l"/>
            <a:pathLst>
              <a:path h="1683037" w="2781879">
                <a:moveTo>
                  <a:pt x="0" y="0"/>
                </a:moveTo>
                <a:lnTo>
                  <a:pt x="2781879" y="0"/>
                </a:lnTo>
                <a:lnTo>
                  <a:pt x="2781879" y="1683037"/>
                </a:lnTo>
                <a:lnTo>
                  <a:pt x="0" y="1683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0" id="10"/>
          <p:cNvGraphicFramePr/>
          <p:nvPr/>
        </p:nvGraphicFramePr>
        <p:xfrm>
          <a:off x="1028700" y="2434242"/>
          <a:ext cx="5657850" cy="7543800"/>
        </p:xfrm>
        <a:graphic>
          <a:graphicData uri="http://schemas.openxmlformats.org/presentationml/2006/ole">
            <p:oleObj imgW="7162800" imgH="90424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28500" y="468239"/>
            <a:ext cx="17230800" cy="196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Grade-Based Evaluation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658304" cy="854606"/>
            <a:chOff x="0" y="0"/>
            <a:chExt cx="388413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84136" cy="199264"/>
            </a:xfrm>
            <a:custGeom>
              <a:avLst/>
              <a:gdLst/>
              <a:ahLst/>
              <a:cxnLst/>
              <a:rect r="r" b="b" t="t" l="l"/>
              <a:pathLst>
                <a:path h="199264" w="3884136">
                  <a:moveTo>
                    <a:pt x="46475" y="0"/>
                  </a:moveTo>
                  <a:lnTo>
                    <a:pt x="3837661" y="0"/>
                  </a:lnTo>
                  <a:cubicBezTo>
                    <a:pt x="3849987" y="0"/>
                    <a:pt x="3861808" y="4896"/>
                    <a:pt x="3870524" y="13612"/>
                  </a:cubicBezTo>
                  <a:cubicBezTo>
                    <a:pt x="3879240" y="22328"/>
                    <a:pt x="3884136" y="34149"/>
                    <a:pt x="3884136" y="46475"/>
                  </a:cubicBezTo>
                  <a:lnTo>
                    <a:pt x="3884136" y="152790"/>
                  </a:lnTo>
                  <a:cubicBezTo>
                    <a:pt x="3884136" y="178457"/>
                    <a:pt x="3863329" y="199264"/>
                    <a:pt x="3837661" y="199264"/>
                  </a:cubicBezTo>
                  <a:lnTo>
                    <a:pt x="46475" y="199264"/>
                  </a:lnTo>
                  <a:cubicBezTo>
                    <a:pt x="20807" y="199264"/>
                    <a:pt x="0" y="178457"/>
                    <a:pt x="0" y="152790"/>
                  </a:cubicBezTo>
                  <a:lnTo>
                    <a:pt x="0" y="46475"/>
                  </a:lnTo>
                  <a:cubicBezTo>
                    <a:pt x="0" y="20807"/>
                    <a:pt x="20807" y="0"/>
                    <a:pt x="46475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8413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20789" y="6468303"/>
            <a:ext cx="3066215" cy="1924050"/>
          </a:xfrm>
          <a:custGeom>
            <a:avLst/>
            <a:gdLst/>
            <a:ahLst/>
            <a:cxnLst/>
            <a:rect r="r" b="b" t="t" l="l"/>
            <a:pathLst>
              <a:path h="1924050" w="3066215">
                <a:moveTo>
                  <a:pt x="0" y="0"/>
                </a:moveTo>
                <a:lnTo>
                  <a:pt x="3066215" y="0"/>
                </a:lnTo>
                <a:lnTo>
                  <a:pt x="3066215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9161" y="3743325"/>
            <a:ext cx="2637591" cy="2574948"/>
          </a:xfrm>
          <a:custGeom>
            <a:avLst/>
            <a:gdLst/>
            <a:ahLst/>
            <a:cxnLst/>
            <a:rect r="r" b="b" t="t" l="l"/>
            <a:pathLst>
              <a:path h="2574948" w="2637591">
                <a:moveTo>
                  <a:pt x="0" y="0"/>
                </a:moveTo>
                <a:lnTo>
                  <a:pt x="2637591" y="0"/>
                </a:lnTo>
                <a:lnTo>
                  <a:pt x="2637591" y="2574948"/>
                </a:lnTo>
                <a:lnTo>
                  <a:pt x="0" y="257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83035">
            <a:off x="14766389" y="3316183"/>
            <a:ext cx="2781879" cy="1683037"/>
          </a:xfrm>
          <a:custGeom>
            <a:avLst/>
            <a:gdLst/>
            <a:ahLst/>
            <a:cxnLst/>
            <a:rect r="r" b="b" t="t" l="l"/>
            <a:pathLst>
              <a:path h="1683037" w="2781879">
                <a:moveTo>
                  <a:pt x="0" y="0"/>
                </a:moveTo>
                <a:lnTo>
                  <a:pt x="2781879" y="0"/>
                </a:lnTo>
                <a:lnTo>
                  <a:pt x="2781879" y="1683037"/>
                </a:lnTo>
                <a:lnTo>
                  <a:pt x="0" y="1683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0" id="10"/>
          <p:cNvGraphicFramePr/>
          <p:nvPr/>
        </p:nvGraphicFramePr>
        <p:xfrm>
          <a:off x="1028700" y="1883306"/>
          <a:ext cx="7543800" cy="7543800"/>
        </p:xfrm>
        <a:graphic>
          <a:graphicData uri="http://schemas.openxmlformats.org/presentationml/2006/ole">
            <p:oleObj imgW="9042400" imgH="90424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28500" y="468239"/>
            <a:ext cx="17230800" cy="196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Grade-Based Evaluation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658304" cy="854606"/>
            <a:chOff x="0" y="0"/>
            <a:chExt cx="388413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84136" cy="199264"/>
            </a:xfrm>
            <a:custGeom>
              <a:avLst/>
              <a:gdLst/>
              <a:ahLst/>
              <a:cxnLst/>
              <a:rect r="r" b="b" t="t" l="l"/>
              <a:pathLst>
                <a:path h="199264" w="3884136">
                  <a:moveTo>
                    <a:pt x="46475" y="0"/>
                  </a:moveTo>
                  <a:lnTo>
                    <a:pt x="3837661" y="0"/>
                  </a:lnTo>
                  <a:cubicBezTo>
                    <a:pt x="3849987" y="0"/>
                    <a:pt x="3861808" y="4896"/>
                    <a:pt x="3870524" y="13612"/>
                  </a:cubicBezTo>
                  <a:cubicBezTo>
                    <a:pt x="3879240" y="22328"/>
                    <a:pt x="3884136" y="34149"/>
                    <a:pt x="3884136" y="46475"/>
                  </a:cubicBezTo>
                  <a:lnTo>
                    <a:pt x="3884136" y="152790"/>
                  </a:lnTo>
                  <a:cubicBezTo>
                    <a:pt x="3884136" y="178457"/>
                    <a:pt x="3863329" y="199264"/>
                    <a:pt x="3837661" y="199264"/>
                  </a:cubicBezTo>
                  <a:lnTo>
                    <a:pt x="46475" y="199264"/>
                  </a:lnTo>
                  <a:cubicBezTo>
                    <a:pt x="20807" y="199264"/>
                    <a:pt x="0" y="178457"/>
                    <a:pt x="0" y="152790"/>
                  </a:cubicBezTo>
                  <a:lnTo>
                    <a:pt x="0" y="46475"/>
                  </a:lnTo>
                  <a:cubicBezTo>
                    <a:pt x="0" y="20807"/>
                    <a:pt x="20807" y="0"/>
                    <a:pt x="46475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8413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20789" y="6468303"/>
            <a:ext cx="3066215" cy="1924050"/>
          </a:xfrm>
          <a:custGeom>
            <a:avLst/>
            <a:gdLst/>
            <a:ahLst/>
            <a:cxnLst/>
            <a:rect r="r" b="b" t="t" l="l"/>
            <a:pathLst>
              <a:path h="1924050" w="3066215">
                <a:moveTo>
                  <a:pt x="0" y="0"/>
                </a:moveTo>
                <a:lnTo>
                  <a:pt x="3066215" y="0"/>
                </a:lnTo>
                <a:lnTo>
                  <a:pt x="3066215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9161" y="3743325"/>
            <a:ext cx="2637591" cy="2574948"/>
          </a:xfrm>
          <a:custGeom>
            <a:avLst/>
            <a:gdLst/>
            <a:ahLst/>
            <a:cxnLst/>
            <a:rect r="r" b="b" t="t" l="l"/>
            <a:pathLst>
              <a:path h="2574948" w="2637591">
                <a:moveTo>
                  <a:pt x="0" y="0"/>
                </a:moveTo>
                <a:lnTo>
                  <a:pt x="2637591" y="0"/>
                </a:lnTo>
                <a:lnTo>
                  <a:pt x="2637591" y="2574948"/>
                </a:lnTo>
                <a:lnTo>
                  <a:pt x="0" y="257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83035">
            <a:off x="14766389" y="3316183"/>
            <a:ext cx="2781879" cy="1683037"/>
          </a:xfrm>
          <a:custGeom>
            <a:avLst/>
            <a:gdLst/>
            <a:ahLst/>
            <a:cxnLst/>
            <a:rect r="r" b="b" t="t" l="l"/>
            <a:pathLst>
              <a:path h="1683037" w="2781879">
                <a:moveTo>
                  <a:pt x="0" y="0"/>
                </a:moveTo>
                <a:lnTo>
                  <a:pt x="2781879" y="0"/>
                </a:lnTo>
                <a:lnTo>
                  <a:pt x="2781879" y="1683037"/>
                </a:lnTo>
                <a:lnTo>
                  <a:pt x="0" y="1683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0" id="10"/>
          <p:cNvGraphicFramePr/>
          <p:nvPr/>
        </p:nvGraphicFramePr>
        <p:xfrm>
          <a:off x="572426" y="1883306"/>
          <a:ext cx="11315700" cy="4400550"/>
        </p:xfrm>
        <a:graphic>
          <a:graphicData uri="http://schemas.openxmlformats.org/presentationml/2006/ole">
            <p:oleObj imgW="13576300" imgH="66675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572426" y="2947959"/>
            <a:ext cx="1382747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8500" y="468239"/>
            <a:ext cx="17230800" cy="196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SGPA Evaluation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658304" cy="854606"/>
            <a:chOff x="0" y="0"/>
            <a:chExt cx="388413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84136" cy="199264"/>
            </a:xfrm>
            <a:custGeom>
              <a:avLst/>
              <a:gdLst/>
              <a:ahLst/>
              <a:cxnLst/>
              <a:rect r="r" b="b" t="t" l="l"/>
              <a:pathLst>
                <a:path h="199264" w="3884136">
                  <a:moveTo>
                    <a:pt x="46475" y="0"/>
                  </a:moveTo>
                  <a:lnTo>
                    <a:pt x="3837661" y="0"/>
                  </a:lnTo>
                  <a:cubicBezTo>
                    <a:pt x="3849987" y="0"/>
                    <a:pt x="3861808" y="4896"/>
                    <a:pt x="3870524" y="13612"/>
                  </a:cubicBezTo>
                  <a:cubicBezTo>
                    <a:pt x="3879240" y="22328"/>
                    <a:pt x="3884136" y="34149"/>
                    <a:pt x="3884136" y="46475"/>
                  </a:cubicBezTo>
                  <a:lnTo>
                    <a:pt x="3884136" y="152790"/>
                  </a:lnTo>
                  <a:cubicBezTo>
                    <a:pt x="3884136" y="178457"/>
                    <a:pt x="3863329" y="199264"/>
                    <a:pt x="3837661" y="199264"/>
                  </a:cubicBezTo>
                  <a:lnTo>
                    <a:pt x="46475" y="199264"/>
                  </a:lnTo>
                  <a:cubicBezTo>
                    <a:pt x="20807" y="199264"/>
                    <a:pt x="0" y="178457"/>
                    <a:pt x="0" y="152790"/>
                  </a:cubicBezTo>
                  <a:lnTo>
                    <a:pt x="0" y="46475"/>
                  </a:lnTo>
                  <a:cubicBezTo>
                    <a:pt x="0" y="20807"/>
                    <a:pt x="20807" y="0"/>
                    <a:pt x="46475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8413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20789" y="6468303"/>
            <a:ext cx="3066215" cy="1924050"/>
          </a:xfrm>
          <a:custGeom>
            <a:avLst/>
            <a:gdLst/>
            <a:ahLst/>
            <a:cxnLst/>
            <a:rect r="r" b="b" t="t" l="l"/>
            <a:pathLst>
              <a:path h="1924050" w="3066215">
                <a:moveTo>
                  <a:pt x="0" y="0"/>
                </a:moveTo>
                <a:lnTo>
                  <a:pt x="3066215" y="0"/>
                </a:lnTo>
                <a:lnTo>
                  <a:pt x="3066215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9161" y="3743325"/>
            <a:ext cx="2637591" cy="2574948"/>
          </a:xfrm>
          <a:custGeom>
            <a:avLst/>
            <a:gdLst/>
            <a:ahLst/>
            <a:cxnLst/>
            <a:rect r="r" b="b" t="t" l="l"/>
            <a:pathLst>
              <a:path h="2574948" w="2637591">
                <a:moveTo>
                  <a:pt x="0" y="0"/>
                </a:moveTo>
                <a:lnTo>
                  <a:pt x="2637591" y="0"/>
                </a:lnTo>
                <a:lnTo>
                  <a:pt x="2637591" y="2574948"/>
                </a:lnTo>
                <a:lnTo>
                  <a:pt x="0" y="257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83035">
            <a:off x="14766389" y="3316183"/>
            <a:ext cx="2781879" cy="1683037"/>
          </a:xfrm>
          <a:custGeom>
            <a:avLst/>
            <a:gdLst/>
            <a:ahLst/>
            <a:cxnLst/>
            <a:rect r="r" b="b" t="t" l="l"/>
            <a:pathLst>
              <a:path h="1683037" w="2781879">
                <a:moveTo>
                  <a:pt x="0" y="0"/>
                </a:moveTo>
                <a:lnTo>
                  <a:pt x="2781879" y="0"/>
                </a:lnTo>
                <a:lnTo>
                  <a:pt x="2781879" y="1683037"/>
                </a:lnTo>
                <a:lnTo>
                  <a:pt x="0" y="1683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0" id="10"/>
          <p:cNvGraphicFramePr/>
          <p:nvPr/>
        </p:nvGraphicFramePr>
        <p:xfrm>
          <a:off x="1497311" y="2004322"/>
          <a:ext cx="7543800" cy="6915150"/>
        </p:xfrm>
        <a:graphic>
          <a:graphicData uri="http://schemas.openxmlformats.org/presentationml/2006/ole">
            <p:oleObj imgW="9042400" imgH="84201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572426" y="2947959"/>
            <a:ext cx="1382747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8500" y="468239"/>
            <a:ext cx="17230800" cy="196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CGPA Evaluation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658304" cy="854606"/>
            <a:chOff x="0" y="0"/>
            <a:chExt cx="388413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84136" cy="199264"/>
            </a:xfrm>
            <a:custGeom>
              <a:avLst/>
              <a:gdLst/>
              <a:ahLst/>
              <a:cxnLst/>
              <a:rect r="r" b="b" t="t" l="l"/>
              <a:pathLst>
                <a:path h="199264" w="3884136">
                  <a:moveTo>
                    <a:pt x="46475" y="0"/>
                  </a:moveTo>
                  <a:lnTo>
                    <a:pt x="3837661" y="0"/>
                  </a:lnTo>
                  <a:cubicBezTo>
                    <a:pt x="3849987" y="0"/>
                    <a:pt x="3861808" y="4896"/>
                    <a:pt x="3870524" y="13612"/>
                  </a:cubicBezTo>
                  <a:cubicBezTo>
                    <a:pt x="3879240" y="22328"/>
                    <a:pt x="3884136" y="34149"/>
                    <a:pt x="3884136" y="46475"/>
                  </a:cubicBezTo>
                  <a:lnTo>
                    <a:pt x="3884136" y="152790"/>
                  </a:lnTo>
                  <a:cubicBezTo>
                    <a:pt x="3884136" y="178457"/>
                    <a:pt x="3863329" y="199264"/>
                    <a:pt x="3837661" y="199264"/>
                  </a:cubicBezTo>
                  <a:lnTo>
                    <a:pt x="46475" y="199264"/>
                  </a:lnTo>
                  <a:cubicBezTo>
                    <a:pt x="20807" y="199264"/>
                    <a:pt x="0" y="178457"/>
                    <a:pt x="0" y="152790"/>
                  </a:cubicBezTo>
                  <a:lnTo>
                    <a:pt x="0" y="46475"/>
                  </a:lnTo>
                  <a:cubicBezTo>
                    <a:pt x="0" y="20807"/>
                    <a:pt x="20807" y="0"/>
                    <a:pt x="46475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8413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20789" y="6468303"/>
            <a:ext cx="3066215" cy="1924050"/>
          </a:xfrm>
          <a:custGeom>
            <a:avLst/>
            <a:gdLst/>
            <a:ahLst/>
            <a:cxnLst/>
            <a:rect r="r" b="b" t="t" l="l"/>
            <a:pathLst>
              <a:path h="1924050" w="3066215">
                <a:moveTo>
                  <a:pt x="0" y="0"/>
                </a:moveTo>
                <a:lnTo>
                  <a:pt x="3066215" y="0"/>
                </a:lnTo>
                <a:lnTo>
                  <a:pt x="3066215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9161" y="3743325"/>
            <a:ext cx="2637591" cy="2574948"/>
          </a:xfrm>
          <a:custGeom>
            <a:avLst/>
            <a:gdLst/>
            <a:ahLst/>
            <a:cxnLst/>
            <a:rect r="r" b="b" t="t" l="l"/>
            <a:pathLst>
              <a:path h="2574948" w="2637591">
                <a:moveTo>
                  <a:pt x="0" y="0"/>
                </a:moveTo>
                <a:lnTo>
                  <a:pt x="2637591" y="0"/>
                </a:lnTo>
                <a:lnTo>
                  <a:pt x="2637591" y="2574948"/>
                </a:lnTo>
                <a:lnTo>
                  <a:pt x="0" y="257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83035">
            <a:off x="14766389" y="3316183"/>
            <a:ext cx="2781879" cy="1683037"/>
          </a:xfrm>
          <a:custGeom>
            <a:avLst/>
            <a:gdLst/>
            <a:ahLst/>
            <a:cxnLst/>
            <a:rect r="r" b="b" t="t" l="l"/>
            <a:pathLst>
              <a:path h="1683037" w="2781879">
                <a:moveTo>
                  <a:pt x="0" y="0"/>
                </a:moveTo>
                <a:lnTo>
                  <a:pt x="2781879" y="0"/>
                </a:lnTo>
                <a:lnTo>
                  <a:pt x="2781879" y="1683037"/>
                </a:lnTo>
                <a:lnTo>
                  <a:pt x="0" y="1683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19561" y="3855468"/>
            <a:ext cx="13809756" cy="1674433"/>
          </a:xfrm>
          <a:custGeom>
            <a:avLst/>
            <a:gdLst/>
            <a:ahLst/>
            <a:cxnLst/>
            <a:rect r="r" b="b" t="t" l="l"/>
            <a:pathLst>
              <a:path h="1674433" w="13809756">
                <a:moveTo>
                  <a:pt x="0" y="0"/>
                </a:moveTo>
                <a:lnTo>
                  <a:pt x="13809756" y="0"/>
                </a:lnTo>
                <a:lnTo>
                  <a:pt x="13809756" y="1674433"/>
                </a:lnTo>
                <a:lnTo>
                  <a:pt x="0" y="167443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19561" y="6951126"/>
            <a:ext cx="13809756" cy="1691695"/>
          </a:xfrm>
          <a:custGeom>
            <a:avLst/>
            <a:gdLst/>
            <a:ahLst/>
            <a:cxnLst/>
            <a:rect r="r" b="b" t="t" l="l"/>
            <a:pathLst>
              <a:path h="1691695" w="13809756">
                <a:moveTo>
                  <a:pt x="0" y="0"/>
                </a:moveTo>
                <a:lnTo>
                  <a:pt x="13809756" y="0"/>
                </a:lnTo>
                <a:lnTo>
                  <a:pt x="13809756" y="1691695"/>
                </a:lnTo>
                <a:lnTo>
                  <a:pt x="0" y="16916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72426" y="2947959"/>
            <a:ext cx="1382747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67706" y="1028700"/>
            <a:ext cx="9278074" cy="854606"/>
            <a:chOff x="0" y="0"/>
            <a:chExt cx="2163324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3324" cy="199264"/>
            </a:xfrm>
            <a:custGeom>
              <a:avLst/>
              <a:gdLst/>
              <a:ahLst/>
              <a:cxnLst/>
              <a:rect r="r" b="b" t="t" l="l"/>
              <a:pathLst>
                <a:path h="199264" w="2163324">
                  <a:moveTo>
                    <a:pt x="83443" y="0"/>
                  </a:moveTo>
                  <a:lnTo>
                    <a:pt x="2079881" y="0"/>
                  </a:lnTo>
                  <a:cubicBezTo>
                    <a:pt x="2125965" y="0"/>
                    <a:pt x="2163324" y="37359"/>
                    <a:pt x="2163324" y="83443"/>
                  </a:cubicBezTo>
                  <a:lnTo>
                    <a:pt x="2163324" y="115821"/>
                  </a:lnTo>
                  <a:cubicBezTo>
                    <a:pt x="2163324" y="161906"/>
                    <a:pt x="2125965" y="199264"/>
                    <a:pt x="2079881" y="199264"/>
                  </a:cubicBezTo>
                  <a:lnTo>
                    <a:pt x="83443" y="199264"/>
                  </a:lnTo>
                  <a:cubicBezTo>
                    <a:pt x="37359" y="199264"/>
                    <a:pt x="0" y="161906"/>
                    <a:pt x="0" y="115821"/>
                  </a:cubicBezTo>
                  <a:lnTo>
                    <a:pt x="0" y="83443"/>
                  </a:lnTo>
                  <a:cubicBezTo>
                    <a:pt x="0" y="37359"/>
                    <a:pt x="37359" y="0"/>
                    <a:pt x="83443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63324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254962" y="127783"/>
            <a:ext cx="11503562" cy="352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6"/>
              </a:lnSpc>
              <a:spcBef>
                <a:spcPct val="0"/>
              </a:spcBef>
            </a:pPr>
            <a:r>
              <a:rPr lang="en-US" sz="7696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Aca</a:t>
            </a:r>
            <a:r>
              <a:rPr lang="en-US" sz="7696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demic Progress Rules</a:t>
            </a:r>
          </a:p>
          <a:p>
            <a:pPr algn="ctr">
              <a:lnSpc>
                <a:spcPts val="9236"/>
              </a:lnSpc>
              <a:spcBef>
                <a:spcPct val="0"/>
              </a:spcBef>
            </a:pPr>
            <a:r>
              <a:rPr lang="en-US" sz="7696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Continuation &amp; Dismissal</a:t>
            </a:r>
          </a:p>
          <a:p>
            <a:pPr algn="ctr">
              <a:lnSpc>
                <a:spcPts val="9236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460402" y="1896820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0"/>
                </a:moveTo>
                <a:lnTo>
                  <a:pt x="1894269" y="0"/>
                </a:lnTo>
                <a:lnTo>
                  <a:pt x="1894269" y="1337827"/>
                </a:lnTo>
                <a:lnTo>
                  <a:pt x="0" y="13378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157303">
            <a:off x="1317051" y="1980654"/>
            <a:ext cx="6908367" cy="6735658"/>
          </a:xfrm>
          <a:custGeom>
            <a:avLst/>
            <a:gdLst/>
            <a:ahLst/>
            <a:cxnLst/>
            <a:rect r="r" b="b" t="t" l="l"/>
            <a:pathLst>
              <a:path h="6735658" w="6908367">
                <a:moveTo>
                  <a:pt x="0" y="0"/>
                </a:moveTo>
                <a:lnTo>
                  <a:pt x="6908368" y="0"/>
                </a:lnTo>
                <a:lnTo>
                  <a:pt x="6908368" y="6735658"/>
                </a:lnTo>
                <a:lnTo>
                  <a:pt x="0" y="67356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94735" y="3911198"/>
            <a:ext cx="10763789" cy="540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0749" indent="-425375" lvl="1">
              <a:lnSpc>
                <a:spcPts val="4728"/>
              </a:lnSpc>
              <a:buFont typeface="Arial"/>
              <a:buChar char="•"/>
            </a:pPr>
            <a:r>
              <a:rPr lang="en-US" sz="394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Students must</a:t>
            </a:r>
            <a:r>
              <a:rPr lang="en-US" b="true" sz="394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maintain minimum CGPA of 2.0</a:t>
            </a:r>
          </a:p>
          <a:p>
            <a:pPr algn="l">
              <a:lnSpc>
                <a:spcPts val="4728"/>
              </a:lnSpc>
            </a:pPr>
          </a:p>
          <a:p>
            <a:pPr algn="l" marL="850749" indent="-425375" lvl="1">
              <a:lnSpc>
                <a:spcPts val="4728"/>
              </a:lnSpc>
              <a:buFont typeface="Arial"/>
              <a:buChar char="•"/>
            </a:pPr>
            <a:r>
              <a:rPr lang="en-US" sz="394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Students</a:t>
            </a:r>
            <a:r>
              <a:rPr lang="en-US" sz="394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 whose performance indicates inability to maintain CGPA:</a:t>
            </a:r>
          </a:p>
          <a:p>
            <a:pPr algn="l" marL="1701498" indent="-567166" lvl="2">
              <a:lnSpc>
                <a:spcPts val="4728"/>
              </a:lnSpc>
              <a:buFont typeface="Arial"/>
              <a:buChar char="⚬"/>
            </a:pPr>
            <a:r>
              <a:rPr lang="en-US" sz="394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</a:t>
            </a:r>
            <a:r>
              <a:rPr lang="en-US" sz="394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ay be </a:t>
            </a:r>
            <a:r>
              <a:rPr lang="en-US" sz="3940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dismissed </a:t>
            </a:r>
            <a:r>
              <a:rPr lang="en-US" sz="394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from the program</a:t>
            </a:r>
          </a:p>
          <a:p>
            <a:pPr algn="l">
              <a:lnSpc>
                <a:spcPts val="4728"/>
              </a:lnSpc>
            </a:pPr>
          </a:p>
          <a:p>
            <a:pPr algn="l">
              <a:lnSpc>
                <a:spcPts val="4728"/>
              </a:lnSpc>
            </a:pPr>
            <a:r>
              <a:rPr lang="en-US" sz="3940" b="true">
                <a:solidFill>
                  <a:srgbClr val="EF0F0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Always go CGPA &gt; 3.5</a:t>
            </a:r>
          </a:p>
          <a:p>
            <a:pPr algn="l">
              <a:lnSpc>
                <a:spcPts val="4728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658304" cy="854606"/>
            <a:chOff x="0" y="0"/>
            <a:chExt cx="388413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84136" cy="199264"/>
            </a:xfrm>
            <a:custGeom>
              <a:avLst/>
              <a:gdLst/>
              <a:ahLst/>
              <a:cxnLst/>
              <a:rect r="r" b="b" t="t" l="l"/>
              <a:pathLst>
                <a:path h="199264" w="3884136">
                  <a:moveTo>
                    <a:pt x="46475" y="0"/>
                  </a:moveTo>
                  <a:lnTo>
                    <a:pt x="3837661" y="0"/>
                  </a:lnTo>
                  <a:cubicBezTo>
                    <a:pt x="3849987" y="0"/>
                    <a:pt x="3861808" y="4896"/>
                    <a:pt x="3870524" y="13612"/>
                  </a:cubicBezTo>
                  <a:cubicBezTo>
                    <a:pt x="3879240" y="22328"/>
                    <a:pt x="3884136" y="34149"/>
                    <a:pt x="3884136" y="46475"/>
                  </a:cubicBezTo>
                  <a:lnTo>
                    <a:pt x="3884136" y="152790"/>
                  </a:lnTo>
                  <a:cubicBezTo>
                    <a:pt x="3884136" y="178457"/>
                    <a:pt x="3863329" y="199264"/>
                    <a:pt x="3837661" y="199264"/>
                  </a:cubicBezTo>
                  <a:lnTo>
                    <a:pt x="46475" y="199264"/>
                  </a:lnTo>
                  <a:cubicBezTo>
                    <a:pt x="20807" y="199264"/>
                    <a:pt x="0" y="178457"/>
                    <a:pt x="0" y="152790"/>
                  </a:cubicBezTo>
                  <a:lnTo>
                    <a:pt x="0" y="46475"/>
                  </a:lnTo>
                  <a:cubicBezTo>
                    <a:pt x="0" y="20807"/>
                    <a:pt x="20807" y="0"/>
                    <a:pt x="46475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8413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2426" y="2947959"/>
            <a:ext cx="15584902" cy="723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4770">
                <a:solidFill>
                  <a:srgbClr val="EF0F0F"/>
                </a:solidFill>
                <a:latin typeface="Playpen Sans"/>
                <a:ea typeface="Playpen Sans"/>
                <a:cs typeface="Playpen Sans"/>
                <a:sym typeface="Playpen Sans"/>
              </a:rPr>
              <a:t>Unsatisfactory / Failed Results</a:t>
            </a: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St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udents may apply for:</a:t>
            </a:r>
          </a:p>
          <a:p>
            <a:pPr algn="l" marL="2059961" indent="-686654" lvl="2">
              <a:lnSpc>
                <a:spcPts val="5724"/>
              </a:lnSpc>
              <a:buFont typeface="Arial"/>
              <a:buChar char="⚬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Rechecking</a:t>
            </a:r>
          </a:p>
          <a:p>
            <a:pPr algn="l" marL="2059961" indent="-686654" lvl="2">
              <a:lnSpc>
                <a:spcPts val="5724"/>
              </a:lnSpc>
              <a:buFont typeface="Arial"/>
              <a:buChar char="⚬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Retotalling of g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rades</a:t>
            </a: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Application requires payment of prescribed </a:t>
            </a:r>
            <a:r>
              <a:rPr lang="en-US" b="true" sz="477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fee</a:t>
            </a:r>
          </a:p>
          <a:p>
            <a:pPr algn="l">
              <a:lnSpc>
                <a:spcPts val="5724"/>
              </a:lnSpc>
            </a:pP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If grade changes:</a:t>
            </a:r>
          </a:p>
          <a:p>
            <a:pPr algn="l" marL="2059961" indent="-686654" lvl="2">
              <a:lnSpc>
                <a:spcPts val="5724"/>
              </a:lnSpc>
              <a:buFont typeface="Arial"/>
              <a:buChar char="⚬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50%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 fee refunded</a:t>
            </a: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If no change:</a:t>
            </a:r>
          </a:p>
          <a:p>
            <a:pPr algn="l" marL="2059961" indent="-686654" lvl="2">
              <a:lnSpc>
                <a:spcPts val="5724"/>
              </a:lnSpc>
              <a:buFont typeface="Arial"/>
              <a:buChar char="⚬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Fee is non-refundable</a:t>
            </a:r>
          </a:p>
          <a:p>
            <a:pPr algn="ctr">
              <a:lnSpc>
                <a:spcPts val="572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20789" y="6468303"/>
            <a:ext cx="3066215" cy="1924050"/>
          </a:xfrm>
          <a:custGeom>
            <a:avLst/>
            <a:gdLst/>
            <a:ahLst/>
            <a:cxnLst/>
            <a:rect r="r" b="b" t="t" l="l"/>
            <a:pathLst>
              <a:path h="1924050" w="3066215">
                <a:moveTo>
                  <a:pt x="0" y="0"/>
                </a:moveTo>
                <a:lnTo>
                  <a:pt x="3066215" y="0"/>
                </a:lnTo>
                <a:lnTo>
                  <a:pt x="3066215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29161" y="3743325"/>
            <a:ext cx="2637591" cy="2574948"/>
          </a:xfrm>
          <a:custGeom>
            <a:avLst/>
            <a:gdLst/>
            <a:ahLst/>
            <a:cxnLst/>
            <a:rect r="r" b="b" t="t" l="l"/>
            <a:pathLst>
              <a:path h="2574948" w="2637591">
                <a:moveTo>
                  <a:pt x="0" y="0"/>
                </a:moveTo>
                <a:lnTo>
                  <a:pt x="2637591" y="0"/>
                </a:lnTo>
                <a:lnTo>
                  <a:pt x="2637591" y="2574948"/>
                </a:lnTo>
                <a:lnTo>
                  <a:pt x="0" y="257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83035">
            <a:off x="14766389" y="3316183"/>
            <a:ext cx="2781879" cy="1683037"/>
          </a:xfrm>
          <a:custGeom>
            <a:avLst/>
            <a:gdLst/>
            <a:ahLst/>
            <a:cxnLst/>
            <a:rect r="r" b="b" t="t" l="l"/>
            <a:pathLst>
              <a:path h="1683037" w="2781879">
                <a:moveTo>
                  <a:pt x="0" y="0"/>
                </a:moveTo>
                <a:lnTo>
                  <a:pt x="2781879" y="0"/>
                </a:lnTo>
                <a:lnTo>
                  <a:pt x="2781879" y="1683037"/>
                </a:lnTo>
                <a:lnTo>
                  <a:pt x="0" y="1683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500" y="468239"/>
            <a:ext cx="17230800" cy="196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Rechecking &amp; Retotalling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658304" cy="854606"/>
            <a:chOff x="0" y="0"/>
            <a:chExt cx="388413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84136" cy="199264"/>
            </a:xfrm>
            <a:custGeom>
              <a:avLst/>
              <a:gdLst/>
              <a:ahLst/>
              <a:cxnLst/>
              <a:rect r="r" b="b" t="t" l="l"/>
              <a:pathLst>
                <a:path h="199264" w="3884136">
                  <a:moveTo>
                    <a:pt x="46475" y="0"/>
                  </a:moveTo>
                  <a:lnTo>
                    <a:pt x="3837661" y="0"/>
                  </a:lnTo>
                  <a:cubicBezTo>
                    <a:pt x="3849987" y="0"/>
                    <a:pt x="3861808" y="4896"/>
                    <a:pt x="3870524" y="13612"/>
                  </a:cubicBezTo>
                  <a:cubicBezTo>
                    <a:pt x="3879240" y="22328"/>
                    <a:pt x="3884136" y="34149"/>
                    <a:pt x="3884136" y="46475"/>
                  </a:cubicBezTo>
                  <a:lnTo>
                    <a:pt x="3884136" y="152790"/>
                  </a:lnTo>
                  <a:cubicBezTo>
                    <a:pt x="3884136" y="178457"/>
                    <a:pt x="3863329" y="199264"/>
                    <a:pt x="3837661" y="199264"/>
                  </a:cubicBezTo>
                  <a:lnTo>
                    <a:pt x="46475" y="199264"/>
                  </a:lnTo>
                  <a:cubicBezTo>
                    <a:pt x="20807" y="199264"/>
                    <a:pt x="0" y="178457"/>
                    <a:pt x="0" y="152790"/>
                  </a:cubicBezTo>
                  <a:lnTo>
                    <a:pt x="0" y="46475"/>
                  </a:lnTo>
                  <a:cubicBezTo>
                    <a:pt x="0" y="20807"/>
                    <a:pt x="20807" y="0"/>
                    <a:pt x="46475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8413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2426" y="2947959"/>
            <a:ext cx="15584902" cy="723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4770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Distinction &amp; Dean’s List</a:t>
            </a:r>
          </a:p>
          <a:p>
            <a:pPr algn="l">
              <a:lnSpc>
                <a:spcPts val="5724"/>
              </a:lnSpc>
            </a:pP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Degree with Disti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nction</a:t>
            </a:r>
          </a:p>
          <a:p>
            <a:pPr algn="l" marL="2059961" indent="-686654" lvl="2">
              <a:lnSpc>
                <a:spcPts val="5724"/>
              </a:lnSpc>
              <a:buFont typeface="Arial"/>
              <a:buChar char="⚬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inimum CGPA: 3.60</a:t>
            </a:r>
          </a:p>
          <a:p>
            <a:pPr algn="l">
              <a:lnSpc>
                <a:spcPts val="5724"/>
              </a:lnSpc>
            </a:pP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D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ean’s List Certification</a:t>
            </a:r>
          </a:p>
          <a:p>
            <a:pPr algn="l" marL="2059961" indent="-686654" lvl="2">
              <a:lnSpc>
                <a:spcPts val="5724"/>
              </a:lnSpc>
              <a:buFont typeface="Arial"/>
              <a:buChar char="⚬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Minimum CGPA: 3.70</a:t>
            </a:r>
          </a:p>
          <a:p>
            <a:pPr algn="l">
              <a:lnSpc>
                <a:spcPts val="5724"/>
              </a:lnSpc>
            </a:pP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R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ecognizes </a:t>
            </a:r>
            <a:r>
              <a:rPr lang="en-US" b="true" sz="477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outstanding academic performance</a:t>
            </a:r>
          </a:p>
          <a:p>
            <a:pPr algn="ctr">
              <a:lnSpc>
                <a:spcPts val="572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20789" y="6468303"/>
            <a:ext cx="3066215" cy="1924050"/>
          </a:xfrm>
          <a:custGeom>
            <a:avLst/>
            <a:gdLst/>
            <a:ahLst/>
            <a:cxnLst/>
            <a:rect r="r" b="b" t="t" l="l"/>
            <a:pathLst>
              <a:path h="1924050" w="3066215">
                <a:moveTo>
                  <a:pt x="0" y="0"/>
                </a:moveTo>
                <a:lnTo>
                  <a:pt x="3066215" y="0"/>
                </a:lnTo>
                <a:lnTo>
                  <a:pt x="3066215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29161" y="3743325"/>
            <a:ext cx="2637591" cy="2574948"/>
          </a:xfrm>
          <a:custGeom>
            <a:avLst/>
            <a:gdLst/>
            <a:ahLst/>
            <a:cxnLst/>
            <a:rect r="r" b="b" t="t" l="l"/>
            <a:pathLst>
              <a:path h="2574948" w="2637591">
                <a:moveTo>
                  <a:pt x="0" y="0"/>
                </a:moveTo>
                <a:lnTo>
                  <a:pt x="2637591" y="0"/>
                </a:lnTo>
                <a:lnTo>
                  <a:pt x="2637591" y="2574948"/>
                </a:lnTo>
                <a:lnTo>
                  <a:pt x="0" y="257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83035">
            <a:off x="14766389" y="3316183"/>
            <a:ext cx="2781879" cy="1683037"/>
          </a:xfrm>
          <a:custGeom>
            <a:avLst/>
            <a:gdLst/>
            <a:ahLst/>
            <a:cxnLst/>
            <a:rect r="r" b="b" t="t" l="l"/>
            <a:pathLst>
              <a:path h="1683037" w="2781879">
                <a:moveTo>
                  <a:pt x="0" y="0"/>
                </a:moveTo>
                <a:lnTo>
                  <a:pt x="2781879" y="0"/>
                </a:lnTo>
                <a:lnTo>
                  <a:pt x="2781879" y="1683037"/>
                </a:lnTo>
                <a:lnTo>
                  <a:pt x="0" y="1683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500" y="468239"/>
            <a:ext cx="17230800" cy="196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Academic Recognition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0528" y="1028700"/>
            <a:ext cx="6069286" cy="854606"/>
            <a:chOff x="0" y="0"/>
            <a:chExt cx="141514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5146" cy="199264"/>
            </a:xfrm>
            <a:custGeom>
              <a:avLst/>
              <a:gdLst/>
              <a:ahLst/>
              <a:cxnLst/>
              <a:rect r="r" b="b" t="t" l="l"/>
              <a:pathLst>
                <a:path h="199264" w="1415146">
                  <a:moveTo>
                    <a:pt x="99632" y="0"/>
                  </a:moveTo>
                  <a:lnTo>
                    <a:pt x="1315514" y="0"/>
                  </a:lnTo>
                  <a:cubicBezTo>
                    <a:pt x="1341938" y="0"/>
                    <a:pt x="1367280" y="10497"/>
                    <a:pt x="1385965" y="29182"/>
                  </a:cubicBezTo>
                  <a:cubicBezTo>
                    <a:pt x="1404649" y="47866"/>
                    <a:pt x="1415146" y="73208"/>
                    <a:pt x="1415146" y="99632"/>
                  </a:cubicBezTo>
                  <a:lnTo>
                    <a:pt x="1415146" y="99632"/>
                  </a:lnTo>
                  <a:cubicBezTo>
                    <a:pt x="1415146" y="126056"/>
                    <a:pt x="1404649" y="151398"/>
                    <a:pt x="1385965" y="170083"/>
                  </a:cubicBezTo>
                  <a:cubicBezTo>
                    <a:pt x="1367280" y="188767"/>
                    <a:pt x="1341938" y="199264"/>
                    <a:pt x="1315514" y="199264"/>
                  </a:cubicBezTo>
                  <a:lnTo>
                    <a:pt x="99632" y="199264"/>
                  </a:lnTo>
                  <a:cubicBezTo>
                    <a:pt x="73208" y="199264"/>
                    <a:pt x="47866" y="188767"/>
                    <a:pt x="29182" y="170083"/>
                  </a:cubicBezTo>
                  <a:cubicBezTo>
                    <a:pt x="10497" y="151398"/>
                    <a:pt x="0" y="126056"/>
                    <a:pt x="0" y="99632"/>
                  </a:cubicBezTo>
                  <a:lnTo>
                    <a:pt x="0" y="99632"/>
                  </a:lnTo>
                  <a:cubicBezTo>
                    <a:pt x="0" y="73208"/>
                    <a:pt x="10497" y="47866"/>
                    <a:pt x="29182" y="29182"/>
                  </a:cubicBezTo>
                  <a:cubicBezTo>
                    <a:pt x="47866" y="10497"/>
                    <a:pt x="73208" y="0"/>
                    <a:pt x="9963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1514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18455" y="2985178"/>
            <a:ext cx="7390552" cy="854606"/>
            <a:chOff x="0" y="0"/>
            <a:chExt cx="1723219" cy="199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219" cy="199264"/>
            </a:xfrm>
            <a:custGeom>
              <a:avLst/>
              <a:gdLst/>
              <a:ahLst/>
              <a:cxnLst/>
              <a:rect r="r" b="b" t="t" l="l"/>
              <a:pathLst>
                <a:path h="199264" w="1723219">
                  <a:moveTo>
                    <a:pt x="99632" y="0"/>
                  </a:moveTo>
                  <a:lnTo>
                    <a:pt x="1623587" y="0"/>
                  </a:lnTo>
                  <a:cubicBezTo>
                    <a:pt x="1650011" y="0"/>
                    <a:pt x="1675353" y="10497"/>
                    <a:pt x="1694038" y="29182"/>
                  </a:cubicBezTo>
                  <a:cubicBezTo>
                    <a:pt x="1712722" y="47866"/>
                    <a:pt x="1723219" y="73208"/>
                    <a:pt x="1723219" y="99632"/>
                  </a:cubicBezTo>
                  <a:lnTo>
                    <a:pt x="1723219" y="99632"/>
                  </a:lnTo>
                  <a:cubicBezTo>
                    <a:pt x="1723219" y="126056"/>
                    <a:pt x="1712722" y="151398"/>
                    <a:pt x="1694038" y="170083"/>
                  </a:cubicBezTo>
                  <a:cubicBezTo>
                    <a:pt x="1675353" y="188767"/>
                    <a:pt x="1650011" y="199264"/>
                    <a:pt x="1623587" y="199264"/>
                  </a:cubicBezTo>
                  <a:lnTo>
                    <a:pt x="99632" y="199264"/>
                  </a:lnTo>
                  <a:cubicBezTo>
                    <a:pt x="73208" y="199264"/>
                    <a:pt x="47866" y="188767"/>
                    <a:pt x="29182" y="170083"/>
                  </a:cubicBezTo>
                  <a:cubicBezTo>
                    <a:pt x="10497" y="151398"/>
                    <a:pt x="0" y="126056"/>
                    <a:pt x="0" y="99632"/>
                  </a:cubicBezTo>
                  <a:lnTo>
                    <a:pt x="0" y="99632"/>
                  </a:lnTo>
                  <a:cubicBezTo>
                    <a:pt x="0" y="73208"/>
                    <a:pt x="10497" y="47866"/>
                    <a:pt x="29182" y="29182"/>
                  </a:cubicBezTo>
                  <a:cubicBezTo>
                    <a:pt x="47866" y="10497"/>
                    <a:pt x="73208" y="0"/>
                    <a:pt x="9963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3219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872611">
            <a:off x="9994215" y="282579"/>
            <a:ext cx="6424837" cy="3252573"/>
          </a:xfrm>
          <a:custGeom>
            <a:avLst/>
            <a:gdLst/>
            <a:ahLst/>
            <a:cxnLst/>
            <a:rect r="r" b="b" t="t" l="l"/>
            <a:pathLst>
              <a:path h="3252573" w="6424837">
                <a:moveTo>
                  <a:pt x="0" y="0"/>
                </a:moveTo>
                <a:lnTo>
                  <a:pt x="6424836" y="0"/>
                </a:lnTo>
                <a:lnTo>
                  <a:pt x="6424836" y="3252574"/>
                </a:lnTo>
                <a:lnTo>
                  <a:pt x="0" y="3252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508259" y="40936"/>
            <a:ext cx="9517265" cy="587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Credit Transfer</a:t>
            </a: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 Policy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85994" y="4111175"/>
            <a:ext cx="9502006" cy="576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2802" indent="-371401" lvl="1">
              <a:lnSpc>
                <a:spcPts val="4128"/>
              </a:lnSpc>
              <a:buFont typeface="Arial"/>
              <a:buChar char="•"/>
            </a:pPr>
            <a:r>
              <a:rPr lang="en-US" sz="344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Maximum 25% of</a:t>
            </a:r>
            <a:r>
              <a:rPr lang="en-US" sz="344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 total credits can be transferred</a:t>
            </a:r>
          </a:p>
          <a:p>
            <a:pPr algn="l" marL="742802" indent="-371401" lvl="1">
              <a:lnSpc>
                <a:spcPts val="4128"/>
              </a:lnSpc>
              <a:buFont typeface="Arial"/>
              <a:buChar char="•"/>
            </a:pPr>
            <a:r>
              <a:rPr lang="en-US" sz="344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Credit transfer is allowed from:</a:t>
            </a:r>
          </a:p>
          <a:p>
            <a:pPr algn="l" marL="1485604" indent="-495201" lvl="2">
              <a:lnSpc>
                <a:spcPts val="4128"/>
              </a:lnSpc>
              <a:buFont typeface="Arial"/>
              <a:buChar char="⚬"/>
            </a:pPr>
            <a:r>
              <a:rPr lang="en-US" sz="344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Recognized national or international institutions</a:t>
            </a:r>
          </a:p>
          <a:p>
            <a:pPr algn="l" marL="742802" indent="-371401" lvl="1">
              <a:lnSpc>
                <a:spcPts val="4128"/>
              </a:lnSpc>
              <a:buFont typeface="Arial"/>
              <a:buChar char="•"/>
            </a:pPr>
            <a:r>
              <a:rPr lang="en-US" sz="344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Minimum Grade Requirement</a:t>
            </a:r>
          </a:p>
          <a:p>
            <a:pPr algn="l" marL="1485604" indent="-495201" lvl="2">
              <a:lnSpc>
                <a:spcPts val="4128"/>
              </a:lnSpc>
              <a:buFont typeface="Arial"/>
              <a:buChar char="⚬"/>
            </a:pPr>
            <a:r>
              <a:rPr lang="en-US" sz="344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Grade B or above → External institutions</a:t>
            </a:r>
          </a:p>
          <a:p>
            <a:pPr algn="l" marL="1485604" indent="-495201" lvl="2">
              <a:lnSpc>
                <a:spcPts val="4128"/>
              </a:lnSpc>
              <a:buFont typeface="Arial"/>
              <a:buChar char="⚬"/>
            </a:pPr>
            <a:r>
              <a:rPr lang="en-US" sz="344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Grade C or above → PU affiliated colleges</a:t>
            </a:r>
          </a:p>
          <a:p>
            <a:pPr algn="l">
              <a:lnSpc>
                <a:spcPts val="4128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085817" y="7197278"/>
            <a:ext cx="6700176" cy="6566173"/>
          </a:xfrm>
          <a:custGeom>
            <a:avLst/>
            <a:gdLst/>
            <a:ahLst/>
            <a:cxnLst/>
            <a:rect r="r" b="b" t="t" l="l"/>
            <a:pathLst>
              <a:path h="6566173" w="6700176">
                <a:moveTo>
                  <a:pt x="0" y="0"/>
                </a:moveTo>
                <a:lnTo>
                  <a:pt x="6700177" y="0"/>
                </a:lnTo>
                <a:lnTo>
                  <a:pt x="6700177" y="6566173"/>
                </a:lnTo>
                <a:lnTo>
                  <a:pt x="0" y="65661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02670" y="780010"/>
            <a:ext cx="3112167" cy="854606"/>
            <a:chOff x="0" y="0"/>
            <a:chExt cx="725649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5649" cy="199264"/>
            </a:xfrm>
            <a:custGeom>
              <a:avLst/>
              <a:gdLst/>
              <a:ahLst/>
              <a:cxnLst/>
              <a:rect r="r" b="b" t="t" l="l"/>
              <a:pathLst>
                <a:path h="199264" w="725649">
                  <a:moveTo>
                    <a:pt x="99632" y="0"/>
                  </a:moveTo>
                  <a:lnTo>
                    <a:pt x="626017" y="0"/>
                  </a:lnTo>
                  <a:cubicBezTo>
                    <a:pt x="652441" y="0"/>
                    <a:pt x="677783" y="10497"/>
                    <a:pt x="696467" y="29182"/>
                  </a:cubicBezTo>
                  <a:cubicBezTo>
                    <a:pt x="715152" y="47866"/>
                    <a:pt x="725649" y="73208"/>
                    <a:pt x="725649" y="99632"/>
                  </a:cubicBezTo>
                  <a:lnTo>
                    <a:pt x="725649" y="99632"/>
                  </a:lnTo>
                  <a:cubicBezTo>
                    <a:pt x="725649" y="126056"/>
                    <a:pt x="715152" y="151398"/>
                    <a:pt x="696467" y="170083"/>
                  </a:cubicBezTo>
                  <a:cubicBezTo>
                    <a:pt x="677783" y="188767"/>
                    <a:pt x="652441" y="199264"/>
                    <a:pt x="626017" y="199264"/>
                  </a:cubicBezTo>
                  <a:lnTo>
                    <a:pt x="99632" y="199264"/>
                  </a:lnTo>
                  <a:cubicBezTo>
                    <a:pt x="73208" y="199264"/>
                    <a:pt x="47866" y="188767"/>
                    <a:pt x="29182" y="170083"/>
                  </a:cubicBezTo>
                  <a:cubicBezTo>
                    <a:pt x="10497" y="151398"/>
                    <a:pt x="0" y="126056"/>
                    <a:pt x="0" y="99632"/>
                  </a:cubicBezTo>
                  <a:lnTo>
                    <a:pt x="0" y="99632"/>
                  </a:lnTo>
                  <a:cubicBezTo>
                    <a:pt x="0" y="73208"/>
                    <a:pt x="10497" y="47866"/>
                    <a:pt x="29182" y="29182"/>
                  </a:cubicBezTo>
                  <a:cubicBezTo>
                    <a:pt x="47866" y="10497"/>
                    <a:pt x="73208" y="0"/>
                    <a:pt x="9963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25649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19561" y="2383437"/>
            <a:ext cx="7390552" cy="854606"/>
            <a:chOff x="0" y="0"/>
            <a:chExt cx="1723219" cy="199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219" cy="199264"/>
            </a:xfrm>
            <a:custGeom>
              <a:avLst/>
              <a:gdLst/>
              <a:ahLst/>
              <a:cxnLst/>
              <a:rect r="r" b="b" t="t" l="l"/>
              <a:pathLst>
                <a:path h="199264" w="1723219">
                  <a:moveTo>
                    <a:pt x="99632" y="0"/>
                  </a:moveTo>
                  <a:lnTo>
                    <a:pt x="1623587" y="0"/>
                  </a:lnTo>
                  <a:cubicBezTo>
                    <a:pt x="1650011" y="0"/>
                    <a:pt x="1675353" y="10497"/>
                    <a:pt x="1694038" y="29182"/>
                  </a:cubicBezTo>
                  <a:cubicBezTo>
                    <a:pt x="1712722" y="47866"/>
                    <a:pt x="1723219" y="73208"/>
                    <a:pt x="1723219" y="99632"/>
                  </a:cubicBezTo>
                  <a:lnTo>
                    <a:pt x="1723219" y="99632"/>
                  </a:lnTo>
                  <a:cubicBezTo>
                    <a:pt x="1723219" y="126056"/>
                    <a:pt x="1712722" y="151398"/>
                    <a:pt x="1694038" y="170083"/>
                  </a:cubicBezTo>
                  <a:cubicBezTo>
                    <a:pt x="1675353" y="188767"/>
                    <a:pt x="1650011" y="199264"/>
                    <a:pt x="1623587" y="199264"/>
                  </a:cubicBezTo>
                  <a:lnTo>
                    <a:pt x="99632" y="199264"/>
                  </a:lnTo>
                  <a:cubicBezTo>
                    <a:pt x="73208" y="199264"/>
                    <a:pt x="47866" y="188767"/>
                    <a:pt x="29182" y="170083"/>
                  </a:cubicBezTo>
                  <a:cubicBezTo>
                    <a:pt x="10497" y="151398"/>
                    <a:pt x="0" y="126056"/>
                    <a:pt x="0" y="99632"/>
                  </a:cubicBezTo>
                  <a:lnTo>
                    <a:pt x="0" y="99632"/>
                  </a:lnTo>
                  <a:cubicBezTo>
                    <a:pt x="0" y="73208"/>
                    <a:pt x="10497" y="47866"/>
                    <a:pt x="29182" y="29182"/>
                  </a:cubicBezTo>
                  <a:cubicBezTo>
                    <a:pt x="47866" y="10497"/>
                    <a:pt x="73208" y="0"/>
                    <a:pt x="9963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3219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246513" y="191972"/>
            <a:ext cx="4023115" cy="2826239"/>
          </a:xfrm>
          <a:custGeom>
            <a:avLst/>
            <a:gdLst/>
            <a:ahLst/>
            <a:cxnLst/>
            <a:rect r="r" b="b" t="t" l="l"/>
            <a:pathLst>
              <a:path h="2826239" w="4023115">
                <a:moveTo>
                  <a:pt x="0" y="0"/>
                </a:moveTo>
                <a:lnTo>
                  <a:pt x="4023116" y="0"/>
                </a:lnTo>
                <a:lnTo>
                  <a:pt x="4023116" y="2826239"/>
                </a:lnTo>
                <a:lnTo>
                  <a:pt x="0" y="28262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66617" y="2810740"/>
            <a:ext cx="1288281" cy="3113671"/>
          </a:xfrm>
          <a:custGeom>
            <a:avLst/>
            <a:gdLst/>
            <a:ahLst/>
            <a:cxnLst/>
            <a:rect r="r" b="b" t="t" l="l"/>
            <a:pathLst>
              <a:path h="3113671" w="1288281">
                <a:moveTo>
                  <a:pt x="0" y="0"/>
                </a:moveTo>
                <a:lnTo>
                  <a:pt x="1288281" y="0"/>
                </a:lnTo>
                <a:lnTo>
                  <a:pt x="1288281" y="3113671"/>
                </a:lnTo>
                <a:lnTo>
                  <a:pt x="0" y="31136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58071" y="2810740"/>
            <a:ext cx="4726635" cy="3113671"/>
          </a:xfrm>
          <a:custGeom>
            <a:avLst/>
            <a:gdLst/>
            <a:ahLst/>
            <a:cxnLst/>
            <a:rect r="r" b="b" t="t" l="l"/>
            <a:pathLst>
              <a:path h="3113671" w="4726635">
                <a:moveTo>
                  <a:pt x="0" y="0"/>
                </a:moveTo>
                <a:lnTo>
                  <a:pt x="4726635" y="0"/>
                </a:lnTo>
                <a:lnTo>
                  <a:pt x="4726635" y="3113671"/>
                </a:lnTo>
                <a:lnTo>
                  <a:pt x="0" y="31136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373265" y="-9525"/>
            <a:ext cx="9517265" cy="392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Transfer</a:t>
            </a: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 Conditions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133846"/>
            <a:ext cx="17924852" cy="647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6"/>
              </a:lnSpc>
            </a:pPr>
          </a:p>
          <a:p>
            <a:pPr algn="l" marL="927680" indent="-463840" lvl="1">
              <a:lnSpc>
                <a:spcPts val="5156"/>
              </a:lnSpc>
              <a:buFont typeface="Arial"/>
              <a:buChar char="•"/>
            </a:pPr>
            <a:r>
              <a:rPr lang="en-US" sz="4296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Tr</a:t>
            </a:r>
            <a:r>
              <a:rPr lang="en-US" sz="4296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ansfer within same </a:t>
            </a:r>
            <a:r>
              <a:rPr lang="en-US" b="true" sz="4296">
                <a:solidFill>
                  <a:srgbClr val="EF0F0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PU affiliated colleges:</a:t>
            </a:r>
          </a:p>
          <a:p>
            <a:pPr algn="l" marL="1855359" indent="-618453" lvl="2">
              <a:lnSpc>
                <a:spcPts val="5156"/>
              </a:lnSpc>
              <a:buFont typeface="Arial"/>
              <a:buChar char="⚬"/>
            </a:pPr>
            <a:r>
              <a:rPr lang="en-US" sz="4296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Must complete</a:t>
            </a:r>
            <a:r>
              <a:rPr lang="en-US" b="true" sz="429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</a:t>
            </a:r>
            <a:r>
              <a:rPr lang="en-US" b="true" sz="4296">
                <a:solidFill>
                  <a:srgbClr val="EF0F0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first semeste</a:t>
            </a:r>
            <a:r>
              <a:rPr lang="en-US" b="true" sz="429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r</a:t>
            </a:r>
            <a:r>
              <a:rPr lang="en-US" sz="4296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 in the same college</a:t>
            </a:r>
          </a:p>
          <a:p>
            <a:pPr algn="l" marL="927680" indent="-463840" lvl="1">
              <a:lnSpc>
                <a:spcPts val="5156"/>
              </a:lnSpc>
              <a:buFont typeface="Arial"/>
              <a:buChar char="•"/>
            </a:pPr>
            <a:r>
              <a:rPr lang="en-US" sz="4296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Transfer to another university (within Nepal):</a:t>
            </a:r>
          </a:p>
          <a:p>
            <a:pPr algn="l" marL="1855359" indent="-618453" lvl="2">
              <a:lnSpc>
                <a:spcPts val="5156"/>
              </a:lnSpc>
              <a:buFont typeface="Arial"/>
              <a:buChar char="⚬"/>
            </a:pPr>
            <a:r>
              <a:rPr lang="en-US" sz="4296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Must complete one academic year (2 semesters)</a:t>
            </a:r>
          </a:p>
          <a:p>
            <a:pPr algn="l" marL="1855359" indent="-618453" lvl="2">
              <a:lnSpc>
                <a:spcPts val="5156"/>
              </a:lnSpc>
              <a:buFont typeface="Arial"/>
              <a:buChar char="⚬"/>
            </a:pPr>
            <a:r>
              <a:rPr lang="en-US" sz="4296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Minimum </a:t>
            </a:r>
            <a:r>
              <a:rPr lang="en-US" b="true" sz="429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Grade B=3</a:t>
            </a:r>
            <a:r>
              <a:rPr lang="en-US" sz="4296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 required</a:t>
            </a:r>
          </a:p>
          <a:p>
            <a:pPr algn="l" marL="927680" indent="-463840" lvl="1">
              <a:lnSpc>
                <a:spcPts val="5156"/>
              </a:lnSpc>
              <a:buFont typeface="Arial"/>
              <a:buChar char="•"/>
            </a:pPr>
            <a:r>
              <a:rPr lang="en-US" sz="4296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Transfer to international university:</a:t>
            </a:r>
          </a:p>
          <a:p>
            <a:pPr algn="l" marL="1855359" indent="-618453" lvl="2">
              <a:lnSpc>
                <a:spcPts val="5156"/>
              </a:lnSpc>
              <a:buFont typeface="Arial"/>
              <a:buChar char="⚬"/>
            </a:pPr>
            <a:r>
              <a:rPr lang="en-US" sz="4296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Must complete two academic years (4 semesters)</a:t>
            </a:r>
          </a:p>
          <a:p>
            <a:pPr algn="l" marL="1855359" indent="-618453" lvl="2">
              <a:lnSpc>
                <a:spcPts val="5156"/>
              </a:lnSpc>
              <a:buFont typeface="Arial"/>
              <a:buChar char="⚬"/>
            </a:pPr>
            <a:r>
              <a:rPr lang="en-US" sz="4296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Minimum Grade B required</a:t>
            </a:r>
          </a:p>
          <a:p>
            <a:pPr algn="l">
              <a:lnSpc>
                <a:spcPts val="5156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658304" cy="854606"/>
            <a:chOff x="0" y="0"/>
            <a:chExt cx="388413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84136" cy="199264"/>
            </a:xfrm>
            <a:custGeom>
              <a:avLst/>
              <a:gdLst/>
              <a:ahLst/>
              <a:cxnLst/>
              <a:rect r="r" b="b" t="t" l="l"/>
              <a:pathLst>
                <a:path h="199264" w="3884136">
                  <a:moveTo>
                    <a:pt x="46475" y="0"/>
                  </a:moveTo>
                  <a:lnTo>
                    <a:pt x="3837661" y="0"/>
                  </a:lnTo>
                  <a:cubicBezTo>
                    <a:pt x="3849987" y="0"/>
                    <a:pt x="3861808" y="4896"/>
                    <a:pt x="3870524" y="13612"/>
                  </a:cubicBezTo>
                  <a:cubicBezTo>
                    <a:pt x="3879240" y="22328"/>
                    <a:pt x="3884136" y="34149"/>
                    <a:pt x="3884136" y="46475"/>
                  </a:cubicBezTo>
                  <a:lnTo>
                    <a:pt x="3884136" y="152790"/>
                  </a:lnTo>
                  <a:cubicBezTo>
                    <a:pt x="3884136" y="178457"/>
                    <a:pt x="3863329" y="199264"/>
                    <a:pt x="3837661" y="199264"/>
                  </a:cubicBezTo>
                  <a:lnTo>
                    <a:pt x="46475" y="199264"/>
                  </a:lnTo>
                  <a:cubicBezTo>
                    <a:pt x="20807" y="199264"/>
                    <a:pt x="0" y="178457"/>
                    <a:pt x="0" y="152790"/>
                  </a:cubicBezTo>
                  <a:lnTo>
                    <a:pt x="0" y="46475"/>
                  </a:lnTo>
                  <a:cubicBezTo>
                    <a:pt x="0" y="20807"/>
                    <a:pt x="20807" y="0"/>
                    <a:pt x="46475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8413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2426" y="2947959"/>
            <a:ext cx="14055226" cy="723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Maintain regular attendance</a:t>
            </a:r>
          </a:p>
          <a:p>
            <a:pPr algn="l">
              <a:lnSpc>
                <a:spcPts val="5724"/>
              </a:lnSpc>
            </a:pP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Complete assig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nments &amp; projects on time</a:t>
            </a:r>
          </a:p>
          <a:p>
            <a:pPr algn="l">
              <a:lnSpc>
                <a:spcPts val="5724"/>
              </a:lnSpc>
            </a:pP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App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ear in all internal &amp; external examinations</a:t>
            </a:r>
          </a:p>
          <a:p>
            <a:pPr algn="l">
              <a:lnSpc>
                <a:spcPts val="5724"/>
              </a:lnSpc>
            </a:pPr>
          </a:p>
          <a:p>
            <a:pPr algn="l" marL="1029981" indent="-514990" lvl="1">
              <a:lnSpc>
                <a:spcPts val="5724"/>
              </a:lnSpc>
              <a:buFont typeface="Arial"/>
              <a:buChar char="•"/>
            </a:pP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F</a:t>
            </a:r>
            <a:r>
              <a:rPr lang="en-US" sz="477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ollow university rules and academic discipline</a:t>
            </a:r>
          </a:p>
          <a:p>
            <a:pPr algn="ctr">
              <a:lnSpc>
                <a:spcPts val="572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20789" y="6468303"/>
            <a:ext cx="3066215" cy="1924050"/>
          </a:xfrm>
          <a:custGeom>
            <a:avLst/>
            <a:gdLst/>
            <a:ahLst/>
            <a:cxnLst/>
            <a:rect r="r" b="b" t="t" l="l"/>
            <a:pathLst>
              <a:path h="1924050" w="3066215">
                <a:moveTo>
                  <a:pt x="0" y="0"/>
                </a:moveTo>
                <a:lnTo>
                  <a:pt x="3066215" y="0"/>
                </a:lnTo>
                <a:lnTo>
                  <a:pt x="3066215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29161" y="3743325"/>
            <a:ext cx="2637591" cy="2574948"/>
          </a:xfrm>
          <a:custGeom>
            <a:avLst/>
            <a:gdLst/>
            <a:ahLst/>
            <a:cxnLst/>
            <a:rect r="r" b="b" t="t" l="l"/>
            <a:pathLst>
              <a:path h="2574948" w="2637591">
                <a:moveTo>
                  <a:pt x="0" y="0"/>
                </a:moveTo>
                <a:lnTo>
                  <a:pt x="2637591" y="0"/>
                </a:lnTo>
                <a:lnTo>
                  <a:pt x="2637591" y="2574948"/>
                </a:lnTo>
                <a:lnTo>
                  <a:pt x="0" y="257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83035">
            <a:off x="14766389" y="3316183"/>
            <a:ext cx="2781879" cy="1683037"/>
          </a:xfrm>
          <a:custGeom>
            <a:avLst/>
            <a:gdLst/>
            <a:ahLst/>
            <a:cxnLst/>
            <a:rect r="r" b="b" t="t" l="l"/>
            <a:pathLst>
              <a:path h="1683037" w="2781879">
                <a:moveTo>
                  <a:pt x="0" y="0"/>
                </a:moveTo>
                <a:lnTo>
                  <a:pt x="2781879" y="0"/>
                </a:lnTo>
                <a:lnTo>
                  <a:pt x="2781879" y="1683037"/>
                </a:lnTo>
                <a:lnTo>
                  <a:pt x="0" y="1683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500" y="468239"/>
            <a:ext cx="17230800" cy="196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Student Responsibilities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65820" y="700150"/>
            <a:ext cx="7390552" cy="854606"/>
            <a:chOff x="0" y="0"/>
            <a:chExt cx="1723219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3219" cy="199264"/>
            </a:xfrm>
            <a:custGeom>
              <a:avLst/>
              <a:gdLst/>
              <a:ahLst/>
              <a:cxnLst/>
              <a:rect r="r" b="b" t="t" l="l"/>
              <a:pathLst>
                <a:path h="199264" w="1723219">
                  <a:moveTo>
                    <a:pt x="99632" y="0"/>
                  </a:moveTo>
                  <a:lnTo>
                    <a:pt x="1623587" y="0"/>
                  </a:lnTo>
                  <a:cubicBezTo>
                    <a:pt x="1650011" y="0"/>
                    <a:pt x="1675353" y="10497"/>
                    <a:pt x="1694038" y="29182"/>
                  </a:cubicBezTo>
                  <a:cubicBezTo>
                    <a:pt x="1712722" y="47866"/>
                    <a:pt x="1723219" y="73208"/>
                    <a:pt x="1723219" y="99632"/>
                  </a:cubicBezTo>
                  <a:lnTo>
                    <a:pt x="1723219" y="99632"/>
                  </a:lnTo>
                  <a:cubicBezTo>
                    <a:pt x="1723219" y="126056"/>
                    <a:pt x="1712722" y="151398"/>
                    <a:pt x="1694038" y="170083"/>
                  </a:cubicBezTo>
                  <a:cubicBezTo>
                    <a:pt x="1675353" y="188767"/>
                    <a:pt x="1650011" y="199264"/>
                    <a:pt x="1623587" y="199264"/>
                  </a:cubicBezTo>
                  <a:lnTo>
                    <a:pt x="99632" y="199264"/>
                  </a:lnTo>
                  <a:cubicBezTo>
                    <a:pt x="73208" y="199264"/>
                    <a:pt x="47866" y="188767"/>
                    <a:pt x="29182" y="170083"/>
                  </a:cubicBezTo>
                  <a:cubicBezTo>
                    <a:pt x="10497" y="151398"/>
                    <a:pt x="0" y="126056"/>
                    <a:pt x="0" y="99632"/>
                  </a:cubicBezTo>
                  <a:lnTo>
                    <a:pt x="0" y="99632"/>
                  </a:lnTo>
                  <a:cubicBezTo>
                    <a:pt x="0" y="73208"/>
                    <a:pt x="10497" y="47866"/>
                    <a:pt x="29182" y="29182"/>
                  </a:cubicBezTo>
                  <a:cubicBezTo>
                    <a:pt x="47866" y="10497"/>
                    <a:pt x="73208" y="0"/>
                    <a:pt x="9963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23219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07802" y="2009072"/>
            <a:ext cx="3614741" cy="3461115"/>
          </a:xfrm>
          <a:custGeom>
            <a:avLst/>
            <a:gdLst/>
            <a:ahLst/>
            <a:cxnLst/>
            <a:rect r="r" b="b" t="t" l="l"/>
            <a:pathLst>
              <a:path h="3461115" w="3614741">
                <a:moveTo>
                  <a:pt x="0" y="0"/>
                </a:moveTo>
                <a:lnTo>
                  <a:pt x="3614741" y="0"/>
                </a:lnTo>
                <a:lnTo>
                  <a:pt x="3614741" y="3461115"/>
                </a:lnTo>
                <a:lnTo>
                  <a:pt x="0" y="3461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32592">
            <a:off x="13249357" y="3843900"/>
            <a:ext cx="6424837" cy="3252573"/>
          </a:xfrm>
          <a:custGeom>
            <a:avLst/>
            <a:gdLst/>
            <a:ahLst/>
            <a:cxnLst/>
            <a:rect r="r" b="b" t="t" l="l"/>
            <a:pathLst>
              <a:path h="3252573" w="6424837">
                <a:moveTo>
                  <a:pt x="0" y="0"/>
                </a:moveTo>
                <a:lnTo>
                  <a:pt x="6424837" y="0"/>
                </a:lnTo>
                <a:lnTo>
                  <a:pt x="6424837" y="3252574"/>
                </a:lnTo>
                <a:lnTo>
                  <a:pt x="0" y="32525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112248">
            <a:off x="13289345" y="-48328"/>
            <a:ext cx="3080957" cy="4114800"/>
          </a:xfrm>
          <a:custGeom>
            <a:avLst/>
            <a:gdLst/>
            <a:ahLst/>
            <a:cxnLst/>
            <a:rect r="r" b="b" t="t" l="l"/>
            <a:pathLst>
              <a:path h="4114800" w="3080957">
                <a:moveTo>
                  <a:pt x="0" y="0"/>
                </a:moveTo>
                <a:lnTo>
                  <a:pt x="3080957" y="0"/>
                </a:lnTo>
                <a:lnTo>
                  <a:pt x="30809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29581" y="-9525"/>
            <a:ext cx="9517265" cy="196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5"/>
              </a:lnSpc>
              <a:spcBef>
                <a:spcPct val="0"/>
              </a:spcBef>
            </a:pPr>
            <a:r>
              <a:rPr lang="en-US" sz="12871">
                <a:solidFill>
                  <a:srgbClr val="323232"/>
                </a:solidFill>
                <a:latin typeface="Apricots"/>
                <a:ea typeface="Apricots"/>
                <a:cs typeface="Apricots"/>
                <a:sym typeface="Apricots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7593" y="2797318"/>
            <a:ext cx="11981240" cy="416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76"/>
              </a:lnSpc>
            </a:pPr>
            <a:r>
              <a:rPr lang="en-US" sz="7313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Welcome to</a:t>
            </a:r>
          </a:p>
          <a:p>
            <a:pPr algn="ctr">
              <a:lnSpc>
                <a:spcPts val="24000"/>
              </a:lnSpc>
            </a:pPr>
            <a:r>
              <a:rPr lang="en-US" sz="20000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CCT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684468" y="-5264013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4" y="0"/>
                </a:lnTo>
                <a:lnTo>
                  <a:pt x="20120994" y="19995159"/>
                </a:lnTo>
                <a:lnTo>
                  <a:pt x="0" y="19995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19998" y="3207252"/>
            <a:ext cx="3693394" cy="3872497"/>
          </a:xfrm>
          <a:custGeom>
            <a:avLst/>
            <a:gdLst/>
            <a:ahLst/>
            <a:cxnLst/>
            <a:rect r="r" b="b" t="t" l="l"/>
            <a:pathLst>
              <a:path h="3872497" w="3693394">
                <a:moveTo>
                  <a:pt x="0" y="0"/>
                </a:moveTo>
                <a:lnTo>
                  <a:pt x="3693394" y="0"/>
                </a:lnTo>
                <a:lnTo>
                  <a:pt x="3693394" y="3872496"/>
                </a:lnTo>
                <a:lnTo>
                  <a:pt x="0" y="38724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5606" y="8058150"/>
            <a:ext cx="1812239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Sanjeev Thapa</a:t>
            </a:r>
            <a:r>
              <a:rPr lang="en-US" sz="3999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, Er (BE-Comp, MTech-CSE, MBS, Mphil-Scholar, CKA, RHCSA, Openstack, MTCINE 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DAG-PU0hcbA</dc:identifier>
  <dcterms:modified xsi:type="dcterms:W3CDTF">2011-08-01T06:04:30Z</dcterms:modified>
  <cp:revision>1</cp:revision>
  <dc:title>White Yellow and Black Illustrated Education Presentation</dc:title>
</cp:coreProperties>
</file>